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>
  <p:sldMasterIdLst>
    <p:sldMasterId id="2147483648" r:id="rId1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432808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83175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972618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7705255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2436846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876422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70783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20655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97120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41050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301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На слайде показана проблема, которую решает Cuppa. Во многих ритм-играх акцент сделан только на действиях под музыку, а сюжет и атмосфера отходят на второй план. В Cuppa ритм-механика встроена в повествование: игрок работает бариста в вампирской кофейне, готовит напитки, получает очки, и результат влияет на развитие истории и концовку.</a:t>
            </a:r>
            <a:endParaRPr lang="ru-RU"/>
          </a:p>
        </p:txBody>
      </p:sp>
      <p:sp>
        <p:nvSpPr>
          <p:cNvPr id="3108699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465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54250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Цель проекта — создать функциональный прототип игры Cuppa, который объединяет визуальную новеллу и ритм-механику в одном игровом цикле. Игрок общается с посетителями вампирской кофейни и готовит напитки в ритм-сценах. Точность прохождения влияет на очки, развитие истории и итоговую концовку. Для достижения цели были проанализированы аналоги, сформированы требования, спроектирована архитектура, реализованы модули в Godot и проведено тестирование.</a:t>
            </a:r>
            <a:endParaRPr lang="ru-RU"/>
          </a:p>
        </p:txBody>
      </p:sp>
      <p:sp>
        <p:nvSpPr>
          <p:cNvPr id="8310910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9196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33310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Для реализации проекта использовались Godot 4.6 и GDScript. Godot был выбран прежде всего из-за более стабильной работы в Linux по сравнению с Unity. Для учебного 2D-проекта также важны быстрая установка, небольшой размер и встроенные инструменты редактора. Структура проекта разделена на три основных модуля: Menu отвечает за меню, настройки и паузу; Novel — за пролог, диалоги и концовки; RhythmGame — за карты нот, игровой раунд и систему оценки. Ключевые сценарии дополнительно проверены на Linux и Windows.</a:t>
            </a:r>
            <a:endParaRPr lang="ru-RU"/>
          </a:p>
        </p:txBody>
      </p:sp>
      <p:sp>
        <p:nvSpPr>
          <p:cNvPr id="5051531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0694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65895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Архитектура проекта построена так, чтобы ритм-сцена не существовала отдельно от истории. Игра разделена на модули, подмодули и общие компоненты. Основной цикл выглядит так: меню, пролог, новелла, приготовление напитка в ритм-сцене, показ результата и переход к концовке. После ритм-сцены пользователь возвращается в новеллу, где показывается реакция персонажа. Результат прохождения влияет на дальнейшее повествование. На слайде приведены диаграмма взаимосвязи модулей и диаграмма состояний; подробная структура игрового процесса также описана в пояснительной записке.</a:t>
            </a:r>
            <a:endParaRPr lang="ru-RU"/>
          </a:p>
        </p:txBody>
      </p:sp>
      <p:sp>
        <p:nvSpPr>
          <p:cNvPr id="1901527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02568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2189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Архитектура проекта построена так, чтобы ритм-сцена не существовала отдельно от истории. Игра разделена на модули, подмодули и общие компоненты. Основной цикл выглядит так: меню, пролог, новелла, приготовление напитка в ритм-сцене, показ результата и переход к концовке. После ритм-сцены пользователь возвращается в новеллу, где показывается реакция персонажа. Результат прохождения влияет на дальнейшее повествование. На слайде приведены диаграмма взаимосвязи модулей и диаграмма состояний; подробная структура игрового процесса также описана в пояснительной записке.</a:t>
            </a:r>
            <a:endParaRPr lang="ru-RU"/>
          </a:p>
        </p:txBody>
      </p:sp>
      <p:sp>
        <p:nvSpPr>
          <p:cNvPr id="377123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7E343B-C247-14EA-E52A-1D3041DEFEFA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72155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62285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В ходе разработки визуальная часть проекта прошла несколько итераций. Сначала был создан механический прототип для проверки базового ввода и состояний. Затем появилась первая рабочая ритм-сцена с нотами, дорожками и подсчетом очков. Следующий этап связан с переработкой атмосферы: интерфейс был встроен в пространство кофейни, а визуальные элементы стали более цельными и читаемыми. Отдельно прорабатывалась визуальная обратная связь — отображение комбо и оценок попадания. На слайде скриншоты расположены в порядке развития представленного решения.</a:t>
            </a:r>
            <a:endParaRPr lang="ru-RU"/>
          </a:p>
        </p:txBody>
      </p:sp>
      <p:sp>
        <p:nvSpPr>
          <p:cNvPr id="20570811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327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84460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В результате работы создан функциональный прототип игры Cuppa, объединяющий визуальную новеллу и ритм-механику. Реализованы обычные и длинные ноты, система оценки точности, переходы между сценами и механизм выбора одной из двух концовок. Наиболее важными техническими задачами стали синхронизация нот с музыкой, обработка удержаний, управление состояниями игры и устойчивость к некорректным нотным картам. Апробация подтвердила прохождение ключевых сценариев и сопоставимое поведение на Linux и Windows, включая запуск в виртуализированной среде. Архитектура позволяет развивать проект без переработки основы: добавлять сюжетные ветки, композиции, визуальные эффекты и более сложные ритм-механики.</a:t>
            </a:r>
            <a:endParaRPr lang="ru-RU"/>
          </a:p>
        </p:txBody>
      </p:sp>
      <p:sp>
        <p:nvSpPr>
          <p:cNvPr id="15879103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0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2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4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6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8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1 master">
    <p:bg>
      <p:bgPr shadeToTitle="0">
        <a:solidFill>
          <a:srgbClr val="24131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084782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26771754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41318"/>
          </a:solidFill>
          <a:ln/>
        </p:spPr>
      </p:sp>
      <p:pic>
        <p:nvPicPr>
          <p:cNvPr id="1963290018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2 master">
    <p:bg>
      <p:bgPr shadeToTitle="0">
        <a:solidFill>
          <a:srgbClr val="24131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5811119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08526565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41318"/>
          </a:solidFill>
          <a:ln/>
        </p:spPr>
      </p:sp>
      <p:pic>
        <p:nvPicPr>
          <p:cNvPr id="1647547878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3 master">
    <p:bg>
      <p:bgPr shadeToTitle="0">
        <a:solidFill>
          <a:srgbClr val="24131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5168965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86241849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41318"/>
          </a:solidFill>
          <a:ln/>
        </p:spPr>
      </p:sp>
      <p:pic>
        <p:nvPicPr>
          <p:cNvPr id="1543496432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4 master">
    <p:bg>
      <p:bgPr shadeToTitle="0">
        <a:solidFill>
          <a:srgbClr val="24131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2966041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29881680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41318"/>
          </a:solidFill>
          <a:ln/>
        </p:spPr>
      </p:sp>
      <p:pic>
        <p:nvPicPr>
          <p:cNvPr id="2125064789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5 master">
    <p:bg>
      <p:bgPr shadeToTitle="0">
        <a:solidFill>
          <a:srgbClr val="24131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61194989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8026788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41318"/>
          </a:solidFill>
          <a:ln/>
        </p:spPr>
      </p:sp>
      <p:pic>
        <p:nvPicPr>
          <p:cNvPr id="1147624813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6 master">
    <p:bg>
      <p:bgPr shadeToTitle="0">
        <a:solidFill>
          <a:srgbClr val="24131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3462738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12730110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41318"/>
          </a:solidFill>
          <a:ln/>
        </p:spPr>
      </p:sp>
      <p:pic>
        <p:nvPicPr>
          <p:cNvPr id="1379430875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7 master">
    <p:bg>
      <p:bgPr shadeToTitle="0">
        <a:solidFill>
          <a:srgbClr val="24131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2088023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42706514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41318"/>
          </a:solidFill>
          <a:ln/>
        </p:spPr>
      </p:sp>
      <p:pic>
        <p:nvPicPr>
          <p:cNvPr id="55671632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8 master">
    <p:bg>
      <p:bgPr shadeToTitle="0">
        <a:solidFill>
          <a:srgbClr val="24131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864791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892510557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41318"/>
          </a:solidFill>
          <a:ln/>
        </p:spPr>
      </p:sp>
      <p:pic>
        <p:nvPicPr>
          <p:cNvPr id="1011944284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9 master">
    <p:bg>
      <p:bgPr shadeToTitle="0">
        <a:solidFill>
          <a:srgbClr val="24131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9990866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37411289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41318"/>
          </a:solidFill>
          <a:ln/>
        </p:spPr>
      </p:sp>
      <p:pic>
        <p:nvPicPr>
          <p:cNvPr id="1979725602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10 master">
    <p:bg>
      <p:bgPr shadeToTitle="0">
        <a:solidFill>
          <a:srgbClr val="24131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3136615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34071246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41318"/>
          </a:solidFill>
          <a:ln/>
        </p:spPr>
      </p:sp>
      <p:pic>
        <p:nvPicPr>
          <p:cNvPr id="1930388789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29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 showMasterPhAnim="0" showMasterSp="1" show="1">
  <ns0:cSld name="Slide 1">
    <ns0:spTree>
      <ns0:nvGrpSpPr>
        <ns0:cNvPr id="1" name=""/>
        <ns0:cNvGrpSpPr/>
        <ns0:nvPr/>
      </ns0:nvGrpSpPr>
      <ns0:grpSpPr bwMode="auto">
        <ns1:xfrm>
          <ns1:off x="0" y="0"/>
          <ns1:ext cx="0" cy="0"/>
          <ns1:chOff x="0" y="0"/>
          <ns1:chExt cx="0" cy="0"/>
        </ns1:xfrm>
      </ns0:grpSpPr>
      <ns0:pic>
        <ns0:nvPicPr>
          <ns0:cNvPr id="381742743" name="Image 0" descr="preencoded.png"/>
          <ns0:cNvPicPr>
            <ns1:picLocks noChangeAspect="1"/>
          </ns0:cNvPicPr>
          <ns0:nvPr/>
        </ns0:nvPicPr>
        <ns0:blipFill rotWithShape="1">
          <ns1:blip ns2:embed="rId3"/>
          <ns1:stretch/>
        </ns0:blipFill>
        <ns0:spPr bwMode="auto">
          <ns1:xfrm>
            <ns1:off x="0" y="0"/>
            <ns1:ext cx="3429000" cy="5143500"/>
          </ns1:xfrm>
          <ns1:prstGeom prst="rect">
            <ns1:avLst/>
          </ns1:prstGeom>
        </ns0:spPr>
      </ns0:pic>
      <ns0:sp>
        <ns0:nvSpPr>
          <ns0:cNvPr id="1767453243" name="Shape 0"/>
          <ns0:cNvSpPr/>
          <ns0:nvPr/>
        </ns0:nvSpPr>
        <ns0:spPr bwMode="auto">
          <ns1:xfrm flipH="0" flipV="0">
            <ns1:off x="0" y="0"/>
            <ns1:ext cx="4121304" cy="5143500"/>
          </ns1:xfrm>
          <ns1:prstGeom prst="rect">
            <ns1:avLst/>
          </ns1:prstGeom>
          <ns1:solidFill>
            <ns1:srgbClr val="351A21"/>
          </ns1:solidFill>
          <ns1:ln/>
        </ns0:spPr>
      </ns0:sp>
      <ns0:sp>
        <ns0:nvSpPr>
          <ns0:cNvPr id="1941464187" name="Text 1"/>
          <ns0:cNvSpPr/>
          <ns0:nvPr/>
        </ns0:nvSpPr>
        <ns0:spPr bwMode="auto">
          <ns1:xfrm flipH="0" flipV="0">
            <ns1:off x="4965365" y="1434385"/>
            <ns1:ext cx="3966749" cy="1301886"/>
          </ns1:xfrm>
          <ns1:prstGeom prst="rect">
            <ns1:avLst/>
          </ns1:prstGeom>
          <ns1:noFill/>
          <ns1:ln/>
        </ns0:spPr>
        <ns0:txBody>
          <ns1:bodyPr vertOverflow="overflow" horzOverflow="overflow" vert="horz" wrap="square" lIns="0" tIns="0" rIns="0" bIns="0" numCol="1" spcCol="0" rtlCol="0" fromWordArt="0" anchor="t" anchorCtr="0" forceAA="0" upright="0" compatLnSpc="0">
            <ns1:normAutofit fontScale="60000" lnSpcReduction="8000"/>
          </ns1:bodyPr>
          <ns1:lstStyle/>
          <ns1:p>
            <ns1:pPr marL="0" indent="0" algn="ctr">
              <ns1:lnSpc>
                <ns1:spcPct val="104000"/>
              </ns1:lnSpc>
              <ns1:buNone/>
              <ns1:defRPr/>
            </ns1:pPr>
            <ns1:r>
              <ns1:rPr lang="en-US" sz="11000" b="1">
                <ns1:solidFill>
                  <ns1:srgbClr val="FFDEA1"/>
                </ns1:solidFill>
                <ns1:latin typeface="Give You Glory"/>
                <ns1:ea typeface="Give You Glory"/>
                <ns1:cs typeface="Give You Glory"/>
              </ns1:rPr>
              <ns1:t> «Cuppa»</ns1:t>
            </ns1:r>
            <ns1:endParaRPr sz="11000" b="1">
              <ns1:latin typeface="Give You Glory"/>
              <ns1:cs typeface="Give You Glory"/>
            </ns1:endParaRPr>
          </ns1:p>
        </ns0:txBody>
      </ns0:sp>
      <ns0:sp>
        <ns0:nvSpPr>
          <ns0:cNvPr id="222029791" name="Text 2"/>
          <ns0:cNvSpPr/>
          <ns0:nvPr/>
        </ns0:nvSpPr>
        <ns0:spPr bwMode="auto">
          <ns1:xfrm flipH="0" flipV="0">
            <ns1:off x="5412010" y="3640549"/>
            <ns1:ext cx="3550896" cy="61309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 algn="r">
              <ns1:lnSpc>
                <ns1:spcPct val="133000"/>
              </ns1:lnSpc>
              <ns1:buNone/>
              <ns1:defRPr/>
            </ns1:pPr>
            <ns1:r>
              <ns1:rPr lang="ru-RU" sz="1800" b="1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Выполнил </ns1:t>
            </ns1:r>
            <ns1:r>
              <ns1:rPr lang="ru-RU" sz="1800" b="1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с</ns1:t>
            </ns1:r>
            <ns1:r>
              <ns1:rPr lang="en-US" sz="1800" b="1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тудент:</ns1:t>
            </ns1:r>
            <ns1:r>
              <ns1:rPr lang="ru-RU" sz="1800" b="1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 </ns1:t>
            </ns1:r>
            <ns1:endParaRPr lang="ru-RU" sz="1800">
              <ns1:solidFill>
                <ns1:srgbClr val="F8E5B8"/>
              </ns1:solidFill>
              <ns1:latin typeface="Bellota"/>
              <ns1:ea typeface="Bellota"/>
              <ns1:cs typeface="Bellota"/>
            </ns1:endParaRPr>
          </ns1:p>
          <ns1:p>
            <ns1:pPr marL="0" indent="0" algn="r">
              <ns1:lnSpc>
                <ns1:spcPct val="133000"/>
              </ns1:lnSpc>
              <ns1:buNone/>
              <ns1:defRPr/>
            </ns1:pPr>
            <ns1:r>
              <ns1:rPr lang="ru-RU" sz="1800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Матешко Валерия Викторовна, </ns1:t>
            </ns1:r>
            <ns1:endParaRPr lang="ru-RU" sz="1800">
              <ns1:solidFill>
                <ns1:srgbClr val="F8E5B8"/>
              </ns1:solidFill>
              <ns1:latin typeface="Bellota"/>
              <ns1:ea typeface="Bellota"/>
              <ns1:cs typeface="Bellota"/>
            </ns1:endParaRPr>
          </ns1:p>
          <ns1:p>
            <ns1:pPr marL="0" indent="0" algn="r">
              <ns1:lnSpc>
                <ns1:spcPct val="133000"/>
              </ns1:lnSpc>
              <ns1:buNone/>
              <ns1:defRPr/>
            </ns1:pPr>
            <ns1:r>
              <ns1:rPr lang="ru-RU" sz="1800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ИВТб-2302-05-00</ns1:t>
            </ns1:r>
            <ns1:endParaRPr lang="ru-RU" sz="1800">
              <ns1:solidFill>
                <ns1:srgbClr val="F8E5B8"/>
              </ns1:solidFill>
              <ns1:latin typeface="Bellota"/>
              <ns1:ea typeface="Bellota"/>
              <ns1:cs typeface="Bellota"/>
            </ns1:endParaRPr>
          </ns1:p>
        </ns0:txBody>
      </ns0:sp>
      <ns0:sp>
        <ns0:nvSpPr>
          <ns0:cNvPr id="1933410318" name=""/>
          <ns0:cNvSpPr/>
          <ns0:nvPr/>
        </ns0:nvSpPr>
        <ns0:spPr bwMode="auto">
          <ns1:xfrm rot="0" flipH="0" flipV="0">
            <ns1:off x="7682825" y="4700380"/>
            <ns1:ext cx="1387336" cy="421032"/>
          </ns1:xfrm>
          <ns1:prstGeom prst="rect">
            <ns1:avLst/>
          </ns1:prstGeom>
          <ns1:solidFill>
            <ns1:srgbClr val="241318"/>
          </ns1:solidFill>
          <ns1:ln w="12700" cap="flat" cmpd="sng" algn="ctr">
            <ns1:noFill/>
            <ns1:prstDash val="solid"/>
            <ns1:miter lim="800000"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/>
          <ns1:p>
            <ns1:pPr algn="ctr">
              <ns1:defRPr/>
            </ns1:pPr>
            <ns1:endParaRPr>
              <ns1:solidFill>
                <ns1:schemeClr val="tx1"/>
              </ns1:solidFill>
            </ns1:endParaRPr>
          </ns1:p>
        </ns0:txBody>
      </ns0:sp>
    </ns0:spTree>
  </ns0:cSld>
  <ns0:clrMapOvr>
    <ns1:masterClrMapping/>
  </ns0:clrMapOvr>
  <ns3:AlternateContent>
    <ns3:Choice Requires="p159">
      <ns0:transition ns4:dur="250" advClick="1" spd="fast">
        <ns0:fade/>
      </ns0:transition>
    </ns3:Choice>
    <ns3:Fallback>
      <ns0:transition advClick="1" spd="fast">
        <ns0:fade/>
      </ns0:transition>
    </ns3:Fallback>
  </ns3:AlternateContent>
</ns0:sld>
</file>

<file path=ppt/slides/slide2.xml><?xml version="1.0" encoding="utf-8"?>
<ns0:sld xmlns:ns0="http://schemas.openxmlformats.org/presentationml/2006/main" xmlns:ns1="http://schemas.openxmlformats.org/drawingml/2006/main" xmlns:ns2="http://schemas.openxmlformats.org/markup-compatibility/2006" xmlns:ns3="http://schemas.microsoft.com/office/powerpoint/2010/main" showMasterPhAnim="0" showMasterSp="1" show="1">
  <ns0:cSld name="Slide 2">
    <ns0:spTree>
      <ns0:nvGrpSpPr>
        <ns0:cNvPr id="1" name=""/>
        <ns0:cNvGrpSpPr/>
        <ns0:nvPr/>
      </ns0:nvGrpSpPr>
      <ns0:grpSpPr bwMode="auto">
        <ns1:xfrm>
          <ns1:off x="0" y="0"/>
          <ns1:ext cx="0" cy="0"/>
          <ns1:chOff x="0" y="0"/>
          <ns1:chExt cx="0" cy="0"/>
        </ns1:xfrm>
      </ns0:grpSpPr>
      <ns0:sp>
        <ns0:nvSpPr>
          <ns0:cNvPr id="1619907256" name="Divider"/>
          <ns0:cNvSpPr/>
          <ns0:nvPr/>
        </ns0:nvSpPr>
        <ns0:spPr bwMode="auto">
          <ns1:xfrm>
            <ns1:off x="6801684" y="0"/>
            <ns1:ext cx="100000" cy="5143500"/>
          </ns1:xfrm>
          <ns1:prstGeom prst="rect">
            <ns1:avLst/>
          </ns1:prstGeom>
          <ns1:solidFill>
            <ns1:srgbClr val="FFDEA1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>
              <ns1:latin typeface="Bellota"/>
              <ns1:cs typeface="Bellota"/>
            </ns1:endParaRPr>
          </ns1:p>
        </ns0:txBody>
      </ns0:sp>
      <ns0:sp>
        <ns0:nvSpPr>
          <ns0:cNvPr id="1094065869" name="Eyebrow marker"/>
          <ns0:cNvSpPr/>
          <ns0:nvPr/>
        </ns0:nvSpPr>
        <ns0:spPr bwMode="auto">
          <ns1:xfrm>
            <ns1:off x="647065" y="327445"/>
            <ns1:ext cx="120000" cy="330000"/>
          </ns1:xfrm>
          <ns1:prstGeom prst="rect">
            <ns1:avLst/>
          </ns1:prstGeom>
          <ns1:solidFill>
            <ns1:srgbClr val="FFDEA1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>
              <ns1:latin typeface="Bellota"/>
              <ns1:cs typeface="Bellota"/>
            </ns1:endParaRPr>
          </ns1:p>
        </ns0:txBody>
      </ns0:sp>
      <ns0:sp>
        <ns0:nvSpPr>
          <ns0:cNvPr id="673352488" name="Eyebrow"/>
          <ns0:cNvSpPr txBox="1"/>
          <ns0:nvPr/>
        </ns0:nvSpPr>
        <ns0:spPr bwMode="auto">
          <ns1:xfrm>
            <ns1:off x="867064" y="387444"/>
            <ns1:ext cx="4200000" cy="21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  <ns1:defRPr/>
            </ns1:pPr>
            <ns1:r>
              <ns1:rPr lang="ru-RU" sz="1600" b="1">
                <ns1:solidFill>
                  <ns1:srgbClr val="D2A45C"/>
                </ns1:solidFill>
                <ns1:latin typeface="Bellota"/>
                <ns1:ea typeface="Bellota"/>
                <ns1:cs typeface="Bellota"/>
              </ns1:rPr>
              <ns1:t>АКТУАЛЬНОСТЬ ПРОЕКТА</ns1:t>
            </ns1:r>
            <ns1:endParaRPr sz="1600">
              <ns1:latin typeface="Bellota"/>
              <ns1:cs typeface="Bellota"/>
            </ns1:endParaRPr>
          </ns1:p>
        </ns0:txBody>
      </ns0:sp>
      <ns0:sp>
        <ns0:nvSpPr>
          <ns0:cNvPr id="1742747657" name="Title"/>
          <ns0:cNvSpPr txBox="1"/>
          <ns0:nvPr/>
        </ns0:nvSpPr>
        <ns0:spPr bwMode="auto">
          <ns1:xfrm flipH="0" flipV="0">
            <ns1:off x="647065" y="732663"/>
            <ns1:ext cx="4979999" cy="744401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l">
              <ns1:lnSpc>
                <ns1:spcPct val="95000"/>
              </ns1:lnSpc>
              <ns1:spcBef>
                <ns1:spcPts val="0"/>
              </ns1:spcBef>
              <ns1:spcAft>
                <ns1:spcPts val="0"/>
              </ns1:spcAft>
              <ns1:buNone/>
              <ns1:defRPr/>
            </ns1:pPr>
            <ns1:r>
              <ns1:rPr lang="ru-RU" sz="26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Почему жанры стоит объединить?</ns1:t>
            </ns1:r>
            <ns1:endParaRPr sz="2600">
              <ns1:latin typeface="Bellota"/>
              <ns1:cs typeface="Bellota"/>
            </ns1:endParaRPr>
          </ns1:p>
        </ns0:txBody>
      </ns0:sp>
      <ns0:sp>
        <ns0:nvSpPr>
          <ns0:cNvPr id="411508816" name="Problem panel"/>
          <ns0:cNvSpPr/>
          <ns0:nvPr/>
        </ns0:nvSpPr>
        <ns0:spPr bwMode="auto">
          <ns1:xfrm flipH="0" flipV="0">
            <ns1:off x="647065" y="1707064"/>
            <ns1:ext cx="5372336" cy="922662"/>
          </ns1:xfrm>
          <ns1:prstGeom prst="roundRect">
            <ns1:avLst>
              <ns1:gd name="adj" fmla="val 16667"/>
            </ns1:avLst>
          </ns1:prstGeom>
          <ns1:solidFill>
            <ns1:srgbClr val="FFDEA1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>
              <ns1:latin typeface="Bellota"/>
              <ns1:cs typeface="Bellota"/>
            </ns1:endParaRPr>
          </ns1:p>
        </ns0:txBody>
      </ns0:sp>
      <ns0:sp>
        <ns0:nvSpPr>
          <ns0:cNvPr id="919138600" name="Problem text"/>
          <ns0:cNvSpPr txBox="1"/>
          <ns0:nvPr/>
        </ns0:nvSpPr>
        <ns0:spPr bwMode="auto">
          <ns1:xfrm flipH="0" flipV="0">
            <ns1:off x="927228" y="1866575"/>
            <ns1:ext cx="4291521" cy="469999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l">
              <ns1:lnSpc>
                <ns1:spcPct val="100000"/>
              </ns1:lnSpc>
              <ns1:spcBef>
                <ns1:spcPts val="0"/>
              </ns1:spcBef>
              <ns1:spcAft>
                <ns1:spcPts val="550"/>
              </ns1:spcAft>
              <ns1:buNone/>
              <ns1:defRPr/>
            </ns1:pPr>
            <ns1:r>
              <ns1:rPr lang="ru-RU" sz="1200" b="1">
                <ns1:solidFill>
                  <ns1:srgbClr val="241318"/>
                </ns1:solidFill>
                <ns1:latin typeface="Bellota"/>
                <ns1:ea typeface="Bellota"/>
                <ns1:cs typeface="Bellota"/>
              </ns1:rPr>
              <ns1:t>ПРОБЛЕМА ЖАНРА</ns1:t>
            </ns1:r>
            <ns1:endParaRPr sz="1200">
              <ns1:latin typeface="Bellota"/>
              <ns1:cs typeface="Bellota"/>
            </ns1:endParaRPr>
          </ns1:p>
          <ns1:p>
            <ns1:pPr marL="0" indent="0" algn="l">
              <ns1:lnSpc>
                <ns1:spcPct val="108000"/>
              </ns1:lnSpc>
              <ns1:spcBef>
                <ns1:spcPts val="0"/>
              </ns1:spcBef>
              <ns1:spcAft>
                <ns1:spcPts val="0"/>
              </ns1:spcAft>
              <ns1:buNone/>
              <ns1:defRPr/>
            </ns1:pPr>
            <ns1:r>
              <ns1:rPr lang="ru-RU" sz="1200">
                <ns1:solidFill>
                  <ns1:srgbClr val="241318"/>
                </ns1:solidFill>
                <ns1:latin typeface="Bellota"/>
                <ns1:ea typeface="Bellota"/>
                <ns1:cs typeface="Bellota"/>
              </ns1:rPr>
              <ns1:t>Во многих ритм-играх механика выходит на первый план, а сюжет и атмосфера остаются фоном.</ns1:t>
            </ns1:r>
            <ns1:endParaRPr sz="1200">
              <ns1:latin typeface="Bellota"/>
              <ns1:cs typeface="Bellota"/>
            </ns1:endParaRPr>
          </ns1:p>
        </ns0:txBody>
      </ns0:sp>
      <ns0:sp>
        <ns0:nvSpPr>
          <ns0:cNvPr id="8758759" name="Card 01"/>
          <ns0:cNvSpPr/>
          <ns0:nvPr/>
        </ns0:nvSpPr>
        <ns0:spPr bwMode="auto">
          <ns1:xfrm flipH="0" flipV="0">
            <ns1:off x="647065" y="2838641"/>
            <ns1:ext cx="5372336" cy="559999"/>
          </ns1:xfrm>
          <ns1:prstGeom prst="roundRect">
            <ns1:avLst>
              <ns1:gd name="adj" fmla="val 16667"/>
            </ns1:avLst>
          </ns1:prstGeom>
          <ns1:solidFill>
            <ns1:srgbClr val="351A21"/>
          </ns1:solidFill>
          <ns1:ln w="12700">
            <ns1:solidFill>
              <ns1:srgbClr val="FFDEA1"/>
            </ns1:solidFill>
            <ns1:prstDash val="solid"/>
          </ns1:ln>
        </ns0:spPr>
        <ns0:txBody>
          <ns1:bodyPr anchor="ctr"/>
          <ns1:p>
            <ns1:pPr algn="ctr">
              <ns1:defRPr/>
            </ns1:pPr>
            <ns1:endParaRPr>
              <ns1:latin typeface="Bellota"/>
              <ns1:cs typeface="Bellota"/>
            </ns1:endParaRPr>
          </ns1:p>
        </ns0:txBody>
      </ns0:sp>
      <ns0:sp>
        <ns0:nvSpPr>
          <ns0:cNvPr id="898224053" name="Card number 01"/>
          <ns0:cNvSpPr txBox="1"/>
          <ns0:nvPr/>
        </ns0:nvSpPr>
        <ns0:spPr bwMode="auto">
          <ns1:xfrm>
            <ns1:off x="857064" y="2970641"/>
            <ns1:ext cx="510000" cy="23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  <ns1:defRPr/>
            </ns1:pPr>
            <ns1:r>
              <ns1:rPr lang="ru-RU" sz="14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01</ns1:t>
            </ns1:r>
            <ns1:endParaRPr sz="1400">
              <ns1:latin typeface="Bellota"/>
              <ns1:cs typeface="Bellota"/>
            </ns1:endParaRPr>
          </ns1:p>
        </ns0:txBody>
      </ns0:sp>
      <ns0:sp>
        <ns0:nvSpPr>
          <ns0:cNvPr id="1952185711" name="Card divider 01"/>
          <ns0:cNvSpPr/>
          <ns0:nvPr/>
        </ns0:nvSpPr>
        <ns0:spPr bwMode="auto">
          <ns1:xfrm>
            <ns1:off x="1214510" y="2963640"/>
            <ns1:ext cx="22000" cy="310000"/>
          </ns1:xfrm>
          <ns1:prstGeom prst="rect">
            <ns1:avLst/>
          </ns1:prstGeom>
          <ns1:solidFill>
            <ns1:srgbClr val="FFDEA1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>
              <ns1:latin typeface="Bellota"/>
              <ns1:cs typeface="Bellota"/>
            </ns1:endParaRPr>
          </ns1:p>
        </ns0:txBody>
      </ns0:sp>
      <ns0:sp>
        <ns0:nvSpPr>
          <ns0:cNvPr id="778951471" name="Card text 01"/>
          <ns0:cNvSpPr txBox="1"/>
          <ns0:nvPr/>
        </ns0:nvSpPr>
        <ns0:spPr bwMode="auto">
          <ns1:xfrm>
            <ns1:off x="1359999" y="2916641"/>
            <ns1:ext cx="3720000" cy="41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l">
              <ns1:lnSpc>
                <ns1:spcPct val="100000"/>
              </ns1:lnSpc>
              <ns1:spcBef>
                <ns1:spcPts val="0"/>
              </ns1:spcBef>
              <ns1:spcAft>
                <ns1:spcPts val="350"/>
              </ns1:spcAft>
              <ns1:buNone/>
              <ns1:defRPr/>
            </ns1:pPr>
            <ns1:r>
              <ns1:rPr lang="ru-RU" sz="12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МУЗЫКА СОЗДАЁТ АТМОСФЕРУ</ns1:t>
            </ns1:r>
            <ns1:endParaRPr sz="1200">
              <ns1:solidFill>
                <ns1:srgbClr val="FFDEA1"/>
              </ns1:solidFill>
              <ns1:latin typeface="Bellota"/>
              <ns1:cs typeface="Bellota"/>
            </ns1:endParaRPr>
          </ns1:p>
          <ns1:p>
            <ns1:pPr marL="0" indent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  <ns1:defRPr/>
            </ns1:pPr>
            <ns1:r>
              <ns1:rPr lang="ru-RU" sz="1100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Ритм работает не отдельно, а внутри событий игры.</ns1:t>
            </ns1:r>
            <ns1:endParaRPr sz="1100">
              <ns1:solidFill>
                <ns1:srgbClr val="FFDEA1"/>
              </ns1:solidFill>
              <ns1:latin typeface="Bellota"/>
              <ns1:cs typeface="Bellota"/>
            </ns1:endParaRPr>
          </ns1:p>
        </ns0:txBody>
      </ns0:sp>
      <ns0:sp>
        <ns0:nvSpPr>
          <ns0:cNvPr id="4820763" name="Card 02"/>
          <ns0:cNvSpPr/>
          <ns0:nvPr/>
        </ns0:nvSpPr>
        <ns0:spPr bwMode="auto">
          <ns1:xfrm flipH="0" flipV="0">
            <ns1:off x="647065" y="3548640"/>
            <ns1:ext cx="5372336" cy="559999"/>
          </ns1:xfrm>
          <ns1:prstGeom prst="roundRect">
            <ns1:avLst>
              <ns1:gd name="adj" fmla="val 16667"/>
            </ns1:avLst>
          </ns1:prstGeom>
          <ns1:solidFill>
            <ns1:srgbClr val="351A21"/>
          </ns1:solidFill>
          <ns1:ln w="12700">
            <ns1:solidFill>
              <ns1:srgbClr val="FFDEA1"/>
            </ns1:solidFill>
            <ns1:prstDash val="solid"/>
          </ns1:ln>
        </ns0:spPr>
        <ns0:txBody>
          <ns1:bodyPr anchor="ctr"/>
          <ns1:p>
            <ns1:pPr algn="ctr">
              <ns1:defRPr/>
            </ns1:pPr>
            <ns1:endParaRPr>
              <ns1:latin typeface="Bellota"/>
              <ns1:cs typeface="Bellota"/>
            </ns1:endParaRPr>
          </ns1:p>
        </ns0:txBody>
      </ns0:sp>
      <ns0:sp>
        <ns0:nvSpPr>
          <ns0:cNvPr id="1750779938" name="Card number 02"/>
          <ns0:cNvSpPr txBox="1"/>
          <ns0:nvPr/>
        </ns0:nvSpPr>
        <ns0:spPr bwMode="auto">
          <ns1:xfrm>
            <ns1:off x="857064" y="3680641"/>
            <ns1:ext cx="510000" cy="23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  <ns1:defRPr/>
            </ns1:pPr>
            <ns1:r>
              <ns1:rPr lang="ru-RU" sz="13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02</ns1:t>
            </ns1:r>
            <ns1:endParaRPr sz="1300">
              <ns1:latin typeface="Bellota"/>
              <ns1:cs typeface="Bellota"/>
            </ns1:endParaRPr>
          </ns1:p>
        </ns0:txBody>
      </ns0:sp>
      <ns0:sp>
        <ns0:nvSpPr>
          <ns0:cNvPr id="85074529" name="Card divider 02"/>
          <ns0:cNvSpPr/>
          <ns0:nvPr/>
        </ns0:nvSpPr>
        <ns0:spPr bwMode="auto">
          <ns1:xfrm>
            <ns1:off x="1214510" y="3673641"/>
            <ns1:ext cx="22000" cy="310000"/>
          </ns1:xfrm>
          <ns1:prstGeom prst="rect">
            <ns1:avLst/>
          </ns1:prstGeom>
          <ns1:solidFill>
            <ns1:srgbClr val="FFDEA1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>
              <ns1:latin typeface="Bellota"/>
              <ns1:cs typeface="Bellota"/>
            </ns1:endParaRPr>
          </ns1:p>
        </ns0:txBody>
      </ns0:sp>
      <ns0:sp>
        <ns0:nvSpPr>
          <ns0:cNvPr id="2026890084" name="Card text 02"/>
          <ns0:cNvSpPr txBox="1"/>
          <ns0:nvPr/>
        </ns0:nvSpPr>
        <ns0:spPr bwMode="auto">
          <ns1:xfrm flipH="0" flipV="0">
            <ns1:off x="1360434" y="3626641"/>
            <ns1:ext cx="4226630" cy="409999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l">
              <ns1:lnSpc>
                <ns1:spcPct val="100000"/>
              </ns1:lnSpc>
              <ns1:spcBef>
                <ns1:spcPts val="0"/>
              </ns1:spcBef>
              <ns1:spcAft>
                <ns1:spcPts val="350"/>
              </ns1:spcAft>
              <ns1:buNone/>
              <ns1:defRPr/>
            </ns1:pPr>
            <ns1:r>
              <ns1:rPr lang="ru-RU" sz="12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ДВА ЖАНРА — ОДИН ОПЫТ</ns1:t>
            </ns1:r>
            <ns1:endParaRPr sz="1200">
              <ns1:latin typeface="Bellota"/>
              <ns1:cs typeface="Bellota"/>
            </ns1:endParaRPr>
          </ns1:p>
          <ns1:p>
            <ns1:pPr marL="0" indent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  <ns1:defRPr/>
            </ns1:pPr>
            <ns1:r>
              <ns1:rPr lang="ru-RU" sz="1100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Новелла добавляет персонажей, диалоги и развитие истории.</ns1:t>
            </ns1:r>
            <ns1:endParaRPr sz="1100">
              <ns1:latin typeface="Bellota"/>
              <ns1:cs typeface="Bellota"/>
            </ns1:endParaRPr>
          </ns1:p>
        </ns0:txBody>
      </ns0:sp>
      <ns0:sp>
        <ns0:nvSpPr>
          <ns0:cNvPr id="1286373530" name="Card 03"/>
          <ns0:cNvSpPr/>
          <ns0:nvPr/>
        </ns0:nvSpPr>
        <ns0:spPr bwMode="auto">
          <ns1:xfrm flipH="0" flipV="0">
            <ns1:off x="647065" y="4258641"/>
            <ns1:ext cx="5372336" cy="559999"/>
          </ns1:xfrm>
          <ns1:prstGeom prst="roundRect">
            <ns1:avLst>
              <ns1:gd name="adj" fmla="val 16667"/>
            </ns1:avLst>
          </ns1:prstGeom>
          <ns1:solidFill>
            <ns1:srgbClr val="351A21"/>
          </ns1:solidFill>
          <ns1:ln w="12700">
            <ns1:solidFill>
              <ns1:srgbClr val="FFDEA1"/>
            </ns1:solidFill>
            <ns1:prstDash val="solid"/>
          </ns1:ln>
        </ns0:spPr>
        <ns0:txBody>
          <ns1:bodyPr anchor="ctr"/>
          <ns1:p>
            <ns1:pPr algn="ctr">
              <ns1:defRPr/>
            </ns1:pPr>
            <ns1:endParaRPr>
              <ns1:latin typeface="Bellota"/>
              <ns1:cs typeface="Bellota"/>
            </ns1:endParaRPr>
          </ns1:p>
        </ns0:txBody>
      </ns0:sp>
      <ns0:sp>
        <ns0:nvSpPr>
          <ns0:cNvPr id="1341221886" name="Card number 03"/>
          <ns0:cNvSpPr txBox="1"/>
          <ns0:nvPr/>
        </ns0:nvSpPr>
        <ns0:spPr bwMode="auto">
          <ns1:xfrm>
            <ns1:off x="857064" y="4390641"/>
            <ns1:ext cx="510000" cy="23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  <ns1:defRPr/>
            </ns1:pPr>
            <ns1:r>
              <ns1:rPr lang="ru-RU" sz="13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03</ns1:t>
            </ns1:r>
            <ns1:endParaRPr sz="1300">
              <ns1:latin typeface="Bellota"/>
              <ns1:cs typeface="Bellota"/>
            </ns1:endParaRPr>
          </ns1:p>
        </ns0:txBody>
      </ns0:sp>
      <ns0:sp>
        <ns0:nvSpPr>
          <ns0:cNvPr id="202739434" name="Card divider 03"/>
          <ns0:cNvSpPr/>
          <ns0:nvPr/>
        </ns0:nvSpPr>
        <ns0:spPr bwMode="auto">
          <ns1:xfrm>
            <ns1:off x="1214510" y="4383641"/>
            <ns1:ext cx="22000" cy="310000"/>
          </ns1:xfrm>
          <ns1:prstGeom prst="rect">
            <ns1:avLst/>
          </ns1:prstGeom>
          <ns1:solidFill>
            <ns1:srgbClr val="FFDEA1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>
              <ns1:latin typeface="Bellota"/>
              <ns1:cs typeface="Bellota"/>
            </ns1:endParaRPr>
          </ns1:p>
        </ns0:txBody>
      </ns0:sp>
      <ns0:sp>
        <ns0:nvSpPr>
          <ns0:cNvPr id="1288920921" name="Card text 03"/>
          <ns0:cNvSpPr txBox="1"/>
          <ns0:nvPr/>
        </ns0:nvSpPr>
        <ns0:spPr bwMode="auto">
          <ns1:xfrm flipH="0" flipV="0">
            <ns1:off x="1359999" y="4336641"/>
            <ns1:ext cx="3962282" cy="409999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l">
              <ns1:lnSpc>
                <ns1:spcPct val="100000"/>
              </ns1:lnSpc>
              <ns1:spcBef>
                <ns1:spcPts val="0"/>
              </ns1:spcBef>
              <ns1:spcAft>
                <ns1:spcPts val="350"/>
              </ns1:spcAft>
              <ns1:buNone/>
              <ns1:defRPr/>
            </ns1:pPr>
            <ns1:r>
              <ns1:rPr lang="ru-RU" sz="11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ДЕЙСТВИЯ ИМЕЮТ ПОСЛЕДСТВИЯ</ns1:t>
            </ns1:r>
            <ns1:endParaRPr sz="1100">
              <ns1:latin typeface="Bellota"/>
              <ns1:cs typeface="Bellota"/>
            </ns1:endParaRPr>
          </ns1:p>
          <ns1:p>
            <ns1:pPr marL="0" indent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  <ns1:defRPr/>
            </ns1:pPr>
            <ns1:r>
              <ns1:rPr lang="ru-RU" sz="1000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Точность приготовления кофе влияет на очки и концовку.</ns1:t>
            </ns1:r>
            <ns1:endParaRPr sz="1000">
              <ns1:latin typeface="Bellota"/>
              <ns1:cs typeface="Bellota"/>
            </ns1:endParaRPr>
          </ns1:p>
        </ns0:txBody>
      </ns0:sp>
      <ns0:sp>
        <ns0:nvSpPr>
          <ns0:cNvPr id="1010754645" name=""/>
          <ns0:cNvSpPr/>
          <ns0:nvPr/>
        </ns0:nvSpPr>
        <ns0:spPr bwMode="auto">
          <ns1:xfrm rot="0" flipH="0" flipV="0">
            <ns1:off x="7682824" y="4700379"/>
            <ns1:ext cx="1387335" cy="421030"/>
          </ns1:xfrm>
          <ns1:prstGeom prst="rect">
            <ns1:avLst/>
          </ns1:prstGeom>
          <ns1:solidFill>
            <ns1:srgbClr val="241318"/>
          </ns1:solidFill>
          <ns1:ln w="12700" cap="flat" cmpd="sng" algn="ctr">
            <ns1:noFill/>
            <ns1:prstDash val="solid"/>
            <ns1:miter lim="800000"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/>
          <ns1:p>
            <ns1:pPr algn="ctr">
              <ns1:defRPr/>
            </ns1:pPr>
            <ns1:endParaRPr>
              <ns1:solidFill>
                <ns1:schemeClr val="tx1"/>
              </ns1:solidFill>
              <ns1:latin typeface="Bellota"/>
              <ns1:cs typeface="Bellota"/>
            </ns1:endParaRPr>
          </ns1:p>
        </ns0:txBody>
      </ns0:sp>
    </ns0:spTree>
  </ns0:cSld>
  <ns0:clrMapOvr>
    <ns1:masterClrMapping/>
  </ns0:clrMapOvr>
  <ns2:AlternateContent>
    <ns2:Choice Requires="p159">
      <ns0:transition ns3:dur="250" advClick="1" spd="fast">
        <ns0:fade/>
      </ns0:transition>
    </ns2:Choice>
    <ns2:Fallback>
      <ns0:transition advClick="1" spd="fast">
        <ns0:fade/>
      </ns0:transition>
    </ns2:Fallback>
  </ns2:AlternateContent>
</ns0:sld>
</file>

<file path=ppt/slides/slide3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 showMasterPhAnim="0" showMasterSp="1" show="1">
  <ns0:cSld name="Slide 3">
    <ns0:spTree>
      <ns0:nvGrpSpPr>
        <ns0:cNvPr id="1" name=""/>
        <ns0:cNvGrpSpPr/>
        <ns0:nvPr/>
      </ns0:nvGrpSpPr>
      <ns0:grpSpPr bwMode="auto">
        <ns1:xfrm>
          <ns1:off x="0" y="0"/>
          <ns1:ext cx="0" cy="0"/>
          <ns1:chOff x="0" y="0"/>
          <ns1:chExt cx="0" cy="0"/>
        </ns1:xfrm>
      </ns0:grpSpPr>
      <ns0:sp>
        <ns0:nvSpPr>
          <ns0:cNvPr id="1397489461" name="Title"/>
          <ns0:cNvSpPr txBox="1"/>
          <ns0:nvPr/>
        </ns0:nvSpPr>
        <ns0:spPr bwMode="auto">
          <ns1:xfrm>
            <ns1:off x="440000" y="800000"/>
            <ns1:ext cx="4900000" cy="46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l">
              <ns1:lnSpc>
                <ns1:spcPct val="95000"/>
              </ns1:lnSpc>
              <ns1:spcBef>
                <ns1:spcPts val="0"/>
              </ns1:spcBef>
              <ns1:spcAft>
                <ns1:spcPts val="0"/>
              </ns1:spcAft>
              <ns1:buNone/>
              <ns1:defRPr/>
            </ns1:pPr>
            <ns1:r>
              <ns1:rPr lang="ru-RU" sz="26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Что должно быть создано?</ns1:t>
            </ns1:r>
            <ns1:endParaRPr sz="2600">
              <ns1:latin typeface="Bellota"/>
              <ns1:cs typeface="Bellota"/>
            </ns1:endParaRPr>
          </ns1:p>
        </ns0:txBody>
      </ns0:sp>
      <ns0:sp>
        <ns0:nvSpPr>
          <ns0:cNvPr id="218553680" name="Tasks header"/>
          <ns0:cNvSpPr txBox="1"/>
          <ns0:nvPr/>
        </ns0:nvSpPr>
        <ns0:spPr bwMode="auto">
          <ns1:xfrm flipH="0" flipV="0">
            <ns1:off x="439999" y="2407445"/>
            <ns1:ext cx="2742608" cy="209999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  <ns1:defRPr/>
            </ns1:pPr>
            <ns1:r>
              <ns1:rPr lang="ru-RU" sz="1600" b="1">
                <ns1:solidFill>
                  <ns1:srgbClr val="D2A45C"/>
                </ns1:solidFill>
                <ns1:latin typeface="Bellota"/>
                <ns1:ea typeface="Bellota"/>
                <ns1:cs typeface="Bellota"/>
              </ns1:rPr>
              <ns1:t>ЗАДАЧИ РАЗРАБОТКИ</ns1:t>
            </ns1:r>
            <ns1:endParaRPr sz="1600">
              <ns1:latin typeface="Bellota"/>
              <ns1:cs typeface="Bellota"/>
            </ns1:endParaRPr>
          </ns1:p>
        </ns0:txBody>
      </ns0:sp>
      <ns0:sp>
        <ns0:nvSpPr>
          <ns0:cNvPr id="1243520859" name="Task 01"/>
          <ns0:cNvSpPr/>
          <ns0:nvPr/>
        </ns0:nvSpPr>
        <ns0:spPr bwMode="auto">
          <ns1:xfrm flipH="0" flipV="0">
            <ns1:off x="425422" y="2790978"/>
            <ns1:ext cx="4802119" cy="332146"/>
          </ns1:xfrm>
          <ns1:prstGeom prst="roundRect">
            <ns1:avLst>
              <ns1:gd name="adj" fmla="val 16667"/>
            </ns1:avLst>
          </ns1:prstGeom>
          <ns1:solidFill>
            <ns1:srgbClr val="351A21"/>
          </ns1:solidFill>
          <ns1:ln w="9525">
            <ns1:solidFill>
              <ns1:srgbClr val="FFDEA1"/>
            </ns1:solidFill>
            <ns1:prstDash val="solid"/>
          </ns1:ln>
        </ns0:spPr>
        <ns0:txBody>
          <ns1:bodyPr anchor="ctr"/>
          <ns1:p>
            <ns1:pPr algn="ctr">
              <ns1:defRPr/>
            </ns1:pPr>
            <ns1:endParaRPr sz="2600">
              <ns1:latin typeface="Bellota"/>
              <ns1:cs typeface="Bellota"/>
            </ns1:endParaRPr>
          </ns1:p>
        </ns0:txBody>
      </ns0:sp>
      <ns0:sp>
        <ns0:nvSpPr>
          <ns0:cNvPr id="308516999" name="Task number 01"/>
          <ns0:cNvSpPr txBox="1"/>
          <ns0:nvPr/>
        </ns0:nvSpPr>
        <ns0:spPr bwMode="auto">
          <ns1:xfrm flipH="0" flipV="0">
            <ns1:off x="595422" y="2857978"/>
            <ns1:ext cx="405241" cy="151505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  <ns1:defRPr/>
            </ns1:pPr>
            <ns1:r>
              <ns1:rPr lang="ru-RU" sz="16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01</ns1:t>
            </ns1:r>
            <ns1:endParaRPr sz="1600">
              <ns1:latin typeface="Bellota"/>
              <ns1:cs typeface="Bellota"/>
            </ns1:endParaRPr>
          </ns1:p>
        </ns0:txBody>
      </ns0:sp>
      <ns0:sp>
        <ns0:nvSpPr>
          <ns0:cNvPr id="41072535" name="Task divider 01"/>
          <ns0:cNvSpPr/>
          <ns0:nvPr/>
        </ns0:nvSpPr>
        <ns0:spPr bwMode="auto">
          <ns1:xfrm flipH="0" flipV="0">
            <ns1:off x="1085421" y="2847978"/>
            <ns1:ext cx="45720" cy="198122"/>
          </ns1:xfrm>
          <ns1:prstGeom prst="rect">
            <ns1:avLst/>
          </ns1:prstGeom>
          <ns1:solidFill>
            <ns1:srgbClr val="FFDEA1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 sz="2600">
              <ns1:latin typeface="Bellota"/>
              <ns1:cs typeface="Bellota"/>
            </ns1:endParaRPr>
          </ns1:p>
        </ns0:txBody>
      </ns0:sp>
      <ns0:sp>
        <ns0:nvSpPr>
          <ns0:cNvPr id="612043281" name="Task text 01"/>
          <ns0:cNvSpPr txBox="1"/>
          <ns0:nvPr/>
        </ns0:nvSpPr>
        <ns0:spPr bwMode="auto">
          <ns1:xfrm flipH="0" flipV="0">
            <ns1:off x="1275422" y="2851977"/>
            <ns1:ext cx="3586393" cy="174813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  <ns1:defRPr/>
            </ns1:pPr>
            <ns1:r>
              <ns1:rPr lang="ru-RU" sz="1200" b="1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Проанализировать аналоги и механики</ns1:t>
            </ns1:r>
            <ns1:endParaRPr sz="1200">
              <ns1:latin typeface="Bellota"/>
              <ns1:cs typeface="Bellota"/>
            </ns1:endParaRPr>
          </ns1:p>
        </ns0:txBody>
      </ns0:sp>
      <ns0:sp>
        <ns0:nvSpPr>
          <ns0:cNvPr id="989193213" name="Task 02"/>
          <ns0:cNvSpPr/>
          <ns0:nvPr/>
        </ns0:nvSpPr>
        <ns0:spPr bwMode="auto">
          <ns1:xfrm flipH="0" flipV="0">
            <ns1:off x="425422" y="3185488"/>
            <ns1:ext cx="4802119" cy="332146"/>
          </ns1:xfrm>
          <ns1:prstGeom prst="roundRect">
            <ns1:avLst>
              <ns1:gd name="adj" fmla="val 16667"/>
            </ns1:avLst>
          </ns1:prstGeom>
          <ns1:solidFill>
            <ns1:srgbClr val="351A21"/>
          </ns1:solidFill>
          <ns1:ln w="9525">
            <ns1:solidFill>
              <ns1:srgbClr val="FFDEA1"/>
            </ns1:solidFill>
            <ns1:prstDash val="solid"/>
          </ns1:ln>
        </ns0:spPr>
        <ns0:txBody>
          <ns1:bodyPr anchor="ctr"/>
          <ns1:p>
            <ns1:pPr algn="ctr">
              <ns1:defRPr/>
            </ns1:pPr>
            <ns1:endParaRPr sz="2600">
              <ns1:latin typeface="Bellota"/>
              <ns1:cs typeface="Bellota"/>
            </ns1:endParaRPr>
          </ns1:p>
        </ns0:txBody>
      </ns0:sp>
      <ns0:sp>
        <ns0:nvSpPr>
          <ns0:cNvPr id="1974117520" name="Task number 02"/>
          <ns0:cNvSpPr txBox="1"/>
          <ns0:nvPr/>
        </ns0:nvSpPr>
        <ns0:spPr bwMode="auto">
          <ns1:xfrm flipH="0" flipV="0">
            <ns1:off x="595422" y="3252489"/>
            <ns1:ext cx="405241" cy="151505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  <ns1:defRPr/>
            </ns1:pPr>
            <ns1:r>
              <ns1:rPr lang="ru-RU" sz="16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02</ns1:t>
            </ns1:r>
            <ns1:endParaRPr sz="1600">
              <ns1:latin typeface="Bellota"/>
              <ns1:cs typeface="Bellota"/>
            </ns1:endParaRPr>
          </ns1:p>
        </ns0:txBody>
      </ns0:sp>
      <ns0:sp>
        <ns0:nvSpPr>
          <ns0:cNvPr id="491664352" name="Task divider 02"/>
          <ns0:cNvSpPr/>
          <ns0:nvPr/>
        </ns0:nvSpPr>
        <ns0:spPr bwMode="auto">
          <ns1:xfrm flipH="0" flipV="0">
            <ns1:off x="1085421" y="3242489"/>
            <ns1:ext cx="45720" cy="198122"/>
          </ns1:xfrm>
          <ns1:prstGeom prst="rect">
            <ns1:avLst/>
          </ns1:prstGeom>
          <ns1:solidFill>
            <ns1:srgbClr val="FFDEA1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 sz="2600">
              <ns1:latin typeface="Bellota"/>
              <ns1:cs typeface="Bellota"/>
            </ns1:endParaRPr>
          </ns1:p>
        </ns0:txBody>
      </ns0:sp>
      <ns0:sp>
        <ns0:nvSpPr>
          <ns0:cNvPr id="898979506" name="Task text 02"/>
          <ns0:cNvSpPr txBox="1"/>
          <ns0:nvPr/>
        </ns0:nvSpPr>
        <ns0:spPr bwMode="auto">
          <ns1:xfrm flipH="0" flipV="0">
            <ns1:off x="1275422" y="3246489"/>
            <ns1:ext cx="3586393" cy="174813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  <ns1:defRPr/>
            </ns1:pPr>
            <ns1:r>
              <ns1:rPr lang="ru-RU" sz="1200" b="1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Сформировать требования к прототипу</ns1:t>
            </ns1:r>
            <ns1:endParaRPr sz="1200">
              <ns1:latin typeface="Bellota"/>
              <ns1:cs typeface="Bellota"/>
            </ns1:endParaRPr>
          </ns1:p>
        </ns0:txBody>
      </ns0:sp>
      <ns0:sp>
        <ns0:nvSpPr>
          <ns0:cNvPr id="1755594755" name="Task 03"/>
          <ns0:cNvSpPr/>
          <ns0:nvPr/>
        </ns0:nvSpPr>
        <ns0:spPr bwMode="auto">
          <ns1:xfrm flipH="0" flipV="0">
            <ns1:off x="425422" y="3579999"/>
            <ns1:ext cx="4802119" cy="332146"/>
          </ns1:xfrm>
          <ns1:prstGeom prst="roundRect">
            <ns1:avLst>
              <ns1:gd name="adj" fmla="val 16667"/>
            </ns1:avLst>
          </ns1:prstGeom>
          <ns1:solidFill>
            <ns1:srgbClr val="351A21"/>
          </ns1:solidFill>
          <ns1:ln w="9525">
            <ns1:solidFill>
              <ns1:srgbClr val="FFDEA1"/>
            </ns1:solidFill>
            <ns1:prstDash val="solid"/>
          </ns1:ln>
        </ns0:spPr>
        <ns0:txBody>
          <ns1:bodyPr anchor="ctr"/>
          <ns1:p>
            <ns1:pPr algn="ctr">
              <ns1:defRPr/>
            </ns1:pPr>
            <ns1:endParaRPr sz="2600">
              <ns1:latin typeface="Bellota"/>
              <ns1:cs typeface="Bellota"/>
            </ns1:endParaRPr>
          </ns1:p>
        </ns0:txBody>
      </ns0:sp>
      <ns0:sp>
        <ns0:nvSpPr>
          <ns0:cNvPr id="1699932485" name="Task number 03"/>
          <ns0:cNvSpPr txBox="1"/>
          <ns0:nvPr/>
        </ns0:nvSpPr>
        <ns0:spPr bwMode="auto">
          <ns1:xfrm flipH="0" flipV="0">
            <ns1:off x="595422" y="3646999"/>
            <ns1:ext cx="405241" cy="151505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  <ns1:defRPr/>
            </ns1:pPr>
            <ns1:r>
              <ns1:rPr lang="ru-RU" sz="16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03</ns1:t>
            </ns1:r>
            <ns1:endParaRPr sz="1600">
              <ns1:latin typeface="Bellota"/>
              <ns1:cs typeface="Bellota"/>
            </ns1:endParaRPr>
          </ns1:p>
        </ns0:txBody>
      </ns0:sp>
      <ns0:sp>
        <ns0:nvSpPr>
          <ns0:cNvPr id="1841612836" name="Task divider 03"/>
          <ns0:cNvSpPr/>
          <ns0:nvPr/>
        </ns0:nvSpPr>
        <ns0:spPr bwMode="auto">
          <ns1:xfrm flipH="0" flipV="0">
            <ns1:off x="1085421" y="3636999"/>
            <ns1:ext cx="45720" cy="198122"/>
          </ns1:xfrm>
          <ns1:prstGeom prst="rect">
            <ns1:avLst/>
          </ns1:prstGeom>
          <ns1:solidFill>
            <ns1:srgbClr val="FFDEA1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 sz="2600">
              <ns1:latin typeface="Bellota"/>
              <ns1:cs typeface="Bellota"/>
            </ns1:endParaRPr>
          </ns1:p>
        </ns0:txBody>
      </ns0:sp>
      <ns0:sp>
        <ns0:nvSpPr>
          <ns0:cNvPr id="492878471" name="Task text 03"/>
          <ns0:cNvSpPr txBox="1"/>
          <ns0:nvPr/>
        </ns0:nvSpPr>
        <ns0:spPr bwMode="auto">
          <ns1:xfrm flipH="0" flipV="0">
            <ns1:off x="1275422" y="3640999"/>
            <ns1:ext cx="3897675" cy="174813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  <ns1:defRPr/>
            </ns1:pPr>
            <ns1:r>
              <ns1:rPr lang="ru-RU" sz="1200" b="1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Спроектировать архитектуру и состояния</ns1:t>
            </ns1:r>
            <ns1:endParaRPr sz="1200">
              <ns1:latin typeface="Bellota"/>
              <ns1:cs typeface="Bellota"/>
            </ns1:endParaRPr>
          </ns1:p>
        </ns0:txBody>
      </ns0:sp>
      <ns0:sp>
        <ns0:nvSpPr>
          <ns0:cNvPr id="183926810" name="Task 04"/>
          <ns0:cNvSpPr/>
          <ns0:nvPr/>
        </ns0:nvSpPr>
        <ns0:spPr bwMode="auto">
          <ns1:xfrm flipH="0" flipV="0">
            <ns1:off x="425422" y="3974510"/>
            <ns1:ext cx="4802119" cy="332146"/>
          </ns1:xfrm>
          <ns1:prstGeom prst="roundRect">
            <ns1:avLst>
              <ns1:gd name="adj" fmla="val 16667"/>
            </ns1:avLst>
          </ns1:prstGeom>
          <ns1:solidFill>
            <ns1:srgbClr val="351A21"/>
          </ns1:solidFill>
          <ns1:ln w="9525">
            <ns1:solidFill>
              <ns1:srgbClr val="FFDEA1"/>
            </ns1:solidFill>
            <ns1:prstDash val="solid"/>
          </ns1:ln>
        </ns0:spPr>
        <ns0:txBody>
          <ns1:bodyPr anchor="ctr"/>
          <ns1:p>
            <ns1:pPr algn="ctr">
              <ns1:defRPr/>
            </ns1:pPr>
            <ns1:endParaRPr sz="2600">
              <ns1:latin typeface="Bellota"/>
              <ns1:cs typeface="Bellota"/>
            </ns1:endParaRPr>
          </ns1:p>
        </ns0:txBody>
      </ns0:sp>
      <ns0:sp>
        <ns0:nvSpPr>
          <ns0:cNvPr id="516304470" name="Task number 04"/>
          <ns0:cNvSpPr txBox="1"/>
          <ns0:nvPr/>
        </ns0:nvSpPr>
        <ns0:spPr bwMode="auto">
          <ns1:xfrm flipH="0" flipV="0">
            <ns1:off x="595422" y="4041510"/>
            <ns1:ext cx="405241" cy="151505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  <ns1:defRPr/>
            </ns1:pPr>
            <ns1:r>
              <ns1:rPr lang="ru-RU" sz="16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04</ns1:t>
            </ns1:r>
            <ns1:endParaRPr sz="1600">
              <ns1:latin typeface="Bellota"/>
              <ns1:cs typeface="Bellota"/>
            </ns1:endParaRPr>
          </ns1:p>
        </ns0:txBody>
      </ns0:sp>
      <ns0:sp>
        <ns0:nvSpPr>
          <ns0:cNvPr id="1199060108" name="Task divider 04"/>
          <ns0:cNvSpPr/>
          <ns0:nvPr/>
        </ns0:nvSpPr>
        <ns0:spPr bwMode="auto">
          <ns1:xfrm flipH="0" flipV="0">
            <ns1:off x="1085421" y="4031509"/>
            <ns1:ext cx="45720" cy="198122"/>
          </ns1:xfrm>
          <ns1:prstGeom prst="rect">
            <ns1:avLst/>
          </ns1:prstGeom>
          <ns1:solidFill>
            <ns1:srgbClr val="FFDEA1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 sz="2600">
              <ns1:latin typeface="Bellota"/>
              <ns1:cs typeface="Bellota"/>
            </ns1:endParaRPr>
          </ns1:p>
        </ns0:txBody>
      </ns0:sp>
      <ns0:sp>
        <ns0:nvSpPr>
          <ns0:cNvPr id="1221044879" name="Task text 04"/>
          <ns0:cNvSpPr txBox="1"/>
          <ns0:nvPr/>
        </ns0:nvSpPr>
        <ns0:spPr bwMode="auto">
          <ns1:xfrm flipH="0" flipV="0">
            <ns1:off x="1275422" y="4035510"/>
            <ns1:ext cx="3586393" cy="174813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  <ns1:defRPr/>
            </ns1:pPr>
            <ns1:r>
              <ns1:rPr lang="ru-RU" sz="1200" b="1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Реализовать модули игры</ns1:t>
            </ns1:r>
            <ns1:endParaRPr sz="1200">
              <ns1:latin typeface="Bellota"/>
              <ns1:cs typeface="Bellota"/>
            </ns1:endParaRPr>
          </ns1:p>
        </ns0:txBody>
      </ns0:sp>
      <ns0:sp>
        <ns0:nvSpPr>
          <ns0:cNvPr id="932686863" name="Task 05"/>
          <ns0:cNvSpPr/>
          <ns0:nvPr/>
        </ns0:nvSpPr>
        <ns0:spPr bwMode="auto">
          <ns1:xfrm flipH="0" flipV="0">
            <ns1:off x="425422" y="4369021"/>
            <ns1:ext cx="4802119" cy="332146"/>
          </ns1:xfrm>
          <ns1:prstGeom prst="roundRect">
            <ns1:avLst>
              <ns1:gd name="adj" fmla="val 16667"/>
            </ns1:avLst>
          </ns1:prstGeom>
          <ns1:solidFill>
            <ns1:srgbClr val="351A21"/>
          </ns1:solidFill>
          <ns1:ln w="9525">
            <ns1:solidFill>
              <ns1:srgbClr val="FFDEA1"/>
            </ns1:solidFill>
            <ns1:prstDash val="solid"/>
          </ns1:ln>
        </ns0:spPr>
        <ns0:txBody>
          <ns1:bodyPr anchor="ctr"/>
          <ns1:p>
            <ns1:pPr algn="ctr">
              <ns1:defRPr/>
            </ns1:pPr>
            <ns1:endParaRPr sz="2600">
              <ns1:latin typeface="Bellota"/>
              <ns1:cs typeface="Bellota"/>
            </ns1:endParaRPr>
          </ns1:p>
        </ns0:txBody>
      </ns0:sp>
      <ns0:sp>
        <ns0:nvSpPr>
          <ns0:cNvPr id="1885286463" name="Task number 05"/>
          <ns0:cNvSpPr txBox="1"/>
          <ns0:nvPr/>
        </ns0:nvSpPr>
        <ns0:spPr bwMode="auto">
          <ns1:xfrm flipH="0" flipV="0">
            <ns1:off x="595422" y="4436021"/>
            <ns1:ext cx="405241" cy="151505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  <ns1:defRPr/>
            </ns1:pPr>
            <ns1:r>
              <ns1:rPr lang="ru-RU" sz="16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05</ns1:t>
            </ns1:r>
            <ns1:endParaRPr sz="1600">
              <ns1:latin typeface="Bellota"/>
              <ns1:cs typeface="Bellota"/>
            </ns1:endParaRPr>
          </ns1:p>
        </ns0:txBody>
      </ns0:sp>
      <ns0:sp>
        <ns0:nvSpPr>
          <ns0:cNvPr id="1110197195" name="Task divider 05"/>
          <ns0:cNvSpPr/>
          <ns0:nvPr/>
        </ns0:nvSpPr>
        <ns0:spPr bwMode="auto">
          <ns1:xfrm flipH="0" flipV="0">
            <ns1:off x="1085421" y="4426021"/>
            <ns1:ext cx="45720" cy="198122"/>
          </ns1:xfrm>
          <ns1:prstGeom prst="rect">
            <ns1:avLst/>
          </ns1:prstGeom>
          <ns1:solidFill>
            <ns1:srgbClr val="FFDEA1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 sz="2600">
              <ns1:latin typeface="Bellota"/>
              <ns1:cs typeface="Bellota"/>
            </ns1:endParaRPr>
          </ns1:p>
        </ns0:txBody>
      </ns0:sp>
      <ns0:sp>
        <ns0:nvSpPr>
          <ns0:cNvPr id="1783794411" name="Task text 05"/>
          <ns0:cNvSpPr txBox="1"/>
          <ns0:nvPr/>
        </ns0:nvSpPr>
        <ns0:spPr bwMode="auto">
          <ns1:xfrm flipH="0" flipV="0">
            <ns1:off x="1275422" y="4430021"/>
            <ns1:ext cx="3897675" cy="174813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  <ns1:defRPr/>
            </ns1:pPr>
            <ns1:r>
              <ns1:rPr lang="ru-RU" sz="1200" b="1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Определить дальнейшее развитие</ns1:t>
            </ns1:r>
            <ns1:endParaRPr sz="1200">
              <ns1:latin typeface="Bellota"/>
              <ns1:cs typeface="Bellota"/>
            </ns1:endParaRPr>
          </ns1:p>
        </ns0:txBody>
      </ns0:sp>
      <ns0:sp>
        <ns0:nvSpPr>
          <ns0:cNvPr id="1831251069" name="Visual background"/>
          <ns0:cNvSpPr/>
          <ns0:nvPr/>
        </ns0:nvSpPr>
        <ns0:spPr bwMode="auto">
          <ns1:xfrm>
            <ns1:off x="5450000" y="320000"/>
            <ns1:ext cx="3300000" cy="4490000"/>
          </ns1:xfrm>
          <ns1:prstGeom prst="roundRect">
            <ns1:avLst>
              <ns1:gd name="adj" fmla="val 16667"/>
            </ns1:avLst>
          </ns1:prstGeom>
          <ns1:solidFill>
            <ns1:srgbClr val="351A21"/>
          </ns1:solidFill>
          <ns1:ln w="19050">
            <ns1:solidFill>
              <ns1:srgbClr val="FFDEA1"/>
            </ns1:solidFill>
            <ns1:prstDash val="solid"/>
          </ns1:ln>
        </ns0:spPr>
      </ns0:sp>
      <ns0:sp>
        <ns0:nvSpPr>
          <ns0:cNvPr id="2083416159" name="Visual header"/>
          <ns0:cNvSpPr txBox="1"/>
          <ns0:nvPr/>
        </ns0:nvSpPr>
        <ns0:spPr bwMode="auto">
          <ns1:xfrm>
            <ns1:off x="5739999" y="500978"/>
            <ns1:ext cx="2700000" cy="19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  <ns1:defRPr/>
            </ns1:pPr>
            <ns1:r>
              <ns1:rPr lang="ru-RU" sz="12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ОДИН ИГРОВОЙ ЦИКЛ</ns1:t>
            </ns1:r>
            <ns1:endParaRPr sz="1200">
              <ns1:latin typeface="Bellota"/>
              <ns1:cs typeface="Bellota"/>
            </ns1:endParaRPr>
          </ns1:p>
        </ns0:txBody>
      </ns0:sp>
      <ns0:pic>
        <ns0:nvPicPr>
          <ns0:cNvPr id="1033523443" name="Dialogue screenshot"/>
          <ns0:cNvPicPr>
            <ns1:picLocks noChangeAspect="1"/>
          </ns0:cNvPicPr>
          <ns0:nvPr/>
        </ns0:nvPicPr>
        <ns0:blipFill rotWithShape="1">
          <ns1:blip ns2:embed="rId3"/>
          <ns1:stretch/>
        </ns0:blipFill>
        <ns0:spPr bwMode="auto">
          <ns1:xfrm>
            <ns1:off x="5679999" y="810624"/>
            <ns1:ext cx="2790000" cy="1569375"/>
          </ns1:xfrm>
          <ns1:prstGeom prst="rect">
            <ns1:avLst/>
          </ns1:prstGeom>
          <ns1:ln w="19050">
            <ns1:solidFill>
              <ns1:srgbClr val="FFDEA1"/>
            </ns1:solidFill>
          </ns1:ln>
        </ns0:spPr>
      </ns0:pic>
      <ns0:sp>
        <ns0:nvSpPr>
          <ns0:cNvPr id="1439978359" name="Dialogue label text"/>
          <ns0:cNvSpPr txBox="1"/>
          <ns0:nvPr/>
        </ns0:nvSpPr>
        <ns0:spPr bwMode="auto">
          <ns1:xfrm>
            <ns1:off x="6390000" y="2444999"/>
            <ns1:ext cx="1370000" cy="12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  <ns1:defRPr/>
            </ns1:pPr>
            <ns1:r>
              <ns1:rPr lang="ru-RU" sz="9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01  /  ДИАЛОГИ</ns1:t>
            </ns1:r>
            <ns1:endParaRPr sz="900">
              <ns1:latin typeface="Bellota"/>
              <ns1:cs typeface="Bellota"/>
            </ns1:endParaRPr>
          </ns1:p>
        </ns0:txBody>
      </ns0:sp>
      <ns0:pic>
        <ns0:nvPicPr>
          <ns0:cNvPr id="576280579" name="Rhythm screenshot"/>
          <ns0:cNvPicPr>
            <ns1:picLocks noChangeAspect="1"/>
          </ns0:cNvPicPr>
          <ns0:nvPr/>
        </ns0:nvPicPr>
        <ns0:blipFill rotWithShape="1">
          <ns1:blip ns2:embed="rId4"/>
          <ns1:stretch/>
        </ns0:blipFill>
        <ns0:spPr bwMode="auto">
          <ns1:xfrm>
            <ns1:off x="5683970" y="2858666"/>
            <ns1:ext cx="2790000" cy="1569375"/>
          </ns1:xfrm>
          <ns1:prstGeom prst="rect">
            <ns1:avLst/>
          </ns1:prstGeom>
          <ns1:ln w="19050">
            <ns1:solidFill>
              <ns1:srgbClr val="FFDEA1"/>
            </ns1:solidFill>
          </ns1:ln>
        </ns0:spPr>
      </ns0:pic>
      <ns0:sp>
        <ns0:nvSpPr>
          <ns0:cNvPr id="1421817002" name="Rhythm label text"/>
          <ns0:cNvSpPr txBox="1"/>
          <ns0:nvPr/>
        </ns0:nvSpPr>
        <ns0:spPr bwMode="auto">
          <ns1:xfrm>
            <ns1:off x="6289999" y="4504144"/>
            <ns1:ext cx="1570000" cy="12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  <ns1:defRPr/>
            </ns1:pPr>
            <ns1:r>
              <ns1:rPr lang="ru-RU" sz="9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02  /  РИТМ-СЦЕНА</ns1:t>
            </ns1:r>
            <ns1:endParaRPr sz="900">
              <ns1:latin typeface="Bellota"/>
              <ns1:cs typeface="Bellota"/>
            </ns1:endParaRPr>
          </ns1:p>
        </ns0:txBody>
      </ns0:sp>
      <ns0:sp>
        <ns0:nvSpPr>
          <ns0:cNvPr id="704563002" name=""/>
          <ns0:cNvSpPr/>
          <ns0:nvPr/>
        </ns0:nvSpPr>
        <ns0:spPr bwMode="auto">
          <ns1:xfrm rot="0" flipH="0" flipV="0">
            <ns1:off x="7972717" y="4829998"/>
            <ns1:ext cx="1111249" cy="291407"/>
          </ns1:xfrm>
          <ns1:prstGeom prst="rect">
            <ns1:avLst/>
          </ns1:prstGeom>
          <ns1:solidFill>
            <ns1:srgbClr val="241318"/>
          </ns1:solidFill>
          <ns1:ln w="12700" cap="flat" cmpd="sng" algn="ctr">
            <ns1:noFill/>
            <ns1:prstDash val="solid"/>
            <ns1:miter lim="800000"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/>
          <ns1:p>
            <ns1:pPr algn="ctr">
              <ns1:defRPr/>
            </ns1:pPr>
            <ns1:endParaRPr>
              <ns1:solidFill>
                <ns1:schemeClr val="tx1"/>
              </ns1:solidFill>
              <ns1:latin typeface="Bellota"/>
              <ns1:cs typeface="Bellota"/>
            </ns1:endParaRPr>
          </ns1:p>
        </ns0:txBody>
      </ns0:sp>
      <ns0:sp>
        <ns0:nvSpPr>
          <ns0:cNvPr id="412609481" name="Eyebrow marker"/>
          <ns0:cNvSpPr/>
          <ns0:nvPr/>
        </ns0:nvSpPr>
        <ns0:spPr bwMode="auto">
          <ns1:xfrm>
            <ns1:off x="647064" y="327444"/>
            <ns1:ext cx="119999" cy="329999"/>
          </ns1:xfrm>
          <ns1:prstGeom prst="rect">
            <ns1:avLst/>
          </ns1:prstGeom>
          <ns1:solidFill>
            <ns1:srgbClr val="FFDEA1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>
              <ns1:latin typeface="Bellota"/>
              <ns1:cs typeface="Bellota"/>
            </ns1:endParaRPr>
          </ns1:p>
        </ns0:txBody>
      </ns0:sp>
      <ns0:sp>
        <ns0:nvSpPr>
          <ns0:cNvPr id="1647066844" name="Eyebrow"/>
          <ns0:cNvSpPr txBox="1"/>
          <ns0:nvPr/>
        </ns0:nvSpPr>
        <ns0:spPr bwMode="auto">
          <ns1:xfrm>
            <ns1:off x="867064" y="387443"/>
            <ns1:ext cx="4199999" cy="209999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  <ns1:defRPr/>
            </ns1:pPr>
            <ns1:r>
              <ns1:rPr lang="ru-RU" sz="1600" b="1">
                <ns1:solidFill>
                  <ns1:srgbClr val="D2A45C"/>
                </ns1:solidFill>
                <ns1:latin typeface="Bellota"/>
                <ns1:ea typeface="Bellota"/>
                <ns1:cs typeface="Bellota"/>
              </ns1:rPr>
              <ns1:t>ЦЕЛЬ И ЗАДАЧИ</ns1:t>
            </ns1:r>
            <ns1:endParaRPr sz="1600">
              <ns1:latin typeface="Bellota"/>
              <ns1:cs typeface="Bellota"/>
            </ns1:endParaRPr>
          </ns1:p>
        </ns0:txBody>
      </ns0:sp>
      <ns0:sp>
        <ns0:nvSpPr>
          <ns0:cNvPr id="787449665" name="Problem panel"/>
          <ns0:cNvSpPr/>
          <ns0:nvPr/>
        </ns0:nvSpPr>
        <ns0:spPr bwMode="auto">
          <ns1:xfrm flipH="0" flipV="0">
            <ns1:off x="439999" y="1327228"/>
            <ns1:ext cx="4802119" cy="872771"/>
          </ns1:xfrm>
          <ns1:prstGeom prst="roundRect">
            <ns1:avLst>
              <ns1:gd name="adj" fmla="val 16667"/>
            </ns1:avLst>
          </ns1:prstGeom>
          <ns1:solidFill>
            <ns1:srgbClr val="FFDEA1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>
              <ns1:latin typeface="Bellota"/>
              <ns1:cs typeface="Bellota"/>
            </ns1:endParaRPr>
          </ns1:p>
        </ns0:txBody>
      </ns0:sp>
      <ns0:sp>
        <ns0:nvSpPr>
          <ns0:cNvPr id="2107213157" name="Problem text"/>
          <ns0:cNvSpPr txBox="1"/>
          <ns0:nvPr/>
        </ns0:nvSpPr>
        <ns0:spPr bwMode="auto">
          <ns1:xfrm flipH="0" flipV="0">
            <ns1:off x="582119" y="1454021"/>
            <ns1:ext cx="4590978" cy="469998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l">
              <ns1:lnSpc>
                <ns1:spcPct val="100000"/>
              </ns1:lnSpc>
              <ns1:spcBef>
                <ns1:spcPts val="0"/>
              </ns1:spcBef>
              <ns1:spcAft>
                <ns1:spcPts val="499"/>
              </ns1:spcAft>
              <ns1:buNone/>
              <ns1:defRPr/>
            </ns1:pPr>
            <ns1:r>
              <ns1:rPr lang="ru-RU" sz="1200" b="1" i="0" u="none" strike="noStrike" cap="none" spc="0">
                <ns1:solidFill>
                  <ns1:srgbClr val="241318"/>
                </ns1:solidFill>
                <ns1:latin typeface="Bellota"/>
                <ns1:ea typeface="Bellota"/>
                <ns1:cs typeface="Bellota"/>
              </ns1:rPr>
              <ns1:t>ЦЕЛЬ ПРОЕКТА</ns1:t>
            </ns1:r>
            <ns1:endParaRPr sz="1200">
              <ns1:latin typeface="Bellota"/>
              <ns1:cs typeface="Bellota"/>
            </ns1:endParaRPr>
          </ns1:p>
          <ns1:p>
            <ns1:pPr marL="0" indent="0" algn="l">
              <ns1:lnSpc>
                <ns1:spcPct val="100000"/>
              </ns1:lnSpc>
              <ns1:spcBef>
                <ns1:spcPts val="0"/>
              </ns1:spcBef>
              <ns1:spcAft>
                <ns1:spcPts val="349"/>
              </ns1:spcAft>
              <ns1:buNone/>
              <ns1:defRPr/>
            </ns1:pPr>
            <ns1:r>
              <ns1:rPr lang="ru-RU" sz="1200" b="1" i="0" u="none" strike="noStrike" cap="none" spc="0">
                <ns1:solidFill>
                  <ns1:srgbClr val="241318"/>
                </ns1:solidFill>
                <ns1:latin typeface="Bellota"/>
                <ns1:ea typeface="Bellota"/>
                <ns1:cs typeface="Bellota"/>
              </ns1:rPr>
              <ns1:t>Создать функциональный прототип «Cuppa», </ns1:t>
            </ns1:r>
            <ns1:r>
              <ns1:rPr lang="ru-RU" sz="1200" b="0" i="0" u="none" strike="noStrike" cap="none" spc="0">
                <ns1:solidFill>
                  <ns1:srgbClr val="241318"/>
                </ns1:solidFill>
                <ns1:latin typeface="Bellota"/>
                <ns1:ea typeface="Bellota"/>
                <ns1:cs typeface="Bellota"/>
              </ns1:rPr>
              <ns1:t>где результат ритм сцен влияет на развитие  концовки визуальной новеллы.</ns1:t>
            </ns1:r>
            <ns1:endParaRPr sz="1200">
              <ns1:latin typeface="Bellota"/>
              <ns1:cs typeface="Bellota"/>
            </ns1:endParaRPr>
          </ns1:p>
          <ns1:p>
            <ns1:pPr>
              <ns1:defRPr/>
            </ns1:pPr>
            <ns1:endParaRPr/>
          </ns1:p>
        </ns0:txBody>
      </ns0:sp>
      <ns0:cxnSp>
        <ns0:nvCxnSpPr>
          <ns0:cNvPr id="1027130736" name=""/>
          <ns0:cNvCxnSpPr/>
          <ns0:nvPr/>
        </ns0:nvCxnSpPr>
        <ns0:spPr bwMode="auto">
          <ns1:xfrm flipH="1" flipV="0">
            <ns1:off x="7099999" y="2599656"/>
            <ns1:ext cx="0" cy="191320"/>
          </ns1:xfrm>
          <ns1:prstGeom prst="line">
            <ns1:avLst/>
          </ns1:prstGeom>
          <ns1:ln w="38100" cap="flat" cmpd="sng" algn="ctr">
            <ns1:solidFill>
              <ns1:srgbClr val="FFDEA1"/>
            </ns1:solidFill>
            <ns1:prstDash val="solid"/>
            <ns1:miter lim="800000"/>
            <ns1:tailEnd type="arrow" len="med"/>
          </ns1:ln>
        </ns0:spPr>
        <ns0:style>
          <ns1:lnRef idx="1">
            <ns1:schemeClr val="accent1">
              <ns1:shade val="50000"/>
            </ns1:schemeClr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</ns0:spTree>
  </ns0:cSld>
  <ns0:clrMapOvr>
    <ns1:masterClrMapping/>
  </ns0:clrMapOvr>
  <ns3:AlternateContent>
    <ns3:Choice Requires="p159">
      <ns0:transition ns4:dur="250" advClick="1" spd="fast">
        <ns0:fade/>
      </ns0:transition>
    </ns3:Choice>
    <ns3:Fallback>
      <ns0:transition advClick="1" spd="fast">
        <ns0:fade/>
      </ns0:transition>
    </ns3:Fallback>
  </ns3:AlternateContent>
</ns0:sld>
</file>

<file path=ppt/slides/slide4.xml><?xml version="1.0" encoding="utf-8"?>
<ns0:sld xmlns:ns0="http://schemas.openxmlformats.org/presentationml/2006/main" xmlns:ns1="http://schemas.openxmlformats.org/drawingml/2006/main" xmlns:ns2="http://schemas.openxmlformats.org/markup-compatibility/2006" xmlns:ns3="http://schemas.microsoft.com/office/powerpoint/2010/main" showMasterPhAnim="0" showMasterSp="1" show="1">
  <ns0:cSld name="Slide 4">
    <ns0:spTree>
      <ns0:nvGrpSpPr>
        <ns0:cNvPr id="1" name=""/>
        <ns0:cNvGrpSpPr/>
        <ns0:nvPr/>
      </ns0:nvGrpSpPr>
      <ns0:grpSpPr bwMode="auto">
        <ns1:xfrm>
          <ns1:off x="0" y="0"/>
          <ns1:ext cx="0" cy="0"/>
          <ns1:chOff x="0" y="0"/>
          <ns1:chExt cx="0" cy="0"/>
        </ns1:xfrm>
      </ns0:grpSpPr>
      <ns0:sp>
        <ns0:nvSpPr>
          <ns0:cNvPr id="1307221892" name="Title"/>
          <ns0:cNvSpPr txBox="1"/>
          <ns0:nvPr/>
        </ns0:nvSpPr>
        <ns0:spPr bwMode="auto">
          <ns1:xfrm flipH="0" flipV="0">
            <ns1:off x="336467" y="799999"/>
            <ns1:ext cx="5419999" cy="479999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l">
              <ns1:lnSpc>
                <ns1:spcPct val="95000"/>
              </ns1:lnSpc>
              <ns1:spcAft>
                <ns1:spcPts val="0"/>
              </ns1:spcAft>
              <ns1:buNone/>
              <ns1:defRPr/>
            </ns1:pPr>
            <ns1:r>
              <ns1:rPr lang="ru-RU" sz="25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Инструменты для 2D-прототипа</ns1:t>
            </ns1:r>
            <ns1:endParaRPr lang="ru-RU" sz="2500"/>
          </ns1:p>
        </ns0:txBody>
      </ns0:sp>
      <ns0:sp>
        <ns0:nvSpPr>
          <ns0:cNvPr id="710103540" name="Engine panel"/>
          <ns0:cNvSpPr/>
          <ns0:nvPr/>
        </ns0:nvSpPr>
        <ns0:spPr bwMode="auto">
          <ns1:xfrm>
            <ns1:off x="405488" y="1513532"/>
            <ns1:ext cx="4810000" cy="940000"/>
          </ns1:xfrm>
          <ns1:prstGeom prst="roundRect">
            <ns1:avLst>
              <ns1:gd name="adj" fmla="val 16667"/>
            </ns1:avLst>
          </ns1:prstGeom>
          <ns1:solidFill>
            <ns1:srgbClr val="FFDEA1"/>
          </ns1:solidFill>
          <ns1:ln>
            <ns1:noFill/>
          </ns1:ln>
        </ns0:spPr>
      </ns0:sp>
      <ns0:sp>
        <ns0:nvSpPr>
          <ns0:cNvPr id="1261636619" name="Engine label"/>
          <ns0:cNvSpPr txBox="1"/>
          <ns0:nvPr/>
        </ns0:nvSpPr>
        <ns0:spPr bwMode="auto">
          <ns1:xfrm>
            <ns1:off x="655489" y="1683532"/>
            <ns1:ext cx="2200000" cy="15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l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1200" b="1">
                <ns1:solidFill>
                  <ns1:srgbClr val="351A21"/>
                </ns1:solidFill>
                <ns1:latin typeface="Bellota"/>
                <ns1:ea typeface="Bellota"/>
                <ns1:cs typeface="Bellota"/>
              </ns1:rPr>
              <ns1:t>ОСНОВНОЙ СТЕК</ns1:t>
            </ns1:r>
            <ns1:endParaRPr sz="1200" b="1"/>
          </ns1:p>
        </ns0:txBody>
      </ns0:sp>
      <ns0:sp>
        <ns0:nvSpPr>
          <ns0:cNvPr id="282861768" name="Engine name"/>
          <ns0:cNvSpPr txBox="1"/>
          <ns0:nvPr/>
        </ns0:nvSpPr>
        <ns0:spPr bwMode="auto">
          <ns1:xfrm>
            <ns1:off x="655489" y="1889021"/>
            <ns1:ext cx="2450000" cy="30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l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2500" b="1">
                <ns1:solidFill>
                  <ns1:srgbClr val="241318"/>
                </ns1:solidFill>
                <ns1:latin typeface="Bellota"/>
                <ns1:ea typeface="Bellota"/>
                <ns1:cs typeface="Bellota"/>
              </ns1:rPr>
              <ns1:t>Godot 4.6</ns1:t>
            </ns1:r>
            <ns1:endParaRPr lang="ru-RU" sz="2500"/>
          </ns1:p>
        </ns0:txBody>
      </ns0:sp>
      <ns0:sp>
        <ns0:nvSpPr>
          <ns0:cNvPr id="144229250" name="Engine divider"/>
          <ns0:cNvSpPr/>
          <ns0:nvPr/>
        </ns0:nvSpPr>
        <ns0:spPr bwMode="auto">
          <ns1:xfrm>
            <ns1:off x="3146467" y="1753532"/>
            <ns1:ext cx="18000" cy="500000"/>
          </ns1:xfrm>
          <ns1:prstGeom prst="rect">
            <ns1:avLst/>
          </ns1:prstGeom>
          <ns1:solidFill>
            <ns1:srgbClr val="C9954B"/>
          </ns1:solidFill>
          <ns1:ln>
            <ns1:noFill/>
          </ns1:ln>
        </ns0:spPr>
      </ns0:sp>
      <ns0:sp>
        <ns0:nvSpPr>
          <ns0:cNvPr id="172865576" name="Language name"/>
          <ns0:cNvSpPr txBox="1"/>
          <ns0:nvPr/>
        </ns0:nvSpPr>
        <ns0:spPr bwMode="auto">
          <ns1:xfrm>
            <ns1:off x="3475488" y="1794509"/>
            <ns1:ext cx="1450000" cy="25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l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2000" b="1">
                <ns1:solidFill>
                  <ns1:srgbClr val="241318"/>
                </ns1:solidFill>
                <ns1:latin typeface="Bellota"/>
                <ns1:ea typeface="Bellota"/>
                <ns1:cs typeface="Bellota"/>
              </ns1:rPr>
              <ns1:t>GDScript</ns1:t>
            </ns1:r>
            <ns1:endParaRPr lang="ru-RU" sz="2000"/>
          </ns1:p>
          <ns1:p>
            <ns1:pPr marL="0" indent="0" algn="l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1000">
                <ns1:solidFill>
                  <ns1:srgbClr val="351A21"/>
                </ns1:solidFill>
                <ns1:latin typeface="Bellota"/>
                <ns1:ea typeface="Bellota"/>
                <ns1:cs typeface="Bellota"/>
              </ns1:rPr>
              <ns1:t>сценарная логика</ns1:t>
            </ns1:r>
            <ns1:endParaRPr lang="ru-RU" sz="1000"/>
          </ns1:p>
        </ns0:txBody>
      </ns0:sp>
      <ns0:sp>
        <ns0:nvSpPr>
          <ns0:cNvPr id="146166102" name="Reasons title"/>
          <ns0:cNvSpPr txBox="1"/>
          <ns0:nvPr/>
        </ns0:nvSpPr>
        <ns0:spPr bwMode="auto">
          <ns1:xfrm>
            <ns1:off x="405488" y="2733531"/>
            <ns1:ext cx="2200000" cy="19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l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1600" b="1">
                <ns1:solidFill>
                  <ns1:srgbClr val="D2A45C"/>
                </ns1:solidFill>
                <ns1:latin typeface="Bellota"/>
                <ns1:ea typeface="Bellota"/>
                <ns1:cs typeface="Bellota"/>
              </ns1:rPr>
              <ns1:t>ПОЧЕМУ </ns1:t>
            </ns1:r>
            <ns1:r>
              <ns1:rPr lang="ru-RU" sz="1600" b="1">
                <ns1:solidFill>
                  <ns1:srgbClr val="D2A45C"/>
                </ns1:solidFill>
                <ns1:latin typeface="Bellota"/>
                <ns1:ea typeface="Bellota"/>
                <ns1:cs typeface="Bellota"/>
              </ns1:rPr>
              <ns1:t>GODOT</ns1:t>
            </ns1:r>
            <ns1:endParaRPr sz="1600"/>
          </ns1:p>
        </ns0:txBody>
      </ns0:sp>
      <ns0:sp>
        <ns0:nvSpPr>
          <ns0:cNvPr id="1784273337" name="Reason 01"/>
          <ns0:cNvSpPr/>
          <ns0:nvPr/>
        </ns0:nvSpPr>
        <ns0:spPr bwMode="auto">
          <ns1:xfrm>
            <ns1:off x="370978" y="3088043"/>
            <ns1:ext cx="2260000" cy="390000"/>
          </ns1:xfrm>
          <ns1:prstGeom prst="roundRect">
            <ns1:avLst>
              <ns1:gd name="adj" fmla="val 16667"/>
            </ns1:avLst>
          </ns1:prstGeom>
          <ns1:solidFill>
            <ns1:srgbClr val="351A21"/>
          </ns1:solidFill>
          <ns1:ln w="12700">
            <ns1:solidFill>
              <ns1:srgbClr val="FFDEA1"/>
            </ns1:solidFill>
            <ns1:prstDash val="solid"/>
          </ns1:ln>
        </ns0:spPr>
        <ns0:txBody>
          <ns1:bodyPr anchor="ctr"/>
          <ns1:p>
            <ns1:pPr algn="ctr">
              <ns1:defRPr/>
            </ns1:pPr>
            <ns1:endParaRPr sz="2400"/>
          </ns1:p>
        </ns0:txBody>
      </ns0:sp>
      <ns0:sp>
        <ns0:nvSpPr>
          <ns0:cNvPr id="1858475291" name="Reason number 01"/>
          <ns0:cNvSpPr txBox="1"/>
          <ns0:nvPr/>
        </ns0:nvSpPr>
        <ns0:spPr bwMode="auto">
          <ns1:xfrm>
            <ns1:off x="471956" y="3198043"/>
            <ns1:ext cx="340000" cy="13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l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14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01</ns1:t>
            </ns1:r>
            <ns1:endParaRPr lang="ru-RU" sz="1400"/>
          </ns1:p>
        </ns0:txBody>
      </ns0:sp>
      <ns0:sp>
        <ns0:nvSpPr>
          <ns0:cNvPr id="399609323" name="Reason divider 01"/>
          <ns0:cNvSpPr/>
          <ns0:nvPr/>
        </ns0:nvSpPr>
        <ns0:spPr bwMode="auto">
          <ns1:xfrm>
            <ns1:off x="773912" y="3173043"/>
            <ns1:ext cx="14000" cy="220000"/>
          </ns1:xfrm>
          <ns1:prstGeom prst="rect">
            <ns1:avLst/>
          </ns1:prstGeom>
          <ns1:solidFill>
            <ns1:srgbClr val="FFDEA1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 sz="2400"/>
          </ns1:p>
        </ns0:txBody>
      </ns0:sp>
      <ns0:sp>
        <ns0:nvSpPr>
          <ns0:cNvPr id="1986643286" name="Reason text 01"/>
          <ns0:cNvSpPr txBox="1"/>
          <ns0:nvPr/>
        </ns0:nvSpPr>
        <ns0:spPr bwMode="auto">
          <ns1:xfrm flipH="0" flipV="0">
            <ns1:off x="832552" y="3166043"/>
            <ns1:ext cx="1908914" cy="239999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l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1100" b="1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Стабильная разработка</ns1:t>
            </ns1:r>
            <ns1:endParaRPr lang="ru-RU" sz="1100"/>
          </ns1:p>
          <ns1:p>
            <ns1:pPr marL="0" indent="0" algn="l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1100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в среде Linux</ns1:t>
            </ns1:r>
            <ns1:endParaRPr lang="ru-RU" sz="1100"/>
          </ns1:p>
        </ns0:txBody>
      </ns0:sp>
      <ns0:sp>
        <ns0:nvSpPr>
          <ns0:cNvPr id="1745344333" name="Reason 02"/>
          <ns0:cNvSpPr/>
          <ns0:nvPr/>
        </ns0:nvSpPr>
        <ns0:spPr bwMode="auto">
          <ns1:xfrm>
            <ns1:off x="2820978" y="3088043"/>
            <ns1:ext cx="2260000" cy="390000"/>
          </ns1:xfrm>
          <ns1:prstGeom prst="roundRect">
            <ns1:avLst>
              <ns1:gd name="adj" fmla="val 16667"/>
            </ns1:avLst>
          </ns1:prstGeom>
          <ns1:solidFill>
            <ns1:srgbClr val="351A21"/>
          </ns1:solidFill>
          <ns1:ln w="12700">
            <ns1:solidFill>
              <ns1:srgbClr val="FFDEA1"/>
            </ns1:solidFill>
            <ns1:prstDash val="solid"/>
          </ns1:ln>
        </ns0:spPr>
        <ns0:txBody>
          <ns1:bodyPr anchor="ctr"/>
          <ns1:p>
            <ns1:pPr algn="ctr">
              <ns1:defRPr/>
            </ns1:pPr>
            <ns1:endParaRPr sz="2400"/>
          </ns1:p>
        </ns0:txBody>
      </ns0:sp>
      <ns0:sp>
        <ns0:nvSpPr>
          <ns0:cNvPr id="1689135524" name="Reason number 02"/>
          <ns0:cNvSpPr txBox="1"/>
          <ns0:nvPr/>
        </ns0:nvSpPr>
        <ns0:spPr bwMode="auto">
          <ns1:xfrm>
            <ns1:off x="2887445" y="3198043"/>
            <ns1:ext cx="340000" cy="13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l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14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02</ns1:t>
            </ns1:r>
            <ns1:endParaRPr lang="ru-RU" sz="1400"/>
          </ns1:p>
        </ns0:txBody>
      </ns0:sp>
      <ns0:sp>
        <ns0:nvSpPr>
          <ns0:cNvPr id="1427936225" name="Reason divider 02"/>
          <ns0:cNvSpPr/>
          <ns0:nvPr/>
        </ns0:nvSpPr>
        <ns0:spPr bwMode="auto">
          <ns1:xfrm>
            <ns1:off x="3189402" y="3173043"/>
            <ns1:ext cx="14000" cy="220000"/>
          </ns1:xfrm>
          <ns1:prstGeom prst="rect">
            <ns1:avLst/>
          </ns1:prstGeom>
          <ns1:solidFill>
            <ns1:srgbClr val="FFDEA1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 sz="2400"/>
          </ns1:p>
        </ns0:txBody>
      </ns0:sp>
      <ns0:sp>
        <ns0:nvSpPr>
          <ns0:cNvPr id="949475597" name="Reason text 02"/>
          <ns0:cNvSpPr txBox="1"/>
          <ns0:nvPr/>
        </ns0:nvSpPr>
        <ns0:spPr bwMode="auto">
          <ns1:xfrm flipH="0" flipV="0">
            <ns1:off x="3313749" y="3166043"/>
            <ns1:ext cx="1617228" cy="239999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l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1100" b="1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Быстрая установка</ns1:t>
            </ns1:r>
            <ns1:endParaRPr lang="ru-RU" sz="1100"/>
          </ns1:p>
          <ns1:p>
            <ns1:pPr marL="0" indent="0" algn="l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1100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и небольшой размер</ns1:t>
            </ns1:r>
            <ns1:endParaRPr lang="ru-RU" sz="1100"/>
          </ns1:p>
        </ns0:txBody>
      </ns0:sp>
      <ns0:sp>
        <ns0:nvSpPr>
          <ns0:cNvPr id="1339241501" name="Reason 03"/>
          <ns0:cNvSpPr/>
          <ns0:nvPr/>
        </ns0:nvSpPr>
        <ns0:spPr bwMode="auto">
          <ns1:xfrm>
            <ns1:off x="370978" y="3608043"/>
            <ns1:ext cx="2260000" cy="390000"/>
          </ns1:xfrm>
          <ns1:prstGeom prst="roundRect">
            <ns1:avLst>
              <ns1:gd name="adj" fmla="val 16667"/>
            </ns1:avLst>
          </ns1:prstGeom>
          <ns1:solidFill>
            <ns1:srgbClr val="351A21"/>
          </ns1:solidFill>
          <ns1:ln w="12700">
            <ns1:solidFill>
              <ns1:srgbClr val="FFDEA1"/>
            </ns1:solidFill>
            <ns1:prstDash val="solid"/>
          </ns1:ln>
        </ns0:spPr>
        <ns0:txBody>
          <ns1:bodyPr anchor="ctr"/>
          <ns1:p>
            <ns1:pPr algn="ctr">
              <ns1:defRPr/>
            </ns1:pPr>
            <ns1:endParaRPr sz="2400"/>
          </ns1:p>
        </ns0:txBody>
      </ns0:sp>
      <ns0:sp>
        <ns0:nvSpPr>
          <ns0:cNvPr id="1255623553" name="Reason number 03"/>
          <ns0:cNvSpPr txBox="1"/>
          <ns0:nvPr/>
        </ns0:nvSpPr>
        <ns0:spPr bwMode="auto">
          <ns1:xfrm>
            <ns1:off x="471956" y="3718043"/>
            <ns1:ext cx="340000" cy="13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l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14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03</ns1:t>
            </ns1:r>
            <ns1:endParaRPr lang="ru-RU" sz="1400"/>
          </ns1:p>
        </ns0:txBody>
      </ns0:sp>
      <ns0:sp>
        <ns0:nvSpPr>
          <ns0:cNvPr id="436624866" name="Reason divider 03"/>
          <ns0:cNvSpPr/>
          <ns0:nvPr/>
        </ns0:nvSpPr>
        <ns0:spPr bwMode="auto">
          <ns1:xfrm>
            <ns1:off x="773912" y="3693043"/>
            <ns1:ext cx="14000" cy="220000"/>
          </ns1:xfrm>
          <ns1:prstGeom prst="rect">
            <ns1:avLst/>
          </ns1:prstGeom>
          <ns1:solidFill>
            <ns1:srgbClr val="FFDEA1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 sz="2400"/>
          </ns1:p>
        </ns0:txBody>
      </ns0:sp>
      <ns0:sp>
        <ns0:nvSpPr>
          <ns0:cNvPr id="1217841935" name="Reason text 03"/>
          <ns0:cNvSpPr txBox="1"/>
          <ns0:nvPr/>
        </ns0:nvSpPr>
        <ns0:spPr bwMode="auto">
          <ns1:xfrm flipH="0" flipV="0">
            <ns1:off x="832552" y="3686043"/>
            <ns1:ext cx="1908914" cy="239999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l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1100" b="1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Встроенные инструменты</ns1:t>
            </ns1:r>
            <ns1:endParaRPr lang="ru-RU" sz="1100"/>
          </ns1:p>
          <ns1:p>
            <ns1:pPr marL="0" indent="0" algn="l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1100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редактора</ns1:t>
            </ns1:r>
            <ns1:endParaRPr lang="ru-RU" sz="1100"/>
          </ns1:p>
        </ns0:txBody>
      </ns0:sp>
      <ns0:sp>
        <ns0:nvSpPr>
          <ns0:cNvPr id="772353053" name="Reason 04"/>
          <ns0:cNvSpPr/>
          <ns0:nvPr/>
        </ns0:nvSpPr>
        <ns0:spPr bwMode="auto">
          <ns1:xfrm>
            <ns1:off x="2820978" y="3608043"/>
            <ns1:ext cx="2260000" cy="390000"/>
          </ns1:xfrm>
          <ns1:prstGeom prst="roundRect">
            <ns1:avLst>
              <ns1:gd name="adj" fmla="val 16667"/>
            </ns1:avLst>
          </ns1:prstGeom>
          <ns1:solidFill>
            <ns1:srgbClr val="351A21"/>
          </ns1:solidFill>
          <ns1:ln w="12700">
            <ns1:solidFill>
              <ns1:srgbClr val="FFDEA1"/>
            </ns1:solidFill>
            <ns1:prstDash val="solid"/>
          </ns1:ln>
        </ns0:spPr>
        <ns0:txBody>
          <ns1:bodyPr anchor="ctr"/>
          <ns1:p>
            <ns1:pPr algn="ctr">
              <ns1:defRPr/>
            </ns1:pPr>
            <ns1:endParaRPr sz="2400"/>
          </ns1:p>
        </ns0:txBody>
      </ns0:sp>
      <ns0:sp>
        <ns0:nvSpPr>
          <ns0:cNvPr id="889918309" name="Reason number 04"/>
          <ns0:cNvSpPr txBox="1"/>
          <ns0:nvPr/>
        </ns0:nvSpPr>
        <ns0:spPr bwMode="auto">
          <ns1:xfrm>
            <ns1:off x="2921956" y="3718043"/>
            <ns1:ext cx="340000" cy="13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l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14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04</ns1:t>
            </ns1:r>
            <ns1:endParaRPr lang="ru-RU" sz="1400"/>
          </ns1:p>
        </ns0:txBody>
      </ns0:sp>
      <ns0:sp>
        <ns0:nvSpPr>
          <ns0:cNvPr id="865826101" name="Reason divider 04"/>
          <ns0:cNvSpPr/>
          <ns0:nvPr/>
        </ns0:nvSpPr>
        <ns0:spPr bwMode="auto">
          <ns1:xfrm>
            <ns1:off x="3223913" y="3693043"/>
            <ns1:ext cx="14000" cy="220000"/>
          </ns1:xfrm>
          <ns1:prstGeom prst="rect">
            <ns1:avLst/>
          </ns1:prstGeom>
          <ns1:solidFill>
            <ns1:srgbClr val="FFDEA1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 sz="2400"/>
          </ns1:p>
        </ns0:txBody>
      </ns0:sp>
      <ns0:sp>
        <ns0:nvSpPr>
          <ns0:cNvPr id="1572774376" name="Reason text 04"/>
          <ns0:cNvSpPr txBox="1"/>
          <ns0:nvPr/>
        </ns0:nvSpPr>
        <ns0:spPr bwMode="auto">
          <ns1:xfrm flipH="0" flipV="0">
            <ns1:off x="3313749" y="3686043"/>
            <ns1:ext cx="1617228" cy="239999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l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1100" b="1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Удобная структура</ns1:t>
            </ns1:r>
            <ns1:endParaRPr lang="ru-RU" sz="1100"/>
          </ns1:p>
          <ns1:p>
            <ns1:pPr marL="0" indent="0" algn="l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1100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сцен и узлов</ns1:t>
            </ns1:r>
            <ns1:endParaRPr lang="ru-RU" sz="1100"/>
          </ns1:p>
        </ns0:txBody>
      </ns0:sp>
      <ns0:sp>
        <ns0:nvSpPr>
          <ns0:cNvPr id="86883499" name="Modules panel"/>
          <ns0:cNvSpPr/>
          <ns0:nvPr/>
        </ns0:nvSpPr>
        <ns0:spPr bwMode="auto">
          <ns1:xfrm>
            <ns1:off x="5580000" y="320000"/>
            <ns1:ext cx="3100000" cy="4490000"/>
          </ns1:xfrm>
          <ns1:prstGeom prst="roundRect">
            <ns1:avLst>
              <ns1:gd name="adj" fmla="val 16667"/>
            </ns1:avLst>
          </ns1:prstGeom>
          <ns1:solidFill>
            <ns1:srgbClr val="351A21"/>
          </ns1:solidFill>
          <ns1:ln w="12700">
            <ns1:solidFill>
              <ns1:srgbClr val="FFDEA1"/>
            </ns1:solidFill>
            <ns1:prstDash val="solid"/>
          </ns1:ln>
        </ns0:spPr>
      </ns0:sp>
      <ns0:sp>
        <ns0:nvSpPr>
          <ns0:cNvPr id="32856626" name="Modules title"/>
          <ns0:cNvSpPr txBox="1"/>
          <ns0:nvPr/>
        </ns0:nvSpPr>
        <ns0:spPr bwMode="auto">
          <ns1:xfrm>
            <ns1:off x="5860000" y="590000"/>
            <ns1:ext cx="2540000" cy="19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ctr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12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МОДУЛЬНАЯ </ns1:t>
            </ns1:r>
            <ns1:r>
              <ns1:rPr lang="ru-RU" sz="12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ОРГАНИЗАЦИЯ</ns1:t>
            </ns1:r>
            <ns1:endParaRPr sz="1200"/>
          </ns1:p>
        </ns0:txBody>
      </ns0:sp>
      <ns0:sp>
        <ns0:nvSpPr>
          <ns0:cNvPr id="572345575" name="Modules subtitle"/>
          <ns0:cNvSpPr txBox="1"/>
          <ns0:nvPr/>
        </ns0:nvSpPr>
        <ns0:spPr bwMode="auto">
          <ns1:xfrm>
            <ns1:off x="5860000" y="850000"/>
            <ns1:ext cx="2540000" cy="24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ctr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1100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Проект разделён по зонам ответственности</ns1:t>
            </ns1:r>
            <ns1:endParaRPr lang="ru-RU" sz="1100"/>
          </ns1:p>
        </ns0:txBody>
      </ns0:sp>
      <ns0:sp>
        <ns0:nvSpPr>
          <ns0:cNvPr id="1082862786" name="Module MENU"/>
          <ns0:cNvSpPr/>
          <ns0:nvPr/>
        </ns0:nvSpPr>
        <ns0:spPr bwMode="auto">
          <ns1:xfrm>
            <ns1:off x="5860000" y="1280000"/>
            <ns1:ext cx="2540000" cy="680000"/>
          </ns1:xfrm>
          <ns1:prstGeom prst="roundRect">
            <ns1:avLst>
              <ns1:gd name="adj" fmla="val 16667"/>
            </ns1:avLst>
          </ns1:prstGeom>
          <ns1:solidFill>
            <ns1:srgbClr val="241318"/>
          </ns1:solidFill>
          <ns1:ln w="12700">
            <ns1:solidFill>
              <ns1:srgbClr val="FFDEA1"/>
            </ns1:solidFill>
            <ns1:prstDash val="solid"/>
          </ns1:ln>
        </ns0:spPr>
      </ns0:sp>
      <ns0:sp>
        <ns0:nvSpPr>
          <ns0:cNvPr id="1685373781" name="Module number box MENU"/>
          <ns0:cNvSpPr/>
          <ns0:nvPr/>
        </ns0:nvSpPr>
        <ns0:spPr bwMode="auto">
          <ns1:xfrm>
            <ns1:off x="6035982" y="1449999"/>
            <ns1:ext cx="430000" cy="340000"/>
          </ns1:xfrm>
          <ns1:prstGeom prst="roundRect">
            <ns1:avLst>
              <ns1:gd name="adj" fmla="val 16667"/>
            </ns1:avLst>
          </ns1:prstGeom>
          <ns1:solidFill>
            <ns1:srgbClr val="FFDEA1"/>
          </ns1:solidFill>
          <ns1:ln>
            <ns1:noFill/>
          </ns1:ln>
        </ns0:spPr>
      </ns0:sp>
      <ns0:sp>
        <ns0:nvSpPr>
          <ns0:cNvPr id="1189282190" name="Module number MENU"/>
          <ns0:cNvSpPr txBox="1"/>
          <ns0:nvPr/>
        </ns0:nvSpPr>
        <ns0:spPr bwMode="auto">
          <ns1:xfrm>
            <ns1:off x="6035982" y="1559017"/>
            <ns1:ext cx="430000" cy="14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ctr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1200" b="1">
                <ns1:solidFill>
                  <ns1:srgbClr val="241318"/>
                </ns1:solidFill>
                <ns1:latin typeface="Bellota"/>
                <ns1:ea typeface="Bellota"/>
                <ns1:cs typeface="Bellota"/>
              </ns1:rPr>
              <ns1:t>01</ns1:t>
            </ns1:r>
            <ns1:endParaRPr lang="ru-RU" sz="1200"/>
          </ns1:p>
        </ns0:txBody>
      </ns0:sp>
      <ns0:sp>
        <ns0:nvSpPr>
          <ns0:cNvPr id="1869513792" name="Module title MENU"/>
          <ns0:cNvSpPr txBox="1"/>
          <ns0:nvPr/>
        </ns0:nvSpPr>
        <ns0:spPr bwMode="auto">
          <ns1:xfrm>
            <ns1:off x="6700000" y="1425000"/>
            <ns1:ext cx="1450000" cy="18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l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14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Меню</ns1:t>
            </ns1:r>
            <ns1:endParaRPr lang="ru-RU" sz="1400"/>
          </ns1:p>
        </ns0:txBody>
      </ns0:sp>
      <ns0:sp>
        <ns0:nvSpPr>
          <ns0:cNvPr id="1336939077" name="Module detail MENU"/>
          <ns0:cNvSpPr txBox="1"/>
          <ns0:nvPr/>
        </ns0:nvSpPr>
        <ns0:spPr bwMode="auto">
          <ns1:xfrm>
            <ns1:off x="6700000" y="1640000"/>
            <ns1:ext cx="1450000" cy="15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l">
              <ns1:lnSpc>
                <ns1:spcPct val="95000"/>
              </ns1:lnSpc>
              <ns1:spcAft>
                <ns1:spcPts val="0"/>
              </ns1:spcAft>
              <ns1:buNone/>
              <ns1:defRPr/>
            </ns1:pPr>
            <ns1:r>
              <ns1:rPr lang="ru-RU" sz="800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главное меню  •  настройки  •  пауза</ns1:t>
            </ns1:r>
            <ns1:endParaRPr lang="ru-RU" sz="800"/>
          </ns1:p>
        </ns0:txBody>
      </ns0:sp>
      <ns0:sp>
        <ns0:nvSpPr>
          <ns0:cNvPr id="800135173" name="Module NOVEL"/>
          <ns0:cNvSpPr/>
          <ns0:nvPr/>
        </ns0:nvSpPr>
        <ns0:spPr bwMode="auto">
          <ns1:xfrm>
            <ns1:off x="5860000" y="2210000"/>
            <ns1:ext cx="2540000" cy="680000"/>
          </ns1:xfrm>
          <ns1:prstGeom prst="roundRect">
            <ns1:avLst>
              <ns1:gd name="adj" fmla="val 16667"/>
            </ns1:avLst>
          </ns1:prstGeom>
          <ns1:solidFill>
            <ns1:srgbClr val="241318"/>
          </ns1:solidFill>
          <ns1:ln w="12700">
            <ns1:solidFill>
              <ns1:srgbClr val="FFDEA1"/>
            </ns1:solidFill>
            <ns1:prstDash val="solid"/>
          </ns1:ln>
        </ns0:spPr>
        <ns0:txBody>
          <ns1:bodyPr anchor="ctr"/>
          <ns1:p>
            <ns1:pPr algn="ctr">
              <ns1:defRPr/>
            </ns1:pPr>
            <ns1:endParaRPr sz="2000"/>
          </ns1:p>
        </ns0:txBody>
      </ns0:sp>
      <ns0:sp>
        <ns0:nvSpPr>
          <ns0:cNvPr id="231067007" name="Module number box NOVEL"/>
          <ns0:cNvSpPr/>
          <ns0:nvPr/>
        </ns0:nvSpPr>
        <ns0:spPr bwMode="auto">
          <ns1:xfrm>
            <ns1:off x="6035982" y="2379999"/>
            <ns1:ext cx="430000" cy="340000"/>
          </ns1:xfrm>
          <ns1:prstGeom prst="roundRect">
            <ns1:avLst>
              <ns1:gd name="adj" fmla="val 16667"/>
            </ns1:avLst>
          </ns1:prstGeom>
          <ns1:solidFill>
            <ns1:srgbClr val="FFDEA1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 sz="2000"/>
          </ns1:p>
        </ns0:txBody>
      </ns0:sp>
      <ns0:sp>
        <ns0:nvSpPr>
          <ns0:cNvPr id="280818756" name="Module number NOVEL"/>
          <ns0:cNvSpPr txBox="1"/>
          <ns0:nvPr/>
        </ns0:nvSpPr>
        <ns0:spPr bwMode="auto">
          <ns1:xfrm>
            <ns1:off x="6035982" y="2489017"/>
            <ns1:ext cx="430000" cy="14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ctr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1200" b="1">
                <ns1:solidFill>
                  <ns1:srgbClr val="241318"/>
                </ns1:solidFill>
                <ns1:latin typeface="Bellota"/>
                <ns1:ea typeface="Bellota"/>
                <ns1:cs typeface="Bellota"/>
              </ns1:rPr>
              <ns1:t>02</ns1:t>
            </ns1:r>
            <ns1:endParaRPr lang="ru-RU" sz="1200"/>
          </ns1:p>
        </ns0:txBody>
      </ns0:sp>
      <ns0:sp>
        <ns0:nvSpPr>
          <ns0:cNvPr id="1741111016" name="Module title NOVEL"/>
          <ns0:cNvSpPr txBox="1"/>
          <ns0:nvPr/>
        </ns0:nvSpPr>
        <ns0:spPr bwMode="auto">
          <ns1:xfrm>
            <ns1:off x="6700000" y="2355000"/>
            <ns1:ext cx="1450000" cy="18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l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14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Новелла</ns1:t>
            </ns1:r>
            <ns1:endParaRPr lang="ru-RU" sz="1400"/>
          </ns1:p>
        </ns0:txBody>
      </ns0:sp>
      <ns0:sp>
        <ns0:nvSpPr>
          <ns0:cNvPr id="65354795" name="Module detail NOVEL"/>
          <ns0:cNvSpPr txBox="1"/>
          <ns0:nvPr/>
        </ns0:nvSpPr>
        <ns0:spPr bwMode="auto">
          <ns1:xfrm flipH="0" flipV="0">
            <ns1:off x="6699999" y="2569999"/>
            <ns1:ext cx="1553428" cy="149999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l">
              <ns1:lnSpc>
                <ns1:spcPct val="95000"/>
              </ns1:lnSpc>
              <ns1:spcAft>
                <ns1:spcPts val="0"/>
              </ns1:spcAft>
              <ns1:buNone/>
              <ns1:defRPr/>
            </ns1:pPr>
            <ns1:r>
              <ns1:rPr lang="ru-RU" sz="800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пролог  •  диалоги  •  концовки</ns1:t>
            </ns1:r>
            <ns1:endParaRPr lang="ru-RU" sz="800"/>
          </ns1:p>
        </ns0:txBody>
      </ns0:sp>
      <ns0:sp>
        <ns0:nvSpPr>
          <ns0:cNvPr id="829097818" name="Module RHYTHMGAME"/>
          <ns0:cNvSpPr/>
          <ns0:nvPr/>
        </ns0:nvSpPr>
        <ns0:spPr bwMode="auto">
          <ns1:xfrm>
            <ns1:off x="5860000" y="3140000"/>
            <ns1:ext cx="2540000" cy="680000"/>
          </ns1:xfrm>
          <ns1:prstGeom prst="roundRect">
            <ns1:avLst>
              <ns1:gd name="adj" fmla="val 16667"/>
            </ns1:avLst>
          </ns1:prstGeom>
          <ns1:solidFill>
            <ns1:srgbClr val="241318"/>
          </ns1:solidFill>
          <ns1:ln w="12700">
            <ns1:solidFill>
              <ns1:srgbClr val="FFDEA1"/>
            </ns1:solidFill>
            <ns1:prstDash val="solid"/>
          </ns1:ln>
        </ns0:spPr>
        <ns0:txBody>
          <ns1:bodyPr anchor="ctr"/>
          <ns1:p>
            <ns1:pPr algn="ctr">
              <ns1:defRPr/>
            </ns1:pPr>
            <ns1:endParaRPr sz="2000"/>
          </ns1:p>
        </ns0:txBody>
      </ns0:sp>
      <ns0:sp>
        <ns0:nvSpPr>
          <ns0:cNvPr id="961639818" name="Module number box RHYTHMGAME"/>
          <ns0:cNvSpPr/>
          <ns0:nvPr/>
        </ns0:nvSpPr>
        <ns0:spPr bwMode="auto">
          <ns1:xfrm>
            <ns1:off x="6035982" y="3309999"/>
            <ns1:ext cx="430000" cy="340000"/>
          </ns1:xfrm>
          <ns1:prstGeom prst="roundRect">
            <ns1:avLst>
              <ns1:gd name="adj" fmla="val 16667"/>
            </ns1:avLst>
          </ns1:prstGeom>
          <ns1:solidFill>
            <ns1:srgbClr val="FFDEA1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 sz="2000"/>
          </ns1:p>
        </ns0:txBody>
      </ns0:sp>
      <ns0:sp>
        <ns0:nvSpPr>
          <ns0:cNvPr id="742011552" name="Module number RHYTHMGAME"/>
          <ns0:cNvSpPr txBox="1"/>
          <ns0:nvPr/>
        </ns0:nvSpPr>
        <ns0:spPr bwMode="auto">
          <ns1:xfrm>
            <ns1:off x="6035982" y="3419017"/>
            <ns1:ext cx="430000" cy="14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ctr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1200" b="1">
                <ns1:solidFill>
                  <ns1:srgbClr val="241318"/>
                </ns1:solidFill>
                <ns1:latin typeface="Bellota"/>
                <ns1:ea typeface="Bellota"/>
                <ns1:cs typeface="Bellota"/>
              </ns1:rPr>
              <ns1:t>03</ns1:t>
            </ns1:r>
            <ns1:endParaRPr lang="ru-RU" sz="1200"/>
          </ns1:p>
        </ns0:txBody>
      </ns0:sp>
      <ns0:sp>
        <ns0:nvSpPr>
          <ns0:cNvPr id="1945479687" name="Module title RHYTHMGAME"/>
          <ns0:cNvSpPr txBox="1"/>
          <ns0:nvPr/>
        </ns0:nvSpPr>
        <ns0:spPr bwMode="auto">
          <ns1:xfrm>
            <ns1:off x="6700000" y="3285000"/>
            <ns1:ext cx="1450000" cy="18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l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14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Ритм-игра</ns1:t>
            </ns1:r>
            <ns1:endParaRPr lang="ru-RU" sz="1400"/>
          </ns1:p>
        </ns0:txBody>
      </ns0:sp>
      <ns0:sp>
        <ns0:nvSpPr>
          <ns0:cNvPr id="56524092" name="Module detail RHYTHMGAME"/>
          <ns0:cNvSpPr txBox="1"/>
          <ns0:nvPr/>
        </ns0:nvSpPr>
        <ns0:spPr bwMode="auto">
          <ns1:xfrm>
            <ns1:off x="6700000" y="3500000"/>
            <ns1:ext cx="1450000" cy="15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l">
              <ns1:lnSpc>
                <ns1:spcPct val="95000"/>
              </ns1:lnSpc>
              <ns1:spcAft>
                <ns1:spcPts val="0"/>
              </ns1:spcAft>
              <ns1:buNone/>
              <ns1:defRPr/>
            </ns1:pPr>
            <ns1:r>
              <ns1:rPr lang="ru-RU" sz="800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карты нот  •  раунд  •  система оценки</ns1:t>
            </ns1:r>
            <ns1:endParaRPr lang="ru-RU" sz="800"/>
          </ns1:p>
        </ns0:txBody>
      </ns0:sp>
      <ns0:sp>
        <ns0:nvSpPr>
          <ns0:cNvPr id="1556881053" name="Modules note"/>
          <ns0:cNvSpPr txBox="1"/>
          <ns0:nvPr/>
        </ns0:nvSpPr>
        <ns0:spPr bwMode="auto">
          <ns1:xfrm flipH="0" flipV="0">
            <ns1:off x="5756467" y="4201964"/>
            <ns1:ext cx="2728282" cy="239999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ctr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1000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Сцены и скрипты остаются разделёнными,</ns1:t>
            </ns1:r>
            <ns1:endParaRPr sz="1000">
              <ns1:solidFill>
                <ns1:srgbClr val="FFDEA1"/>
              </ns1:solidFill>
            </ns1:endParaRPr>
          </ns1:p>
          <ns1:p>
            <ns1:pPr marL="0" indent="0" algn="ctr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1000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но работают как единый игровой цикл.</ns1:t>
            </ns1:r>
            <ns1:endParaRPr sz="1000">
              <ns1:solidFill>
                <ns1:srgbClr val="FFDEA1"/>
              </ns1:solidFill>
            </ns1:endParaRPr>
          </ns1:p>
        </ns0:txBody>
      </ns0:sp>
      <ns0:sp>
        <ns0:nvSpPr>
          <ns0:cNvPr id="40950136" name="Eyebrow marker"/>
          <ns0:cNvSpPr/>
          <ns0:nvPr/>
        </ns0:nvSpPr>
        <ns0:spPr bwMode="auto">
          <ns1:xfrm>
            <ns1:off x="647064" y="327443"/>
            <ns1:ext cx="119997" cy="329998"/>
          </ns1:xfrm>
          <ns1:prstGeom prst="rect">
            <ns1:avLst/>
          </ns1:prstGeom>
          <ns1:solidFill>
            <ns1:srgbClr val="FFDEA1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>
              <ns1:latin typeface="Bellota"/>
              <ns1:cs typeface="Bellota"/>
            </ns1:endParaRPr>
          </ns1:p>
        </ns0:txBody>
      </ns0:sp>
      <ns0:sp>
        <ns0:nvSpPr>
          <ns0:cNvPr id="1875485837" name="Eyebrow"/>
          <ns0:cNvSpPr txBox="1"/>
          <ns0:nvPr/>
        </ns0:nvSpPr>
        <ns0:spPr bwMode="auto">
          <ns1:xfrm>
            <ns1:off x="867063" y="387442"/>
            <ns1:ext cx="4199998" cy="209998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  <ns1:defRPr/>
            </ns1:pPr>
            <ns1:r>
              <ns1:rPr lang="ru-RU" sz="1600" b="1">
                <ns1:solidFill>
                  <ns1:srgbClr val="D2A45C"/>
                </ns1:solidFill>
                <ns1:latin typeface="Bellota"/>
                <ns1:ea typeface="Bellota"/>
                <ns1:cs typeface="Bellota"/>
              </ns1:rPr>
              <ns1:t>ВЫБОР ТЕХНОЛОГИЙ</ns1:t>
            </ns1:r>
            <ns1:endParaRPr sz="1600">
              <ns1:latin typeface="Bellota"/>
              <ns1:cs typeface="Bellota"/>
            </ns1:endParaRPr>
          </ns1:p>
        </ns0:txBody>
      </ns0:sp>
      <ns0:sp>
        <ns0:nvSpPr>
          <ns0:cNvPr id="439806763" name=""/>
          <ns0:cNvSpPr/>
          <ns0:nvPr/>
        </ns0:nvSpPr>
        <ns0:spPr bwMode="auto">
          <ns1:xfrm rot="0" flipH="0" flipV="0">
            <ns1:off x="7682823" y="4857750"/>
            <ns1:ext cx="1387334" cy="263658"/>
          </ns1:xfrm>
          <ns1:prstGeom prst="rect">
            <ns1:avLst/>
          </ns1:prstGeom>
          <ns1:solidFill>
            <ns1:srgbClr val="241318"/>
          </ns1:solidFill>
          <ns1:ln w="12700" cap="flat" cmpd="sng" algn="ctr">
            <ns1:noFill/>
            <ns1:prstDash val="solid"/>
            <ns1:miter lim="800000"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/>
          <ns1:p>
            <ns1:pPr algn="ctr">
              <ns1:defRPr/>
            </ns1:pPr>
            <ns1:endParaRPr>
              <ns1:solidFill>
                <ns1:schemeClr val="tx1"/>
              </ns1:solidFill>
              <ns1:latin typeface="Bellota"/>
              <ns1:cs typeface="Bellota"/>
            </ns1:endParaRPr>
          </ns1:p>
        </ns0:txBody>
      </ns0:sp>
    </ns0:spTree>
  </ns0:cSld>
  <ns0:clrMapOvr>
    <ns1:masterClrMapping/>
  </ns0:clrMapOvr>
  <ns2:AlternateContent>
    <ns2:Choice Requires="p159">
      <ns0:transition ns3:dur="250" advClick="1" spd="fast">
        <ns0:fade/>
      </ns0:transition>
    </ns2:Choice>
    <ns2:Fallback>
      <ns0:transition advClick="1" spd="fast">
        <ns0:fade/>
      </ns0:transition>
    </ns2:Fallback>
  </ns2:AlternateContent>
</ns0:sld>
</file>

<file path=ppt/slides/slide5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 showMasterPhAnim="0" showMasterSp="1" show="1">
  <ns0:cSld name="Slide 5">
    <ns0:spTree>
      <ns0:nvGrpSpPr>
        <ns0:cNvPr id="1" name=""/>
        <ns0:cNvGrpSpPr/>
        <ns0:nvPr/>
      </ns0:nvGrpSpPr>
      <ns0:grpSpPr bwMode="auto">
        <ns1:xfrm>
          <ns1:off x="0" y="0"/>
          <ns1:ext cx="0" cy="0"/>
          <ns1:chOff x="0" y="0"/>
          <ns1:chExt cx="0" cy="0"/>
        </ns1:xfrm>
      </ns0:grpSpPr>
      <ns0:sp>
        <ns0:nvSpPr>
          <ns0:cNvPr id="176678686" name="Flow panel"/>
          <ns0:cNvSpPr/>
          <ns0:nvPr/>
        </ns0:nvSpPr>
        <ns0:spPr bwMode="auto">
          <ns1:xfrm>
            <ns1:off x="439999" y="819891"/>
            <ns1:ext cx="8260000" cy="690000"/>
          </ns1:xfrm>
          <ns1:prstGeom prst="roundRect">
            <ns1:avLst>
              <ns1:gd name="adj" fmla="val 16667"/>
            </ns1:avLst>
          </ns1:prstGeom>
          <ns1:solidFill>
            <ns1:srgbClr val="351A21"/>
          </ns1:solidFill>
          <ns1:ln w="12700">
            <ns1:solidFill>
              <ns1:srgbClr val="FFDEA1"/>
            </ns1:solidFill>
            <ns1:prstDash val="solid"/>
          </ns1:ln>
        </ns0:spPr>
        <ns0:txBody>
          <ns1:bodyPr anchor="ctr"/>
          <ns1:p>
            <ns1:pPr algn="ctr">
              <ns1:defRPr/>
            </ns1:pPr>
            <ns1:endParaRPr sz="2400"/>
          </ns1:p>
        </ns0:txBody>
      </ns0:sp>
      <ns0:sp>
        <ns0:nvSpPr>
          <ns0:cNvPr id="858773205" name="Flow label"/>
          <ns0:cNvSpPr txBox="1"/>
          <ns0:nvPr/>
        </ns0:nvSpPr>
        <ns0:spPr bwMode="auto">
          <ns1:xfrm flipH="0" flipV="0">
            <ns1:off x="669999" y="915380"/>
            <ns1:ext cx="2089999" cy="139999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l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12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ИГРОВОЙ </ns1:t>
            </ns1:r>
            <ns1:r>
              <ns1:rPr lang="ru-RU" sz="12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ЦИКЛ</ns1:t>
            </ns1:r>
            <ns1:endParaRPr sz="1200">
              <ns1:solidFill>
                <ns1:srgbClr val="FFDEA1"/>
              </ns1:solidFill>
            </ns1:endParaRPr>
          </ns1:p>
        </ns0:txBody>
      </ns0:sp>
      <ns0:sp>
        <ns0:nvSpPr>
          <ns0:cNvPr id="368639272" name="Flow node 01"/>
          <ns0:cNvSpPr/>
          <ns0:nvPr/>
        </ns0:nvSpPr>
        <ns0:spPr bwMode="auto">
          <ns1:xfrm flipH="0" flipV="0">
            <ns1:off x="724016" y="1159890"/>
            <ns1:ext cx="1039999" cy="229999"/>
          </ns1:xfrm>
          <ns1:prstGeom prst="roundRect">
            <ns1:avLst>
              <ns1:gd name="adj" fmla="val 16667"/>
            </ns1:avLst>
          </ns1:prstGeom>
          <ns1:solidFill>
            <ns1:srgbClr val="241318"/>
          </ns1:solidFill>
          <ns1:ln w="9525">
            <ns1:solidFill>
              <ns1:srgbClr val="FFDEA1"/>
            </ns1:solidFill>
          </ns1:ln>
        </ns0:spPr>
        <ns0:txBody>
          <ns1:bodyPr anchor="ctr"/>
          <ns1:p>
            <ns1:pPr algn="ctr">
              <ns1:defRPr/>
            </ns1:pPr>
            <ns1:endParaRPr sz="2400"/>
          </ns1:p>
        </ns0:txBody>
      </ns0:sp>
      <ns0:sp>
        <ns0:nvSpPr>
          <ns0:cNvPr id="1368906013" name="Flow text 01"/>
          <ns0:cNvSpPr txBox="1"/>
          <ns0:nvPr/>
        </ns0:nvSpPr>
        <ns0:spPr bwMode="auto">
          <ns1:xfrm>
            <ns1:off x="724017" y="1209891"/>
            <ns1:ext cx="1040000" cy="10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ctr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9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МЕНЮ</ns1:t>
            </ns1:r>
            <ns1:endParaRPr lang="ru-RU" sz="900"/>
          </ns1:p>
        </ns0:txBody>
      </ns0:sp>
      <ns0:sp>
        <ns0:nvSpPr>
          <ns0:cNvPr id="418577130" name="Flow node 02"/>
          <ns0:cNvSpPr/>
          <ns0:nvPr/>
        </ns0:nvSpPr>
        <ns0:spPr bwMode="auto">
          <ns1:xfrm>
            <ns1:off x="2034017" y="1159891"/>
            <ns1:ext cx="1040000" cy="230000"/>
          </ns1:xfrm>
          <ns1:prstGeom prst="roundRect">
            <ns1:avLst>
              <ns1:gd name="adj" fmla="val 16667"/>
            </ns1:avLst>
          </ns1:prstGeom>
          <ns1:solidFill>
            <ns1:srgbClr val="241318"/>
          </ns1:solidFill>
          <ns1:ln w="9525">
            <ns1:solidFill>
              <ns1:srgbClr val="FFDEA1"/>
            </ns1:solidFill>
          </ns1:ln>
        </ns0:spPr>
        <ns0:txBody>
          <ns1:bodyPr anchor="ctr"/>
          <ns1:p>
            <ns1:pPr algn="ctr">
              <ns1:defRPr/>
            </ns1:pPr>
            <ns1:endParaRPr sz="2400"/>
          </ns1:p>
        </ns0:txBody>
      </ns0:sp>
      <ns0:sp>
        <ns0:nvSpPr>
          <ns0:cNvPr id="278015735" name="Flow text 02"/>
          <ns0:cNvSpPr txBox="1"/>
          <ns0:nvPr/>
        </ns0:nvSpPr>
        <ns0:spPr bwMode="auto">
          <ns1:xfrm>
            <ns1:off x="2034017" y="1209891"/>
            <ns1:ext cx="1040000" cy="10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ctr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9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ПРОЛОГ</ns1:t>
            </ns1:r>
            <ns1:endParaRPr lang="ru-RU" sz="900"/>
          </ns1:p>
        </ns0:txBody>
      </ns0:sp>
      <ns0:sp>
        <ns0:nvSpPr>
          <ns0:cNvPr id="1196191337" name="Flow node 03"/>
          <ns0:cNvSpPr/>
          <ns0:nvPr/>
        </ns0:nvSpPr>
        <ns0:spPr bwMode="auto">
          <ns1:xfrm>
            <ns1:off x="3344017" y="1159891"/>
            <ns1:ext cx="1040000" cy="230000"/>
          </ns1:xfrm>
          <ns1:prstGeom prst="roundRect">
            <ns1:avLst>
              <ns1:gd name="adj" fmla="val 16667"/>
            </ns1:avLst>
          </ns1:prstGeom>
          <ns1:solidFill>
            <ns1:srgbClr val="241318"/>
          </ns1:solidFill>
          <ns1:ln w="9525">
            <ns1:solidFill>
              <ns1:srgbClr val="FFDEA1"/>
            </ns1:solidFill>
          </ns1:ln>
        </ns0:spPr>
        <ns0:txBody>
          <ns1:bodyPr anchor="ctr"/>
          <ns1:p>
            <ns1:pPr algn="ctr">
              <ns1:defRPr/>
            </ns1:pPr>
            <ns1:endParaRPr sz="2400"/>
          </ns1:p>
        </ns0:txBody>
      </ns0:sp>
      <ns0:sp>
        <ns0:nvSpPr>
          <ns0:cNvPr id="1369975486" name="Flow text 03"/>
          <ns0:cNvSpPr txBox="1"/>
          <ns0:nvPr/>
        </ns0:nvSpPr>
        <ns0:spPr bwMode="auto">
          <ns1:xfrm>
            <ns1:off x="3344017" y="1209891"/>
            <ns1:ext cx="1040000" cy="10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ctr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9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НОВЕЛЛА</ns1:t>
            </ns1:r>
            <ns1:endParaRPr lang="ru-RU" sz="900"/>
          </ns1:p>
        </ns0:txBody>
      </ns0:sp>
      <ns0:sp>
        <ns0:nvSpPr>
          <ns0:cNvPr id="639508270" name="Flow node 04"/>
          <ns0:cNvSpPr/>
          <ns0:nvPr/>
        </ns0:nvSpPr>
        <ns0:spPr bwMode="auto">
          <ns1:xfrm>
            <ns1:off x="4654017" y="1159891"/>
            <ns1:ext cx="1040000" cy="230000"/>
          </ns1:xfrm>
          <ns1:prstGeom prst="roundRect">
            <ns1:avLst>
              <ns1:gd name="adj" fmla="val 16667"/>
            </ns1:avLst>
          </ns1:prstGeom>
          <ns1:solidFill>
            <ns1:srgbClr val="241318"/>
          </ns1:solidFill>
          <ns1:ln w="9525">
            <ns1:solidFill>
              <ns1:srgbClr val="FFDEA1"/>
            </ns1:solidFill>
          </ns1:ln>
        </ns0:spPr>
        <ns0:txBody>
          <ns1:bodyPr anchor="ctr"/>
          <ns1:p>
            <ns1:pPr algn="ctr">
              <ns1:defRPr/>
            </ns1:pPr>
            <ns1:endParaRPr sz="2400"/>
          </ns1:p>
        </ns0:txBody>
      </ns0:sp>
      <ns0:sp>
        <ns0:nvSpPr>
          <ns0:cNvPr id="1326869033" name="Flow text 04"/>
          <ns0:cNvSpPr txBox="1"/>
          <ns0:nvPr/>
        </ns0:nvSpPr>
        <ns0:spPr bwMode="auto">
          <ns1:xfrm>
            <ns1:off x="4654017" y="1209891"/>
            <ns1:ext cx="1040000" cy="10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ctr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9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РИТМ-СЦЕНА</ns1:t>
            </ns1:r>
            <ns1:endParaRPr lang="ru-RU" sz="900"/>
          </ns1:p>
        </ns0:txBody>
      </ns0:sp>
      <ns0:sp>
        <ns0:nvSpPr>
          <ns0:cNvPr id="595960160" name="Flow node 05"/>
          <ns0:cNvSpPr/>
          <ns0:nvPr/>
        </ns0:nvSpPr>
        <ns0:spPr bwMode="auto">
          <ns1:xfrm>
            <ns1:off x="5964017" y="1159891"/>
            <ns1:ext cx="1040000" cy="230000"/>
          </ns1:xfrm>
          <ns1:prstGeom prst="roundRect">
            <ns1:avLst>
              <ns1:gd name="adj" fmla="val 16667"/>
            </ns1:avLst>
          </ns1:prstGeom>
          <ns1:solidFill>
            <ns1:srgbClr val="241318"/>
          </ns1:solidFill>
          <ns1:ln w="9525">
            <ns1:solidFill>
              <ns1:srgbClr val="FFDEA1"/>
            </ns1:solidFill>
          </ns1:ln>
        </ns0:spPr>
        <ns0:txBody>
          <ns1:bodyPr anchor="ctr"/>
          <ns1:p>
            <ns1:pPr algn="ctr">
              <ns1:defRPr/>
            </ns1:pPr>
            <ns1:endParaRPr sz="2400"/>
          </ns1:p>
        </ns0:txBody>
      </ns0:sp>
      <ns0:sp>
        <ns0:nvSpPr>
          <ns0:cNvPr id="1856540393" name="Flow text 05"/>
          <ns0:cNvSpPr txBox="1"/>
          <ns0:nvPr/>
        </ns0:nvSpPr>
        <ns0:spPr bwMode="auto">
          <ns1:xfrm>
            <ns1:off x="5964017" y="1209891"/>
            <ns1:ext cx="1040000" cy="10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ctr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9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РЕЗУЛЬТАТ</ns1:t>
            </ns1:r>
            <ns1:endParaRPr lang="ru-RU" sz="900"/>
          </ns1:p>
        </ns0:txBody>
      </ns0:sp>
      <ns0:sp>
        <ns0:nvSpPr>
          <ns0:cNvPr id="957986733" name="Flow node 06"/>
          <ns0:cNvSpPr/>
          <ns0:nvPr/>
        </ns0:nvSpPr>
        <ns0:spPr bwMode="auto">
          <ns1:xfrm>
            <ns1:off x="7274017" y="1159891"/>
            <ns1:ext cx="1040000" cy="230000"/>
          </ns1:xfrm>
          <ns1:prstGeom prst="roundRect">
            <ns1:avLst>
              <ns1:gd name="adj" fmla="val 16667"/>
            </ns1:avLst>
          </ns1:prstGeom>
          <ns1:solidFill>
            <ns1:srgbClr val="241318"/>
          </ns1:solidFill>
          <ns1:ln w="9525">
            <ns1:solidFill>
              <ns1:srgbClr val="FFDEA1"/>
            </ns1:solidFill>
          </ns1:ln>
        </ns0:spPr>
        <ns0:txBody>
          <ns1:bodyPr anchor="ctr"/>
          <ns1:p>
            <ns1:pPr algn="ctr">
              <ns1:defRPr/>
            </ns1:pPr>
            <ns1:endParaRPr sz="2400"/>
          </ns1:p>
        </ns0:txBody>
      </ns0:sp>
      <ns0:sp>
        <ns0:nvSpPr>
          <ns0:cNvPr id="1478038934" name="Flow text 06"/>
          <ns0:cNvSpPr txBox="1"/>
          <ns0:nvPr/>
        </ns0:nvSpPr>
        <ns0:spPr bwMode="auto">
          <ns1:xfrm>
            <ns1:off x="7274017" y="1209891"/>
            <ns1:ext cx="1040000" cy="10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ctr"/>
          <ns1:lstStyle/>
          <ns1:p>
            <ns1:pPr marL="0" indent="0" algn="ctr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9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КОНЦОВКА</ns1:t>
            </ns1:r>
            <ns1:endParaRPr lang="ru-RU" sz="900"/>
          </ns1:p>
        </ns0:txBody>
      </ns0:sp>
      <ns0:sp>
        <ns0:nvSpPr>
          <ns0:cNvPr id="49987312" name="Modules heading"/>
          <ns0:cNvSpPr txBox="1"/>
          <ns0:nvPr/>
        </ns0:nvSpPr>
        <ns0:spPr bwMode="auto">
          <ns1:xfrm flipH="0" flipV="0">
            <ns1:off x="3261349" y="1657837"/>
            <ns1:ext cx="2481228" cy="169999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ctr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12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ВЗАИМОСВЯЗЬ МОДУЛЕЙ</ns1:t>
            </ns1:r>
            <ns1:endParaRPr lang="ru-RU" sz="1200"/>
          </ns1:p>
        </ns0:txBody>
      </ns0:sp>
      <ns0:pic>
        <ns0:nvPicPr>
          <ns0:cNvPr id="262548525" name="Modules diagram"/>
          <ns0:cNvPicPr>
            <ns1:picLocks noChangeAspect="1"/>
          </ns0:cNvPicPr>
          <ns0:nvPr/>
        </ns0:nvPicPr>
        <ns0:blipFill rotWithShape="1">
          <ns1:blip ns2:embed="rId3"/>
          <ns1:stretch/>
        </ns0:blipFill>
        <ns0:spPr bwMode="auto">
          <ns1:xfrm flipH="0" flipV="0">
            <ns1:off x="2521098" y="1885782"/>
            <ns1:ext cx="4265839" cy="3089918"/>
          </ns1:xfrm>
          <ns1:prstGeom prst="rect">
            <ns1:avLst/>
          </ns1:prstGeom>
        </ns0:spPr>
      </ns0:pic>
      <ns0:sp>
        <ns0:nvSpPr>
          <ns0:cNvPr id="1556111360" name="Eyebrow marker"/>
          <ns0:cNvSpPr/>
          <ns0:nvPr/>
        </ns0:nvSpPr>
        <ns0:spPr bwMode="auto">
          <ns1:xfrm>
            <ns1:off x="647064" y="327442"/>
            <ns1:ext cx="119997" cy="329997"/>
          </ns1:xfrm>
          <ns1:prstGeom prst="rect">
            <ns1:avLst/>
          </ns1:prstGeom>
          <ns1:solidFill>
            <ns1:srgbClr val="FFDEA1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>
              <ns1:latin typeface="Bellota"/>
              <ns1:cs typeface="Bellota"/>
            </ns1:endParaRPr>
          </ns1:p>
        </ns0:txBody>
      </ns0:sp>
      <ns0:sp>
        <ns0:nvSpPr>
          <ns0:cNvPr id="21615282" name="Eyebrow"/>
          <ns0:cNvSpPr txBox="1"/>
          <ns0:nvPr/>
        </ns0:nvSpPr>
        <ns0:spPr bwMode="auto">
          <ns1:xfrm>
            <ns1:off x="867062" y="387441"/>
            <ns1:ext cx="4199997" cy="209997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  <ns1:defRPr/>
            </ns1:pPr>
            <ns1:r>
              <ns1:rPr lang="ru-RU" sz="1600" b="1">
                <ns1:solidFill>
                  <ns1:srgbClr val="D2A45C"/>
                </ns1:solidFill>
                <ns1:latin typeface="Bellota"/>
                <ns1:ea typeface="Bellota"/>
                <ns1:cs typeface="Bellota"/>
              </ns1:rPr>
              <ns1:t>АРХИТЕКТУРА ПРОЕКТА</ns1:t>
            </ns1:r>
            <ns1:endParaRPr sz="1600">
              <ns1:latin typeface="Bellota"/>
              <ns1:cs typeface="Bellota"/>
            </ns1:endParaRPr>
          </ns1:p>
        </ns0:txBody>
      </ns0:sp>
      <ns0:sp>
        <ns0:nvSpPr>
          <ns0:cNvPr id="1923510284" name=""/>
          <ns0:cNvSpPr/>
          <ns0:nvPr/>
        </ns0:nvSpPr>
        <ns0:spPr bwMode="auto">
          <ns1:xfrm rot="0" flipH="0" flipV="0">
            <ns1:off x="7972716" y="4829997"/>
            <ns1:ext cx="1111249" cy="291407"/>
          </ns1:xfrm>
          <ns1:prstGeom prst="rect">
            <ns1:avLst/>
          </ns1:prstGeom>
          <ns1:solidFill>
            <ns1:srgbClr val="241318"/>
          </ns1:solidFill>
          <ns1:ln w="12700" cap="flat" cmpd="sng" algn="ctr">
            <ns1:noFill/>
            <ns1:prstDash val="solid"/>
            <ns1:miter lim="800000"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/>
          <ns1:p>
            <ns1:pPr algn="ctr">
              <ns1:defRPr/>
            </ns1:pPr>
            <ns1:endParaRPr>
              <ns1:solidFill>
                <ns1:schemeClr val="tx1"/>
              </ns1:solidFill>
              <ns1:latin typeface="Bellota"/>
              <ns1:cs typeface="Bellota"/>
            </ns1:endParaRPr>
          </ns1:p>
        </ns0:txBody>
      </ns0:sp>
      <ns0:cxnSp>
        <ns0:nvCxnSpPr>
          <ns0:cNvPr id="1903801930" name=""/>
          <ns0:cNvCxnSpPr/>
          <ns0:nvPr/>
        </ns0:nvCxnSpPr>
        <ns0:spPr bwMode="auto">
          <ns1:xfrm flipH="0" flipV="0">
            <ns1:off x="1831657" y="1265464"/>
            <ns1:ext cx="136071" cy="0"/>
          </ns1:xfrm>
          <ns1:prstGeom prst="line">
            <ns1:avLst/>
          </ns1:prstGeom>
          <ns1:ln w="19050" cap="flat" cmpd="sng" algn="ctr">
            <ns1:solidFill>
              <ns1:srgbClr val="FFDEA1"/>
            </ns1:solidFill>
            <ns1:prstDash val="solid"/>
            <ns1:miter lim="800000"/>
            <ns1:tailEnd type="arrow" len="med"/>
          </ns1:ln>
        </ns0:spPr>
        <ns0:style>
          <ns1:lnRef idx="1">
            <ns1:schemeClr val="accent1">
              <ns1:shade val="50000"/>
            </ns1:schemeClr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686420552" name=""/>
          <ns0:cNvCxnSpPr/>
          <ns0:nvPr/>
        </ns0:nvCxnSpPr>
        <ns0:spPr bwMode="auto">
          <ns1:xfrm flipH="0" flipV="0">
            <ns1:off x="3146666" y="1253777"/>
            <ns1:ext cx="136071" cy="0"/>
          </ns1:xfrm>
          <ns1:prstGeom prst="line">
            <ns1:avLst/>
          </ns1:prstGeom>
          <ns1:ln w="19050" cap="flat" cmpd="sng" algn="ctr">
            <ns1:solidFill>
              <ns1:srgbClr val="FFDEA1"/>
            </ns1:solidFill>
            <ns1:prstDash val="solid"/>
            <ns1:miter lim="800000"/>
            <ns1:tailEnd type="arrow" len="med"/>
          </ns1:ln>
        </ns0:spPr>
        <ns0:style>
          <ns1:lnRef idx="1">
            <ns1:schemeClr val="accent1">
              <ns1:shade val="50000"/>
            </ns1:schemeClr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260091365" name=""/>
          <ns0:cNvCxnSpPr/>
          <ns0:nvPr/>
        </ns0:nvCxnSpPr>
        <ns0:spPr bwMode="auto">
          <ns1:xfrm flipH="0" flipV="0">
            <ns1:off x="4433928" y="1265464"/>
            <ns1:ext cx="136071" cy="0"/>
          </ns1:xfrm>
          <ns1:prstGeom prst="line">
            <ns1:avLst/>
          </ns1:prstGeom>
          <ns1:ln w="19050" cap="flat" cmpd="sng" algn="ctr">
            <ns1:solidFill>
              <ns1:srgbClr val="FFDEA1"/>
            </ns1:solidFill>
            <ns1:prstDash val="solid"/>
            <ns1:miter lim="800000"/>
            <ns1:tailEnd type="arrow" len="med"/>
          </ns1:ln>
        </ns0:spPr>
        <ns0:style>
          <ns1:lnRef idx="1">
            <ns1:schemeClr val="accent1">
              <ns1:shade val="50000"/>
            </ns1:schemeClr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290019775" name=""/>
          <ns0:cNvCxnSpPr/>
          <ns0:nvPr/>
        </ns0:nvCxnSpPr>
        <ns0:spPr bwMode="auto">
          <ns1:xfrm flipH="0" flipV="0">
            <ns1:off x="5741949" y="1265464"/>
            <ns1:ext cx="136071" cy="0"/>
          </ns1:xfrm>
          <ns1:prstGeom prst="line">
            <ns1:avLst/>
          </ns1:prstGeom>
          <ns1:ln w="19050" cap="flat" cmpd="sng" algn="ctr">
            <ns1:solidFill>
              <ns1:srgbClr val="FFDEA1"/>
            </ns1:solidFill>
            <ns1:prstDash val="solid"/>
            <ns1:miter lim="800000"/>
            <ns1:tailEnd type="arrow" len="med"/>
          </ns1:ln>
        </ns0:spPr>
        <ns0:style>
          <ns1:lnRef idx="1">
            <ns1:schemeClr val="accent1">
              <ns1:shade val="50000"/>
            </ns1:schemeClr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1020007077" name=""/>
          <ns0:cNvCxnSpPr/>
          <ns0:nvPr/>
        </ns0:nvCxnSpPr>
        <ns0:spPr bwMode="auto">
          <ns1:xfrm flipH="0" flipV="0">
            <ns1:off x="7053037" y="1274891"/>
            <ns1:ext cx="136071" cy="0"/>
          </ns1:xfrm>
          <ns1:prstGeom prst="line">
            <ns1:avLst/>
          </ns1:prstGeom>
          <ns1:ln w="19050" cap="flat" cmpd="sng" algn="ctr">
            <ns1:solidFill>
              <ns1:srgbClr val="FFDEA1"/>
            </ns1:solidFill>
            <ns1:prstDash val="solid"/>
            <ns1:miter lim="800000"/>
            <ns1:tailEnd type="arrow" len="med"/>
          </ns1:ln>
        </ns0:spPr>
        <ns0:style>
          <ns1:lnRef idx="1">
            <ns1:schemeClr val="accent1">
              <ns1:shade val="50000"/>
            </ns1:schemeClr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</ns0:spTree>
  </ns0:cSld>
  <ns0:clrMapOvr>
    <ns1:masterClrMapping/>
  </ns0:clrMapOvr>
  <ns3:AlternateContent>
    <ns3:Choice Requires="p159">
      <ns0:transition ns4:dur="250" advClick="1" spd="fast">
        <ns0:fade/>
      </ns0:transition>
    </ns3:Choice>
    <ns3:Fallback>
      <ns0:transition advClick="1" spd="fast">
        <ns0:fade/>
      </ns0:transition>
    </ns3:Fallback>
  </ns3:AlternateContent>
</ns0:sld>
</file>

<file path=ppt/slides/slide6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 showMasterPhAnim="0" showMasterSp="1" show="1">
  <ns0:cSld name="Slide 5">
    <ns0:spTree>
      <ns0:nvGrpSpPr>
        <ns0:cNvPr id="1" name=""/>
        <ns0:cNvGrpSpPr/>
        <ns0:nvPr/>
      </ns0:nvGrpSpPr>
      <ns0:grpSpPr bwMode="auto">
        <ns1:xfrm>
          <ns1:off x="0" y="0"/>
          <ns1:ext cx="0" cy="0"/>
          <ns1:chOff x="0" y="0"/>
          <ns1:chExt cx="0" cy="0"/>
        </ns1:xfrm>
      </ns0:grpSpPr>
      <ns0:sp>
        <ns0:nvSpPr>
          <ns0:cNvPr id="43852085" name="Modules heading"/>
          <ns0:cNvSpPr txBox="1"/>
          <ns0:nvPr/>
        </ns0:nvSpPr>
        <ns0:spPr bwMode="auto">
          <ns1:xfrm flipH="0" flipV="0">
            <ns1:off x="3026441" y="4917387"/>
            <ns1:ext cx="3091117" cy="169999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ctr">
              <ns1:lnSpc>
                <ns1:spcPct val="100000"/>
              </ns1:lnSpc>
              <ns1:spcAft>
                <ns1:spcPts val="0"/>
              </ns1:spcAft>
              <ns1:buNone/>
              <ns1:defRPr/>
            </ns1:pPr>
            <ns1:r>
              <ns1:rPr lang="ru-RU" sz="12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ДИАГРАММА СОСТОЯНИЙ ИГРЫ</ns1:t>
            </ns1:r>
            <ns1:endParaRPr lang="ru-RU" sz="1200"/>
          </ns1:p>
        </ns0:txBody>
      </ns0:sp>
      <ns0:sp>
        <ns0:nvSpPr>
          <ns0:cNvPr id="769561517" name="Eyebrow marker"/>
          <ns0:cNvSpPr/>
          <ns0:nvPr/>
        </ns0:nvSpPr>
        <ns0:spPr bwMode="auto">
          <ns1:xfrm>
            <ns1:off x="647064" y="327442"/>
            <ns1:ext cx="119997" cy="329997"/>
          </ns1:xfrm>
          <ns1:prstGeom prst="rect">
            <ns1:avLst/>
          </ns1:prstGeom>
          <ns1:solidFill>
            <ns1:srgbClr val="FFDEA1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>
              <ns1:latin typeface="Bellota"/>
              <ns1:cs typeface="Bellota"/>
            </ns1:endParaRPr>
          </ns1:p>
        </ns0:txBody>
      </ns0:sp>
      <ns0:sp>
        <ns0:nvSpPr>
          <ns0:cNvPr id="654828678" name="Eyebrow"/>
          <ns0:cNvSpPr txBox="1"/>
          <ns0:nvPr/>
        </ns0:nvSpPr>
        <ns0:spPr bwMode="auto">
          <ns1:xfrm>
            <ns1:off x="867062" y="387441"/>
            <ns1:ext cx="4199997" cy="209997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  <ns1:defRPr/>
            </ns1:pPr>
            <ns1:r>
              <ns1:rPr lang="ru-RU" sz="1600" b="1">
                <ns1:solidFill>
                  <ns1:srgbClr val="D2A45C"/>
                </ns1:solidFill>
                <ns1:latin typeface="Bellota"/>
                <ns1:ea typeface="Bellota"/>
                <ns1:cs typeface="Bellota"/>
              </ns1:rPr>
              <ns1:t>АРХИТЕКТУРА ПРОЕКТА</ns1:t>
            </ns1:r>
            <ns1:endParaRPr sz="1600">
              <ns1:latin typeface="Bellota"/>
              <ns1:cs typeface="Bellota"/>
            </ns1:endParaRPr>
          </ns1:p>
        </ns0:txBody>
      </ns0:sp>
      <ns0:sp>
        <ns0:nvSpPr>
          <ns0:cNvPr id="2066964202" name=""/>
          <ns0:cNvSpPr/>
          <ns0:nvPr/>
        </ns0:nvSpPr>
        <ns0:spPr bwMode="auto">
          <ns1:xfrm rot="0" flipH="0" flipV="0">
            <ns1:off x="7972716" y="4829997"/>
            <ns1:ext cx="1111249" cy="291407"/>
          </ns1:xfrm>
          <ns1:prstGeom prst="rect">
            <ns1:avLst/>
          </ns1:prstGeom>
          <ns1:solidFill>
            <ns1:srgbClr val="241318"/>
          </ns1:solidFill>
          <ns1:ln w="12700" cap="flat" cmpd="sng" algn="ctr">
            <ns1:noFill/>
            <ns1:prstDash val="solid"/>
            <ns1:miter lim="800000"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/>
          <ns1:p>
            <ns1:pPr algn="ctr">
              <ns1:defRPr/>
            </ns1:pPr>
            <ns1:endParaRPr>
              <ns1:solidFill>
                <ns1:schemeClr val="tx1"/>
              </ns1:solidFill>
              <ns1:latin typeface="Bellota"/>
              <ns1:cs typeface="Bellota"/>
            </ns1:endParaRPr>
          </ns1:p>
        </ns0:txBody>
      </ns0:sp>
      <ns0:pic>
        <ns0:nvPicPr>
          <ns0:cNvPr id="1104871865" name=""/>
          <ns0:cNvPicPr>
            <ns1:picLocks noChangeAspect="1"/>
          </ns0:cNvPicPr>
          <ns0:nvPr/>
        </ns0:nvPicPr>
        <ns0:blipFill rotWithShape="1">
          <ns1:blip ns2:embed="rId3"/>
          <ns1:stretch/>
        </ns0:blipFill>
        <ns0:spPr bwMode="auto">
          <ns1:xfrm flipH="0" flipV="0">
            <ns1:off x="2893314" y="669041"/>
            <ns1:ext cx="3357370" cy="4204607"/>
          </ns1:xfrm>
          <ns1:prstGeom prst="rect">
            <ns1:avLst/>
          </ns1:prstGeom>
        </ns0:spPr>
      </ns0:pic>
    </ns0:spTree>
  </ns0:cSld>
  <ns0:clrMapOvr>
    <ns1:masterClrMapping/>
  </ns0:clrMapOvr>
  <ns3:AlternateContent>
    <ns3:Choice Requires="p159">
      <ns0:transition ns4:dur="250" advClick="1" spd="fast">
        <ns0:fade/>
      </ns0:transition>
    </ns3:Choice>
    <ns3:Fallback>
      <ns0:transition advClick="1" spd="fast">
        <ns0:fade/>
      </ns0:transition>
    </ns3:Fallback>
  </ns3:AlternateContent>
</ns0:sld>
</file>

<file path=ppt/slides/slide7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 showMasterPhAnim="0" showMasterSp="1" show="1">
  <ns0:cSld name="">
    <ns0:spTree>
      <ns0:nvGrpSpPr>
        <ns0:cNvPr id="1" name=""/>
        <ns0:cNvGrpSpPr/>
        <ns0:nvPr/>
      </ns0:nvGrpSpPr>
      <ns0:grpSpPr bwMode="auto">
        <ns1:xfrm>
          <ns1:off x="0" y="0"/>
          <ns1:ext cx="0" cy="0"/>
          <ns1:chOff x="0" y="0"/>
          <ns1:chExt cx="0" cy="0"/>
        </ns1:xfrm>
      </ns0:grpSpPr>
      <ns0:pic>
        <ns0:nvPicPr>
          <ns0:cNvPr id="421524243" name="Stage 1 image"/>
          <ns0:cNvPicPr>
            <ns1:picLocks noChangeAspect="1"/>
          </ns0:cNvPicPr>
          <ns0:nvPr/>
        </ns0:nvPicPr>
        <ns0:blipFill rotWithShape="1">
          <ns1:blip ns2:embed="rId3"/>
          <ns1:stretch/>
        </ns0:blipFill>
        <ns0:spPr bwMode="auto">
          <ns1:xfrm flipH="0" flipV="0">
            <ns1:off x="521208" y="803357"/>
            <ns1:ext cx="3156125" cy="1775320"/>
          </ns1:xfrm>
          <ns1:prstGeom prst="rect">
            <ns1:avLst/>
          </ns1:prstGeom>
          <ns1:ln w="19050">
            <ns1:solidFill>
              <ns1:srgbClr val="FFDEA1"/>
            </ns1:solidFill>
            <ns1:prstDash val="solid"/>
          </ns1:ln>
        </ns0:spPr>
      </ns0:pic>
      <ns0:sp>
        <ns0:nvSpPr>
          <ns0:cNvPr id="2026350855" name="Stage 1 title"/>
          <ns0:cNvSpPr txBox="1"/>
          <ns0:nvPr/>
        </ns0:nvSpPr>
        <ns0:spPr bwMode="auto">
          <ns1:xfrm>
            <ns1:off x="658368" y="2625807"/>
            <ns1:ext cx="3328416" cy="192024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ctr"/>
          <ns1:lstStyle/>
          <ns1:p>
            <ns1:pPr algn="l">
              <ns1:defRPr/>
            </ns1:pPr>
            <ns1:r>
              <ns1:rPr lang="ru-RU" sz="11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МЕХАНИЧЕСКИЙ ПРОТОТИП</ns1:t>
            </ns1:r>
            <ns1:endParaRPr lang="ru-RU" sz="1100"/>
          </ns1:p>
        </ns0:txBody>
      </ns0:sp>
      <ns0:sp>
        <ns0:nvSpPr>
          <ns0:cNvPr id="176329706" name="Stage 1 subtitle"/>
          <ns0:cNvSpPr txBox="1"/>
          <ns0:nvPr/>
        </ns0:nvSpPr>
        <ns0:spPr bwMode="auto">
          <ns1:xfrm>
            <ns1:off x="658368" y="2806180"/>
            <ns1:ext cx="3328416" cy="173736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ctr"/>
          <ns1:lstStyle/>
          <ns1:p>
            <ns1:pPr algn="l">
              <ns1:defRPr/>
            </ns1:pPr>
            <ns1:r>
              <ns1:rPr lang="ru-RU" sz="900" b="0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Проверка базового ввода и состояний</ns1:t>
            </ns1:r>
            <ns1:endParaRPr lang="ru-RU" sz="900"/>
          </ns1:p>
        </ns0:txBody>
      </ns0:sp>
      <ns0:pic>
        <ns0:nvPicPr>
          <ns0:cNvPr id="1730126306" name="Stage 2 image"/>
          <ns0:cNvPicPr>
            <ns1:picLocks noChangeAspect="1"/>
          </ns0:cNvPicPr>
          <ns0:nvPr/>
        </ns0:nvPicPr>
        <ns0:blipFill rotWithShape="1">
          <ns1:blip ns2:embed="rId4"/>
          <ns1:stretch/>
        </ns0:blipFill>
        <ns0:spPr bwMode="auto">
          <ns1:xfrm flipH="0" flipV="0">
            <ns1:off x="5189909" y="803357"/>
            <ns1:ext cx="3156125" cy="1775320"/>
          </ns1:xfrm>
          <ns1:prstGeom prst="rect">
            <ns1:avLst/>
          </ns1:prstGeom>
          <ns1:ln w="19050">
            <ns1:solidFill>
              <ns1:srgbClr val="FFDEA1"/>
            </ns1:solidFill>
            <ns1:prstDash val="solid"/>
          </ns1:ln>
        </ns0:spPr>
      </ns0:pic>
      <ns0:sp>
        <ns0:nvSpPr>
          <ns0:cNvPr id="1020434370" name="Stage 2 title"/>
          <ns0:cNvSpPr txBox="1"/>
          <ns0:nvPr/>
        </ns0:nvSpPr>
        <ns0:spPr bwMode="auto">
          <ns1:xfrm>
            <ns1:off x="5348058" y="2625807"/>
            <ns1:ext cx="3328416" cy="192024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ctr"/>
          <ns1:lstStyle/>
          <ns1:p>
            <ns1:pPr algn="l">
              <ns1:defRPr/>
            </ns1:pPr>
            <ns1:r>
              <ns1:rPr lang="ru-RU" sz="11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ПЕРВАЯ ИГРОВАЯ СЦЕНА</ns1:t>
            </ns1:r>
            <ns1:endParaRPr lang="ru-RU" sz="1100"/>
          </ns1:p>
        </ns0:txBody>
      </ns0:sp>
      <ns0:sp>
        <ns0:nvSpPr>
          <ns0:cNvPr id="1209164740" name="Stage 2 subtitle"/>
          <ns0:cNvSpPr txBox="1"/>
          <ns0:nvPr/>
        </ns0:nvSpPr>
        <ns0:spPr bwMode="auto">
          <ns1:xfrm>
            <ns1:off x="5348058" y="2806180"/>
            <ns1:ext cx="3328416" cy="173736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ctr"/>
          <ns1:lstStyle/>
          <ns1:p>
            <ns1:pPr algn="l">
              <ns1:defRPr/>
            </ns1:pPr>
            <ns1:r>
              <ns1:rPr lang="ru-RU" sz="900" b="0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Ноты, дорожки и счёт прохождения</ns1:t>
            </ns1:r>
            <ns1:endParaRPr lang="ru-RU" sz="900"/>
          </ns1:p>
        </ns0:txBody>
      </ns0:sp>
      <ns0:pic>
        <ns0:nvPicPr>
          <ns0:cNvPr id="89080849" name="Stage 3 image"/>
          <ns0:cNvPicPr>
            <ns1:picLocks noChangeAspect="1"/>
          </ns0:cNvPicPr>
          <ns0:nvPr/>
        </ns0:nvPicPr>
        <ns0:blipFill rotWithShape="1">
          <ns1:blip ns2:embed="rId5"/>
          <ns1:stretch/>
        </ns0:blipFill>
        <ns0:spPr bwMode="auto">
          <ns1:xfrm flipH="0" flipV="0">
            <ns1:off x="5175504" y="3052908"/>
            <ns1:ext cx="3156125" cy="1775320"/>
          </ns1:xfrm>
          <ns1:prstGeom prst="rect">
            <ns1:avLst/>
          </ns1:prstGeom>
          <ns1:ln w="19050">
            <ns1:solidFill>
              <ns1:srgbClr val="FFDEA1"/>
            </ns1:solidFill>
            <ns1:prstDash val="solid"/>
          </ns1:ln>
        </ns0:spPr>
      </ns0:pic>
      <ns0:sp>
        <ns0:nvSpPr>
          <ns0:cNvPr id="409235988" name="Stage 3 title"/>
          <ns0:cNvSpPr txBox="1"/>
          <ns0:nvPr/>
        </ns0:nvSpPr>
        <ns0:spPr bwMode="auto">
          <ns1:xfrm>
            <ns1:off x="5175504" y="4891752"/>
            <ns1:ext cx="3328416" cy="192024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ctr"/>
          <ns1:lstStyle/>
          <ns1:p>
            <ns1:pPr algn="l">
              <ns1:defRPr/>
            </ns1:pPr>
            <ns1:r>
              <ns1:rPr lang="ru-RU" sz="11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АТМОСФЕРНАЯ ПЕРЕРАБОТКА</ns1:t>
            </ns1:r>
            <ns1:endParaRPr lang="ru-RU" sz="1100"/>
          </ns1:p>
        </ns0:txBody>
      </ns0:sp>
      <ns0:sp>
        <ns0:nvSpPr>
          <ns0:cNvPr id="1750541564" name="Stage 3 subtitle"/>
          <ns0:cNvSpPr txBox="1"/>
          <ns0:nvPr/>
        </ns0:nvSpPr>
        <ns0:spPr bwMode="auto">
          <ns1:xfrm>
            <ns1:off x="5175504" y="5555278"/>
            <ns1:ext cx="3328416" cy="173736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ctr"/>
          <ns1:lstStyle/>
          <ns1:p>
            <ns1:pPr algn="l">
              <ns1:defRPr/>
            </ns1:pPr>
            <ns1:r>
              <ns1:rPr lang="ru-RU" sz="900" b="0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Цельный стиль кофейни и читаемость</ns1:t>
            </ns1:r>
            <ns1:endParaRPr lang="ru-RU" sz="900"/>
          </ns1:p>
        </ns0:txBody>
      </ns0:sp>
      <ns0:pic>
        <ns0:nvPicPr>
          <ns0:cNvPr id="1364177130" name="Stage 4 image"/>
          <ns0:cNvPicPr>
            <ns1:picLocks noChangeAspect="1"/>
          </ns0:cNvPicPr>
          <ns0:nvPr/>
        </ns0:nvPicPr>
        <ns0:blipFill rotWithShape="1">
          <ns1:blip ns2:embed="rId6"/>
          <ns1:stretch/>
        </ns0:blipFill>
        <ns0:spPr bwMode="auto">
          <ns1:xfrm flipH="0" flipV="0">
            <ns1:off x="530352" y="3039662"/>
            <ns1:ext cx="3177777" cy="1787499"/>
          </ns1:xfrm>
          <ns1:prstGeom prst="rect">
            <ns1:avLst/>
          </ns1:prstGeom>
          <ns1:ln w="19050">
            <ns1:solidFill>
              <ns1:srgbClr val="FFDEA1"/>
            </ns1:solidFill>
            <ns1:prstDash val="solid"/>
          </ns1:ln>
        </ns0:spPr>
      </ns0:pic>
      <ns0:sp>
        <ns0:nvSpPr>
          <ns0:cNvPr id="1119278976" name="Stage 4 title"/>
          <ns0:cNvSpPr txBox="1"/>
          <ns0:nvPr/>
        </ns0:nvSpPr>
        <ns0:spPr bwMode="auto">
          <ns1:xfrm>
            <ns1:off x="658368" y="4891752"/>
            <ns1:ext cx="3328416" cy="192024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ctr"/>
          <ns1:lstStyle/>
          <ns1:p>
            <ns1:pPr algn="l">
              <ns1:defRPr/>
            </ns1:pPr>
            <ns1:r>
              <ns1:rPr lang="ru-RU" sz="11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КОНЦЕПТ ИТОГОВОГО ВАРИАНТА</ns1:t>
            </ns1:r>
            <ns1:endParaRPr lang="ru-RU" sz="1100"/>
          </ns1:p>
        </ns0:txBody>
      </ns0:sp>
      <ns0:sp>
        <ns0:nvSpPr>
          <ns0:cNvPr id="1600283517" name="Stage 4 subtitle"/>
          <ns0:cNvSpPr txBox="1"/>
          <ns0:nvPr/>
        </ns0:nvSpPr>
        <ns0:spPr bwMode="auto">
          <ns1:xfrm>
            <ns1:off x="658368" y="5555278"/>
            <ns1:ext cx="3328416" cy="173736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ctr"/>
          <ns1:lstStyle/>
          <ns1:p>
            <ns1:pPr algn="l">
              <ns1:defRPr/>
            </ns1:pPr>
            <ns1:r>
              <ns1:rPr lang="ru-RU" sz="900" b="0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Поиск формы комбо и оценок попадания</ns1:t>
            </ns1:r>
            <ns1:endParaRPr lang="ru-RU" sz="900"/>
          </ns1:p>
        </ns0:txBody>
      </ns0:sp>
      <ns0:sp>
        <ns0:nvSpPr>
          <ns0:cNvPr id="1702038258" name="Footer"/>
          <ns0:cNvSpPr txBox="1"/>
          <ns0:nvPr/>
        </ns0:nvSpPr>
        <ns0:spPr bwMode="auto">
          <ns1:xfrm>
            <ns1:off x="429768" y="6473952"/>
            <ns1:ext cx="8046720" cy="155448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ctr"/>
          <ns1:lstStyle/>
          <ns1:p>
            <ns1:pPr algn="l">
              <ns1:defRPr/>
            </ns1:pPr>
            <ns1:r>
              <ns1:rPr lang="ru-RU" sz="850" b="1">
                <ns1:solidFill>
                  <ns1:srgbClr val="D2A45C"/>
                </ns1:solidFill>
                <ns1:latin typeface="Bellota"/>
                <ns1:ea typeface="Bellota"/>
                <ns1:cs typeface="Bellota"/>
              </ns1:rPr>
              <ns1:t>CUPPA • ЭВОЛЮЦИЯ ИНТЕРФЕЙСА И ВИЗУАЛЬНОГО РЕШЕНИЯ</ns1:t>
            </ns1:r>
            <ns1:endParaRPr lang="ru-RU" sz="850"/>
          </ns1:p>
        </ns0:txBody>
      </ns0:sp>
      <ns0:sp>
        <ns0:nvSpPr>
          <ns0:cNvPr id="2038640613" name="Eyebrow marker"/>
          <ns0:cNvSpPr/>
          <ns0:nvPr/>
        </ns0:nvSpPr>
        <ns0:spPr bwMode="auto">
          <ns1:xfrm>
            <ns1:off x="647064" y="327441"/>
            <ns1:ext cx="119997" cy="329996"/>
          </ns1:xfrm>
          <ns1:prstGeom prst="rect">
            <ns1:avLst/>
          </ns1:prstGeom>
          <ns1:solidFill>
            <ns1:srgbClr val="FFDEA1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>
              <ns1:latin typeface="Bellota"/>
              <ns1:cs typeface="Bellota"/>
            </ns1:endParaRPr>
          </ns1:p>
        </ns0:txBody>
      </ns0:sp>
      <ns0:sp>
        <ns0:nvSpPr>
          <ns0:cNvPr id="160686845" name="Eyebrow"/>
          <ns0:cNvSpPr txBox="1"/>
          <ns0:nvPr/>
        </ns0:nvSpPr>
        <ns0:spPr bwMode="auto">
          <ns1:xfrm>
            <ns1:off x="867061" y="387441"/>
            <ns1:ext cx="4199996" cy="209997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  <ns1:defRPr/>
            </ns1:pPr>
            <ns1:r>
              <ns1:rPr lang="ru-RU" sz="1600" b="1">
                <ns1:solidFill>
                  <ns1:srgbClr val="D2A45C"/>
                </ns1:solidFill>
                <ns1:latin typeface="Bellota"/>
                <ns1:ea typeface="Bellota"/>
                <ns1:cs typeface="Bellota"/>
              </ns1:rPr>
              <ns1:t>ЭВОЛЮЦИЯ ПРОЕКТА</ns1:t>
            </ns1:r>
            <ns1:endParaRPr sz="1600">
              <ns1:latin typeface="Bellota"/>
              <ns1:cs typeface="Bellota"/>
            </ns1:endParaRPr>
          </ns1:p>
        </ns0:txBody>
      </ns0:sp>
      <ns0:sp>
        <ns0:nvSpPr>
          <ns0:cNvPr id="174070883" name=""/>
          <ns0:cNvSpPr/>
          <ns0:nvPr/>
        </ns0:nvSpPr>
        <ns0:spPr bwMode="auto">
          <ns1:xfrm rot="0" flipH="0" flipV="0">
            <ns1:off x="7682823" y="4857750"/>
            <ns1:ext cx="1387333" cy="263657"/>
          </ns1:xfrm>
          <ns1:prstGeom prst="rect">
            <ns1:avLst/>
          </ns1:prstGeom>
          <ns1:solidFill>
            <ns1:srgbClr val="241318"/>
          </ns1:solidFill>
          <ns1:ln w="12700" cap="flat" cmpd="sng" algn="ctr">
            <ns1:noFill/>
            <ns1:prstDash val="solid"/>
            <ns1:miter lim="800000"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/>
          <ns1:p>
            <ns1:pPr algn="ctr">
              <ns1:defRPr/>
            </ns1:pPr>
            <ns1:endParaRPr>
              <ns1:solidFill>
                <ns1:schemeClr val="tx1"/>
              </ns1:solidFill>
              <ns1:latin typeface="Bellota"/>
              <ns1:cs typeface="Bellota"/>
            </ns1:endParaRPr>
          </ns1:p>
        </ns0:txBody>
      </ns0:sp>
      <ns0:cxnSp>
        <ns0:nvCxnSpPr>
          <ns0:cNvPr id="1402678810" name=""/>
          <ns0:cNvCxnSpPr/>
          <ns0:nvPr/>
        </ns0:nvCxnSpPr>
        <ns0:spPr bwMode="auto">
          <ns1:xfrm flipH="0" flipV="1">
            <ns1:off x="3852119" y="1691018"/>
            <ns1:ext cx="1007717" cy="0"/>
          </ns1:xfrm>
          <ns1:prstGeom prst="line">
            <ns1:avLst/>
          </ns1:prstGeom>
          <ns1:ln w="57150" cap="flat" cmpd="sng" algn="ctr">
            <ns1:solidFill>
              <ns1:srgbClr val="FFDEA1"/>
            </ns1:solidFill>
            <ns1:prstDash val="solid"/>
            <ns1:miter lim="800000"/>
            <ns1:tailEnd type="arrow" len="med"/>
          </ns1:ln>
        </ns0:spPr>
        <ns0:style>
          <ns1:lnRef idx="1">
            <ns1:schemeClr val="accent1">
              <ns1:shade val="50000"/>
            </ns1:schemeClr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907985833" name=""/>
          <ns0:cNvCxnSpPr/>
          <ns0:nvPr/>
        </ns0:nvCxnSpPr>
        <ns0:spPr bwMode="auto">
          <ns1:xfrm rot="10799999" flipH="0" flipV="1">
            <ns1:off x="3986783" y="3776026"/>
            <ns1:ext cx="1007716" cy="0"/>
          </ns1:xfrm>
          <ns1:prstGeom prst="line">
            <ns1:avLst/>
          </ns1:prstGeom>
          <ns1:ln w="57150" cap="flat" cmpd="sng" algn="ctr">
            <ns1:solidFill>
              <ns1:srgbClr val="FFDEA1"/>
            </ns1:solidFill>
            <ns1:prstDash val="solid"/>
            <ns1:miter lim="800000"/>
            <ns1:tailEnd type="arrow" len="med"/>
          </ns1:ln>
        </ns0:spPr>
        <ns0:style>
          <ns1:lnRef idx="1">
            <ns1:schemeClr val="accent1">
              <ns1:shade val="50000"/>
            </ns1:schemeClr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</ns0:spTree>
  </ns0:cSld>
  <ns0:clrMapOvr>
    <ns1:masterClrMapping/>
  </ns0:clrMapOvr>
  <ns3:AlternateContent>
    <ns3:Choice Requires="p159">
      <ns0:transition ns4:dur="250" advClick="1" spd="fast">
        <ns0:fade/>
      </ns0:transition>
    </ns3:Choice>
    <ns3:Fallback>
      <ns0:transition advClick="1" spd="fast">
        <ns0:fade/>
      </ns0:transition>
    </ns3:Fallback>
  </ns3:AlternateContent>
</ns0:sld>
</file>

<file path=ppt/slides/slide8.xml><?xml version="1.0" encoding="utf-8"?>
<ns0:sld xmlns:ns0="http://schemas.openxmlformats.org/presentationml/2006/main" xmlns:ns1="http://schemas.openxmlformats.org/drawingml/2006/main" xmlns:ns2="http://schemas.openxmlformats.org/markup-compatibility/2006" xmlns:ns3="http://schemas.microsoft.com/office/powerpoint/2010/main" showMasterPhAnim="0" showMasterSp="1" show="1">
  <ns0:cSld name="">
    <ns0:spTree>
      <ns0:nvGrpSpPr>
        <ns0:cNvPr id="1" name=""/>
        <ns0:cNvGrpSpPr/>
        <ns0:nvPr/>
      </ns0:nvGrpSpPr>
      <ns0:grpSpPr bwMode="auto">
        <ns1:xfrm>
          <ns1:off x="0" y="0"/>
          <ns1:ext cx="0" cy="0"/>
          <ns1:chOff x="0" y="0"/>
          <ns1:chExt cx="0" cy="0"/>
        </ns1:xfrm>
      </ns0:grpSpPr>
      <ns0:sp>
        <ns0:nvSpPr>
          <ns0:cNvPr id="1422723907" name="Title"/>
          <ns0:cNvSpPr txBox="1"/>
          <ns0:nvPr/>
        </ns0:nvSpPr>
        <ns0:spPr bwMode="auto">
          <ns1:xfrm>
            <ns1:off x="420624" y="658368"/>
            <ns1:ext cx="8138160" cy="393192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ctr"/>
          <ns1:lstStyle/>
          <ns1:p>
            <ns1:pPr algn="l">
              <ns1:defRPr/>
            </ns1:pPr>
            <ns1:r>
              <ns1:rPr lang="ru-RU" sz="245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Результаты, сложности и перспективы</ns1:t>
            </ns1:r>
            <ns1:endParaRPr lang="ru-RU" sz="2450"/>
          </ns1:p>
        </ns0:txBody>
      </ns0:sp>
      <ns0:sp>
        <ns0:nvSpPr>
          <ns0:cNvPr id="497405773" name="Metric endings bg"/>
          <ns0:cNvSpPr/>
          <ns0:nvPr/>
        </ns0:nvSpPr>
        <ns0:spPr bwMode="auto">
          <ns1:xfrm flipH="0" flipV="0">
            <ns1:off x="448055" y="1152442"/>
            <ns1:ext cx="1298448" cy="297014"/>
          </ns1:xfrm>
          <ns1:prstGeom prst="roundRect">
            <ns1:avLst>
              <ns1:gd name="adj" fmla="val 16667"/>
            </ns1:avLst>
          </ns1:prstGeom>
          <ns1:solidFill>
            <ns1:srgbClr val="351A21"/>
          </ns1:solidFill>
          <ns1:ln w="12700">
            <ns1:solidFill>
              <ns1:srgbClr val="FFDEA1"/>
            </ns1:solidFill>
            <ns1:prstDash val="solid"/>
          </ns1:ln>
        </ns0:spPr>
        <ns0:txBody>
          <ns1:bodyPr anchor="ctr"/>
          <ns1:p>
            <ns1:pPr algn="ctr">
              <ns1:defRPr/>
            </ns1:pPr>
            <ns1:endParaRPr sz="2000"/>
          </ns1:p>
        </ns0:txBody>
      </ns0:sp>
      <ns0:sp>
        <ns0:nvSpPr>
          <ns0:cNvPr id="49463651" name="Metric endings"/>
          <ns0:cNvSpPr txBox="1"/>
          <ns0:nvPr/>
        </ns0:nvSpPr>
        <ns0:spPr bwMode="auto">
          <ns1:xfrm>
            <ns1:off x="493776" y="1225594"/>
            <ns1:ext cx="1207008" cy="164592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ctr"/>
          <ns1:lstStyle/>
          <ns1:p>
            <ns1:pPr algn="ctr">
              <ns1:defRPr/>
            </ns1:pPr>
            <ns1:r>
              <ns1:rPr lang="ru-RU" sz="10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2 КОНЦОВКИ</ns1:t>
            </ns1:r>
            <ns1:endParaRPr lang="ru-RU" sz="1000"/>
          </ns1:p>
        </ns0:txBody>
      </ns0:sp>
      <ns0:sp>
        <ns0:nvSpPr>
          <ns0:cNvPr id="1396136956" name="Metric music bg"/>
          <ns0:cNvSpPr/>
          <ns0:nvPr/>
        </ns0:nvSpPr>
        <ns0:spPr bwMode="auto">
          <ns1:xfrm flipH="0" flipV="0">
            <ns1:off x="1847087" y="1152442"/>
            <ns1:ext cx="1444752" cy="297014"/>
          </ns1:xfrm>
          <ns1:prstGeom prst="roundRect">
            <ns1:avLst>
              <ns1:gd name="adj" fmla="val 16667"/>
            </ns1:avLst>
          </ns1:prstGeom>
          <ns1:solidFill>
            <ns1:srgbClr val="351A21"/>
          </ns1:solidFill>
          <ns1:ln w="12700">
            <ns1:solidFill>
              <ns1:srgbClr val="FFDEA1"/>
            </ns1:solidFill>
            <ns1:prstDash val="solid"/>
          </ns1:ln>
        </ns0:spPr>
        <ns0:txBody>
          <ns1:bodyPr anchor="ctr"/>
          <ns1:p>
            <ns1:pPr algn="ctr">
              <ns1:defRPr/>
            </ns1:pPr>
            <ns1:endParaRPr sz="2000"/>
          </ns1:p>
        </ns0:txBody>
      </ns0:sp>
      <ns0:sp>
        <ns0:nvSpPr>
          <ns0:cNvPr id="1182705453" name="Metric music"/>
          <ns0:cNvSpPr txBox="1"/>
          <ns0:nvPr/>
        </ns0:nvSpPr>
        <ns0:spPr bwMode="auto">
          <ns1:xfrm>
            <ns1:off x="1892808" y="1225594"/>
            <ns1:ext cx="1353312" cy="164592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ctr"/>
          <ns1:lstStyle/>
          <ns1:p>
            <ns1:pPr algn="ctr">
              <ns1:defRPr/>
            </ns1:pPr>
            <ns1:r>
              <ns1:rPr lang="ru-RU" sz="10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3 КОМПОЗИЦИИ</ns1:t>
            </ns1:r>
            <ns1:endParaRPr lang="ru-RU" sz="1000"/>
          </ns1:p>
        </ns0:txBody>
      </ns0:sp>
      <ns0:sp>
        <ns0:nvSpPr>
          <ns0:cNvPr id="1357009801" name="Metric platforms bg"/>
          <ns0:cNvSpPr/>
          <ns0:nvPr/>
        </ns0:nvSpPr>
        <ns0:spPr bwMode="auto">
          <ns1:xfrm flipH="0" flipV="0">
            <ns1:off x="3392424" y="1152442"/>
            <ns1:ext cx="1645920" cy="297014"/>
          </ns1:xfrm>
          <ns1:prstGeom prst="roundRect">
            <ns1:avLst>
              <ns1:gd name="adj" fmla="val 16667"/>
            </ns1:avLst>
          </ns1:prstGeom>
          <ns1:solidFill>
            <ns1:srgbClr val="351A21"/>
          </ns1:solidFill>
          <ns1:ln w="12700">
            <ns1:solidFill>
              <ns1:srgbClr val="FFDEA1"/>
            </ns1:solidFill>
            <ns1:prstDash val="solid"/>
          </ns1:ln>
        </ns0:spPr>
        <ns0:txBody>
          <ns1:bodyPr anchor="ctr"/>
          <ns1:p>
            <ns1:pPr algn="ctr">
              <ns1:defRPr/>
            </ns1:pPr>
            <ns1:endParaRPr sz="2000"/>
          </ns1:p>
        </ns0:txBody>
      </ns0:sp>
      <ns0:sp>
        <ns0:nvSpPr>
          <ns0:cNvPr id="1647258263" name="Metric platforms"/>
          <ns0:cNvSpPr txBox="1"/>
          <ns0:nvPr/>
        </ns0:nvSpPr>
        <ns0:spPr bwMode="auto">
          <ns1:xfrm>
            <ns1:off x="3438144" y="1225594"/>
            <ns1:ext cx="1554480" cy="164592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ctr"/>
          <ns1:lstStyle/>
          <ns1:p>
            <ns1:pPr algn="ctr">
              <ns1:defRPr/>
            </ns1:pPr>
            <ns1:r>
              <ns1:rPr lang="ru-RU" sz="10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LINUX + WINDOWS</ns1:t>
            </ns1:r>
            <ns1:endParaRPr lang="ru-RU" sz="1000"/>
          </ns1:p>
        </ns0:txBody>
      </ns0:sp>
      <ns0:sp>
        <ns0:nvSpPr>
          <ns0:cNvPr id="933616090" name="Results panel"/>
          <ns0:cNvSpPr/>
          <ns0:nvPr/>
        </ns0:nvSpPr>
        <ns0:spPr bwMode="auto">
          <ns1:xfrm flipH="0" flipV="0">
            <ns1:off x="429768" y="1624981"/>
            <ns1:ext cx="2606040" cy="3088363"/>
          </ns1:xfrm>
          <ns1:prstGeom prst="roundRect">
            <ns1:avLst>
              <ns1:gd name="adj" fmla="val 16667"/>
            </ns1:avLst>
          </ns1:prstGeom>
          <ns1:solidFill>
            <ns1:srgbClr val="351A21"/>
          </ns1:solidFill>
          <ns1:ln w="12700">
            <ns1:solidFill>
              <ns1:srgbClr val="FFDEA1"/>
            </ns1:solidFill>
            <ns1:prstDash val="solid"/>
          </ns1:ln>
        </ns0:spPr>
        <ns0:txBody>
          <ns1:bodyPr anchor="ctr"/>
          <ns1:p>
            <ns1:pPr algn="ctr">
              <ns1:defRPr/>
            </ns1:pPr>
            <ns1:endParaRPr sz="2000"/>
          </ns1:p>
        </ns0:txBody>
      </ns0:sp>
      <ns0:sp>
        <ns0:nvSpPr>
          <ns0:cNvPr id="239342952" name="Results number bg"/>
          <ns0:cNvSpPr/>
          <ns0:nvPr/>
        </ns0:nvSpPr>
        <ns0:spPr bwMode="auto">
          <ns1:xfrm flipH="0" flipV="0">
            <ns1:off x="630935" y="1853581"/>
            <ns1:ext cx="512064" cy="409491"/>
          </ns1:xfrm>
          <ns1:prstGeom prst="roundRect">
            <ns1:avLst>
              <ns1:gd name="adj" fmla="val 16667"/>
            </ns1:avLst>
          </ns1:prstGeom>
          <ns1:solidFill>
            <ns1:srgbClr val="2B161C"/>
          </ns1:solidFill>
          <ns1:ln w="12700">
            <ns1:solidFill>
              <ns1:srgbClr val="FFDEA1"/>
            </ns1:solidFill>
            <ns1:prstDash val="solid"/>
          </ns1:ln>
        </ns0:spPr>
        <ns0:txBody>
          <ns1:bodyPr anchor="ctr"/>
          <ns1:p>
            <ns1:pPr algn="ctr">
              <ns1:defRPr/>
            </ns1:pPr>
            <ns1:endParaRPr sz="2000"/>
          </ns1:p>
        </ns0:txBody>
      </ns0:sp>
      <ns0:sp>
        <ns0:nvSpPr>
          <ns0:cNvPr id="1291721076" name="Results number"/>
          <ns0:cNvSpPr txBox="1"/>
          <ns0:nvPr/>
        </ns0:nvSpPr>
        <ns0:spPr bwMode="auto">
          <ns1:xfrm>
            <ns1:off x="630936" y="1954165"/>
            <ns1:ext cx="512064" cy="237744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ctr"/>
          <ns1:lstStyle/>
          <ns1:p>
            <ns1:pPr algn="ctr">
              <ns1:defRPr/>
            </ns1:pPr>
            <ns1:r>
              <ns1:rPr lang="ru-RU" sz="16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01</ns1:t>
            </ns1:r>
            <ns1:endParaRPr lang="ru-RU" sz="1600"/>
          </ns1:p>
        </ns0:txBody>
      </ns0:sp>
      <ns0:sp>
        <ns0:nvSpPr>
          <ns0:cNvPr id="2100924813" name="Results title"/>
          <ns0:cNvSpPr txBox="1"/>
          <ns0:nvPr/>
        </ns0:nvSpPr>
        <ns0:spPr bwMode="auto">
          <ns1:xfrm>
            <ns1:off x="1271015" y="1935877"/>
            <ns1:ext cx="1536192" cy="219456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ctr"/>
          <ns1:lstStyle/>
          <ns1:p>
            <ns1:pPr algn="l">
              <ns1:defRPr/>
            </ns1:pPr>
            <ns1:r>
              <ns1:rPr lang="ru-RU" sz="14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РЕАЛИЗОВАНО</ns1:t>
            </ns1:r>
            <ns1:endParaRPr lang="ru-RU" sz="1400"/>
          </ns1:p>
        </ns0:txBody>
      </ns0:sp>
      <ns0:sp>
        <ns0:nvSpPr>
          <ns0:cNvPr id="1174566929" name="Results lead"/>
          <ns0:cNvSpPr txBox="1"/>
          <ns0:nvPr/>
        </ns0:nvSpPr>
        <ns0:spPr bwMode="auto">
          <ns1:xfrm>
            <ns1:off x="649224" y="2375971"/>
            <ns1:ext cx="2148840" cy="438912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t"/>
          <ns1:lstStyle/>
          <ns1:p>
            <ns1:pPr algn="l">
              <ns1:defRPr/>
            </ns1:pPr>
            <ns1:r>
              <ns1:rPr lang="ru-RU" sz="1100" b="1">
                <ns1:solidFill>
                  <ns1:srgbClr val="D2A45C"/>
                </ns1:solidFill>
                <ns1:latin typeface="Bellota"/>
                <ns1:ea typeface="Bellota"/>
                <ns1:cs typeface="Bellota"/>
              </ns1:rPr>
              <ns1:t>Единый игровой цикл</ns1:t>
            </ns1:r>
            <ns1:endParaRPr lang="ru-RU" sz="1100"/>
          </ns1:p>
        </ns0:txBody>
      </ns0:sp>
      <ns0:sp>
        <ns0:nvSpPr>
          <ns0:cNvPr id="1350245501" name="Results bullet 0"/>
          <ns0:cNvSpPr/>
          <ns0:nvPr/>
        </ns0:nvSpPr>
        <ns0:spPr bwMode="auto">
          <ns1:xfrm>
            <ns1:off x="685800" y="2766512"/>
            <ns1:ext cx="91440" cy="91440"/>
          </ns1:xfrm>
          <ns1:prstGeom prst="ellipse">
            <ns1:avLst/>
          </ns1:prstGeom>
          <ns1:solidFill>
            <ns1:srgbClr val="D2A45C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 sz="2000"/>
          </ns1:p>
        </ns0:txBody>
      </ns0:sp>
      <ns0:sp>
        <ns0:nvSpPr>
          <ns0:cNvPr id="1981829117" name="Results item 0"/>
          <ns0:cNvSpPr txBox="1"/>
          <ns0:nvPr/>
        </ns0:nvSpPr>
        <ns0:spPr bwMode="auto">
          <ns1:xfrm>
            <ns1:off x="877824" y="2675072"/>
            <ns1:ext cx="1920240" cy="384048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t"/>
          <ns1:lstStyle/>
          <ns1:p>
            <ns1:pPr algn="l">
              <ns1:defRPr/>
            </ns1:pPr>
            <ns1:r>
              <ns1:rPr lang="ru-RU" sz="1100" b="0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Новелла и ритм-сцена</ns1:t>
            </ns1:r>
            <ns1:endParaRPr lang="ru-RU" sz="1100"/>
          </ns1:p>
        </ns0:txBody>
      </ns0:sp>
      <ns0:sp>
        <ns0:nvSpPr>
          <ns0:cNvPr id="2100461867" name="Results bullet 1"/>
          <ns0:cNvSpPr/>
          <ns0:nvPr/>
        </ns0:nvSpPr>
        <ns0:spPr bwMode="auto">
          <ns1:xfrm>
            <ns1:off x="685800" y="3260288"/>
            <ns1:ext cx="91440" cy="91440"/>
          </ns1:xfrm>
          <ns1:prstGeom prst="ellipse">
            <ns1:avLst/>
          </ns1:prstGeom>
          <ns1:solidFill>
            <ns1:srgbClr val="D2A45C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 sz="2000"/>
          </ns1:p>
        </ns0:txBody>
      </ns0:sp>
      <ns0:sp>
        <ns0:nvSpPr>
          <ns0:cNvPr id="2045937441" name="Results item 1"/>
          <ns0:cNvSpPr txBox="1"/>
          <ns0:nvPr/>
        </ns0:nvSpPr>
        <ns0:spPr bwMode="auto">
          <ns1:xfrm>
            <ns1:off x="877824" y="3168848"/>
            <ns1:ext cx="1920240" cy="384048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t"/>
          <ns1:lstStyle/>
          <ns1:p>
            <ns1:pPr algn="l">
              <ns1:defRPr/>
            </ns1:pPr>
            <ns1:r>
              <ns1:rPr lang="ru-RU" sz="1100" b="0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Обычные и длинные ноты</ns1:t>
            </ns1:r>
            <ns1:endParaRPr lang="ru-RU" sz="1100"/>
          </ns1:p>
        </ns0:txBody>
      </ns0:sp>
      <ns0:sp>
        <ns0:nvSpPr>
          <ns0:cNvPr id="1265165076" name="Results bullet 2"/>
          <ns0:cNvSpPr/>
          <ns0:nvPr/>
        </ns0:nvSpPr>
        <ns0:spPr bwMode="auto">
          <ns1:xfrm>
            <ns1:off x="685800" y="3754064"/>
            <ns1:ext cx="91440" cy="91440"/>
          </ns1:xfrm>
          <ns1:prstGeom prst="ellipse">
            <ns1:avLst/>
          </ns1:prstGeom>
          <ns1:solidFill>
            <ns1:srgbClr val="D2A45C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 sz="2000"/>
          </ns1:p>
        </ns0:txBody>
      </ns0:sp>
      <ns0:sp>
        <ns0:nvSpPr>
          <ns0:cNvPr id="1640979793" name="Results item 2"/>
          <ns0:cNvSpPr txBox="1"/>
          <ns0:nvPr/>
        </ns0:nvSpPr>
        <ns0:spPr bwMode="auto">
          <ns1:xfrm>
            <ns1:off x="877824" y="3662624"/>
            <ns1:ext cx="1920240" cy="384048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t"/>
          <ns1:lstStyle/>
          <ns1:p>
            <ns1:pPr algn="l">
              <ns1:defRPr/>
            </ns1:pPr>
            <ns1:r>
              <ns1:rPr lang="ru-RU" sz="1100" b="0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Оценка точности и финалы</ns1:t>
            </ns1:r>
            <ns1:endParaRPr lang="ru-RU" sz="1100"/>
          </ns1:p>
        </ns0:txBody>
      </ns0:sp>
      <ns0:sp>
        <ns0:nvSpPr>
          <ns0:cNvPr id="1225207933" name="Results bullet 3"/>
          <ns0:cNvSpPr/>
          <ns0:nvPr/>
        </ns0:nvSpPr>
        <ns0:spPr bwMode="auto">
          <ns1:xfrm>
            <ns1:off x="685800" y="4247840"/>
            <ns1:ext cx="91440" cy="91440"/>
          </ns1:xfrm>
          <ns1:prstGeom prst="ellipse">
            <ns1:avLst/>
          </ns1:prstGeom>
          <ns1:solidFill>
            <ns1:srgbClr val="D2A45C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 sz="2000"/>
          </ns1:p>
        </ns0:txBody>
      </ns0:sp>
      <ns0:sp>
        <ns0:nvSpPr>
          <ns0:cNvPr id="2001012035" name="Results item 3"/>
          <ns0:cNvSpPr txBox="1"/>
          <ns0:nvPr/>
        </ns0:nvSpPr>
        <ns0:spPr bwMode="auto">
          <ns1:xfrm>
            <ns1:off x="877824" y="4156400"/>
            <ns1:ext cx="1920240" cy="384048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t"/>
          <ns1:lstStyle/>
          <ns1:p>
            <ns1:pPr algn="l">
              <ns1:defRPr/>
            </ns1:pPr>
            <ns1:r>
              <ns1:rPr lang="ru-RU" sz="1100" b="0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Меню, пауза, настройки</ns1:t>
            </ns1:r>
            <ns1:endParaRPr lang="ru-RU" sz="1100"/>
          </ns1:p>
        </ns0:txBody>
      </ns0:sp>
      <ns0:sp>
        <ns0:nvSpPr>
          <ns0:cNvPr id="787362770" name="Challenges panel"/>
          <ns0:cNvSpPr/>
          <ns0:nvPr/>
        </ns0:nvSpPr>
        <ns0:spPr bwMode="auto">
          <ns1:xfrm flipH="0" flipV="0">
            <ns1:off x="3273552" y="1624981"/>
            <ns1:ext cx="2606040" cy="3088363"/>
          </ns1:xfrm>
          <ns1:prstGeom prst="roundRect">
            <ns1:avLst>
              <ns1:gd name="adj" fmla="val 16667"/>
            </ns1:avLst>
          </ns1:prstGeom>
          <ns1:solidFill>
            <ns1:srgbClr val="351A21"/>
          </ns1:solidFill>
          <ns1:ln w="12700">
            <ns1:solidFill>
              <ns1:srgbClr val="FFDEA1"/>
            </ns1:solidFill>
            <ns1:prstDash val="solid"/>
          </ns1:ln>
        </ns0:spPr>
        <ns0:txBody>
          <ns1:bodyPr anchor="ctr"/>
          <ns1:p>
            <ns1:pPr algn="ctr">
              <ns1:defRPr/>
            </ns1:pPr>
            <ns1:endParaRPr sz="2000"/>
          </ns1:p>
        </ns0:txBody>
      </ns0:sp>
      <ns0:sp>
        <ns0:nvSpPr>
          <ns0:cNvPr id="1813821251" name="Challenges number bg"/>
          <ns0:cNvSpPr/>
          <ns0:nvPr/>
        </ns0:nvSpPr>
        <ns0:spPr bwMode="auto">
          <ns1:xfrm flipH="0" flipV="0">
            <ns1:off x="3474720" y="1853581"/>
            <ns1:ext cx="512064" cy="409491"/>
          </ns1:xfrm>
          <ns1:prstGeom prst="roundRect">
            <ns1:avLst>
              <ns1:gd name="adj" fmla="val 16667"/>
            </ns1:avLst>
          </ns1:prstGeom>
          <ns1:solidFill>
            <ns1:srgbClr val="2B161C"/>
          </ns1:solidFill>
          <ns1:ln w="12700">
            <ns1:solidFill>
              <ns1:srgbClr val="FFDEA1"/>
            </ns1:solidFill>
            <ns1:prstDash val="solid"/>
          </ns1:ln>
        </ns0:spPr>
        <ns0:txBody>
          <ns1:bodyPr anchor="ctr"/>
          <ns1:p>
            <ns1:pPr algn="ctr">
              <ns1:defRPr/>
            </ns1:pPr>
            <ns1:endParaRPr sz="2000"/>
          </ns1:p>
        </ns0:txBody>
      </ns0:sp>
      <ns0:sp>
        <ns0:nvSpPr>
          <ns0:cNvPr id="759114456" name="Challenges number"/>
          <ns0:cNvSpPr txBox="1"/>
          <ns0:nvPr/>
        </ns0:nvSpPr>
        <ns0:spPr bwMode="auto">
          <ns1:xfrm>
            <ns1:off x="3474720" y="1954165"/>
            <ns1:ext cx="512064" cy="237744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ctr"/>
          <ns1:lstStyle/>
          <ns1:p>
            <ns1:pPr algn="ctr">
              <ns1:defRPr/>
            </ns1:pPr>
            <ns1:r>
              <ns1:rPr lang="ru-RU" sz="16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02</ns1:t>
            </ns1:r>
            <ns1:endParaRPr lang="ru-RU" sz="1600"/>
          </ns1:p>
        </ns0:txBody>
      </ns0:sp>
      <ns0:sp>
        <ns0:nvSpPr>
          <ns0:cNvPr id="2063839809" name="Challenges title"/>
          <ns0:cNvSpPr txBox="1"/>
          <ns0:nvPr/>
        </ns0:nvSpPr>
        <ns0:spPr bwMode="auto">
          <ns1:xfrm>
            <ns1:off x="4114800" y="1935877"/>
            <ns1:ext cx="1536192" cy="219456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ctr"/>
          <ns1:lstStyle/>
          <ns1:p>
            <ns1:pPr algn="l">
              <ns1:defRPr/>
            </ns1:pPr>
            <ns1:r>
              <ns1:rPr lang="ru-RU" sz="14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СЛОЖНОСТИ</ns1:t>
            </ns1:r>
            <ns1:endParaRPr lang="ru-RU" sz="1400"/>
          </ns1:p>
        </ns0:txBody>
      </ns0:sp>
      <ns0:sp>
        <ns0:nvSpPr>
          <ns0:cNvPr id="695136078" name="Challenges lead"/>
          <ns0:cNvSpPr txBox="1"/>
          <ns0:nvPr/>
        </ns0:nvSpPr>
        <ns0:spPr bwMode="auto">
          <ns1:xfrm>
            <ns1:off x="3493008" y="2375971"/>
            <ns1:ext cx="2148840" cy="438912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t"/>
          <ns1:lstStyle/>
          <ns1:p>
            <ns1:pPr algn="l">
              <ns1:defRPr/>
            </ns1:pPr>
            <ns1:r>
              <ns1:rPr lang="ru-RU" sz="1100" b="1">
                <ns1:solidFill>
                  <ns1:srgbClr val="D2A45C"/>
                </ns1:solidFill>
                <ns1:latin typeface="Bellota"/>
                <ns1:ea typeface="Bellota"/>
                <ns1:cs typeface="Bellota"/>
              </ns1:rPr>
              <ns1:t>Ключевые задачи</ns1:t>
            </ns1:r>
            <ns1:endParaRPr lang="ru-RU" sz="1100"/>
          </ns1:p>
        </ns0:txBody>
      </ns0:sp>
      <ns0:sp>
        <ns0:nvSpPr>
          <ns0:cNvPr id="1772557397" name="Challenges bullet 0"/>
          <ns0:cNvSpPr/>
          <ns0:nvPr/>
        </ns0:nvSpPr>
        <ns0:spPr bwMode="auto">
          <ns1:xfrm>
            <ns1:off x="3529584" y="2766512"/>
            <ns1:ext cx="91440" cy="91440"/>
          </ns1:xfrm>
          <ns1:prstGeom prst="ellipse">
            <ns1:avLst/>
          </ns1:prstGeom>
          <ns1:solidFill>
            <ns1:srgbClr val="D2A45C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 sz="2000"/>
          </ns1:p>
        </ns0:txBody>
      </ns0:sp>
      <ns0:sp>
        <ns0:nvSpPr>
          <ns0:cNvPr id="53999004" name="Challenges item 0"/>
          <ns0:cNvSpPr txBox="1"/>
          <ns0:nvPr/>
        </ns0:nvSpPr>
        <ns0:spPr bwMode="auto">
          <ns1:xfrm flipH="0" flipV="0">
            <ns1:off x="3721608" y="2675072"/>
            <ns1:ext cx="2083826" cy="384048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t"/>
          <ns1:lstStyle/>
          <ns1:p>
            <ns1:pPr algn="l">
              <ns1:defRPr/>
            </ns1:pPr>
            <ns1:r>
              <ns1:rPr lang="ru-RU" sz="1100" b="0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Формулы, синхронизирующие с музыкой</ns1:t>
            </ns1:r>
            <ns1:endParaRPr lang="ru-RU" sz="1100"/>
          </ns1:p>
        </ns0:txBody>
      </ns0:sp>
      <ns0:sp>
        <ns0:nvSpPr>
          <ns0:cNvPr id="1996386543" name="Challenges bullet 1"/>
          <ns0:cNvSpPr/>
          <ns0:nvPr/>
        </ns0:nvSpPr>
        <ns0:spPr bwMode="auto">
          <ns1:xfrm>
            <ns1:off x="3529584" y="3260288"/>
            <ns1:ext cx="91440" cy="91440"/>
          </ns1:xfrm>
          <ns1:prstGeom prst="ellipse">
            <ns1:avLst/>
          </ns1:prstGeom>
          <ns1:solidFill>
            <ns1:srgbClr val="D2A45C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 sz="2000"/>
          </ns1:p>
        </ns0:txBody>
      </ns0:sp>
      <ns0:sp>
        <ns0:nvSpPr>
          <ns0:cNvPr id="721709252" name="Challenges item 1"/>
          <ns0:cNvSpPr txBox="1"/>
          <ns0:nvPr/>
        </ns0:nvSpPr>
        <ns0:spPr bwMode="auto">
          <ns1:xfrm>
            <ns1:off x="3721608" y="3168848"/>
            <ns1:ext cx="1920240" cy="384048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t"/>
          <ns1:lstStyle/>
          <ns1:p>
            <ns1:pPr algn="l">
              <ns1:defRPr/>
            </ns1:pPr>
            <ns1:r>
              <ns1:rPr lang="ru-RU" sz="1100" b="0" i="0" u="none" strike="noStrike" cap="none" spc="0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Парсинг .sm-карт</ns1:t>
            </ns1:r>
            <ns1:endParaRPr sz="1100"/>
          </ns1:p>
          <ns1:p>
            <ns1:pPr>
              <ns1:defRPr/>
            </ns1:pPr>
            <ns1:endParaRPr/>
          </ns1:p>
        </ns0:txBody>
      </ns0:sp>
      <ns0:sp>
        <ns0:nvSpPr>
          <ns0:cNvPr id="841889075" name="Challenges bullet 2"/>
          <ns0:cNvSpPr/>
          <ns0:nvPr/>
        </ns0:nvSpPr>
        <ns0:spPr bwMode="auto">
          <ns1:xfrm>
            <ns1:off x="3529584" y="3754064"/>
            <ns1:ext cx="91440" cy="91440"/>
          </ns1:xfrm>
          <ns1:prstGeom prst="ellipse">
            <ns1:avLst/>
          </ns1:prstGeom>
          <ns1:solidFill>
            <ns1:srgbClr val="D2A45C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 sz="2000"/>
          </ns1:p>
        </ns0:txBody>
      </ns0:sp>
      <ns0:sp>
        <ns0:nvSpPr>
          <ns0:cNvPr id="1499295164" name="Challenges item 2"/>
          <ns0:cNvSpPr txBox="1"/>
          <ns0:nvPr/>
        </ns0:nvSpPr>
        <ns0:spPr bwMode="auto">
          <ns1:xfrm>
            <ns1:off x="3721608" y="3662624"/>
            <ns1:ext cx="1920240" cy="384048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t"/>
          <ns1:lstStyle/>
          <ns1:p>
            <ns1:pPr algn="l">
              <ns1:defRPr/>
            </ns1:pPr>
            <ns1:r>
              <ns1:rPr lang="ru-RU" sz="1100" b="0" i="0" u="none" strike="noStrike" cap="none" spc="0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Обработка удержания длинных нот</ns1:t>
            </ns1:r>
            <ns1:endParaRPr sz="1100"/>
          </ns1:p>
        </ns0:txBody>
      </ns0:sp>
      <ns0:sp>
        <ns0:nvSpPr>
          <ns0:cNvPr id="1130405957" name="Prospects panel"/>
          <ns0:cNvSpPr/>
          <ns0:nvPr/>
        </ns0:nvSpPr>
        <ns0:spPr bwMode="auto">
          <ns1:xfrm flipH="0" flipV="0">
            <ns1:off x="6117336" y="1624981"/>
            <ns1:ext cx="2606040" cy="3088363"/>
          </ns1:xfrm>
          <ns1:prstGeom prst="roundRect">
            <ns1:avLst>
              <ns1:gd name="adj" fmla="val 16667"/>
            </ns1:avLst>
          </ns1:prstGeom>
          <ns1:solidFill>
            <ns1:srgbClr val="351A21"/>
          </ns1:solidFill>
          <ns1:ln w="12700">
            <ns1:solidFill>
              <ns1:srgbClr val="FFDEA1"/>
            </ns1:solidFill>
            <ns1:prstDash val="solid"/>
          </ns1:ln>
        </ns0:spPr>
        <ns0:txBody>
          <ns1:bodyPr anchor="ctr"/>
          <ns1:p>
            <ns1:pPr algn="ctr">
              <ns1:defRPr/>
            </ns1:pPr>
            <ns1:endParaRPr sz="2000"/>
          </ns1:p>
        </ns0:txBody>
      </ns0:sp>
      <ns0:sp>
        <ns0:nvSpPr>
          <ns0:cNvPr id="1546064556" name="Prospects number bg"/>
          <ns0:cNvSpPr/>
          <ns0:nvPr/>
        </ns0:nvSpPr>
        <ns0:spPr bwMode="auto">
          <ns1:xfrm flipH="0" flipV="0">
            <ns1:off x="6318504" y="1853581"/>
            <ns1:ext cx="512064" cy="409491"/>
          </ns1:xfrm>
          <ns1:prstGeom prst="roundRect">
            <ns1:avLst>
              <ns1:gd name="adj" fmla="val 16667"/>
            </ns1:avLst>
          </ns1:prstGeom>
          <ns1:solidFill>
            <ns1:srgbClr val="2B161C"/>
          </ns1:solidFill>
          <ns1:ln w="12700">
            <ns1:solidFill>
              <ns1:srgbClr val="FFDEA1"/>
            </ns1:solidFill>
            <ns1:prstDash val="solid"/>
          </ns1:ln>
        </ns0:spPr>
        <ns0:txBody>
          <ns1:bodyPr anchor="ctr"/>
          <ns1:p>
            <ns1:pPr algn="ctr">
              <ns1:defRPr/>
            </ns1:pPr>
            <ns1:endParaRPr sz="2000"/>
          </ns1:p>
        </ns0:txBody>
      </ns0:sp>
      <ns0:sp>
        <ns0:nvSpPr>
          <ns0:cNvPr id="952378101" name="Prospects number"/>
          <ns0:cNvSpPr txBox="1"/>
          <ns0:nvPr/>
        </ns0:nvSpPr>
        <ns0:spPr bwMode="auto">
          <ns1:xfrm>
            <ns1:off x="6318504" y="1954165"/>
            <ns1:ext cx="512064" cy="237744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ctr"/>
          <ns1:lstStyle/>
          <ns1:p>
            <ns1:pPr algn="ctr">
              <ns1:defRPr/>
            </ns1:pPr>
            <ns1:r>
              <ns1:rPr lang="ru-RU" sz="16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03</ns1:t>
            </ns1:r>
            <ns1:endParaRPr lang="ru-RU" sz="1600"/>
          </ns1:p>
        </ns0:txBody>
      </ns0:sp>
      <ns0:sp>
        <ns0:nvSpPr>
          <ns0:cNvPr id="573856764" name="Prospects title"/>
          <ns0:cNvSpPr txBox="1"/>
          <ns0:nvPr/>
        </ns0:nvSpPr>
        <ns0:spPr bwMode="auto">
          <ns1:xfrm>
            <ns1:off x="6958584" y="1935877"/>
            <ns1:ext cx="1536192" cy="219456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ctr"/>
          <ns1:lstStyle/>
          <ns1:p>
            <ns1:pPr algn="l">
              <ns1:defRPr/>
            </ns1:pPr>
            <ns1:r>
              <ns1:rPr lang="ru-RU" sz="1400" b="1">
                <ns1:solidFill>
                  <ns1:srgbClr val="FFDEA1"/>
                </ns1:solidFill>
                <ns1:latin typeface="Bellota"/>
                <ns1:ea typeface="Bellota"/>
                <ns1:cs typeface="Bellota"/>
              </ns1:rPr>
              <ns1:t>ПЕРСПЕКТИВЫ</ns1:t>
            </ns1:r>
            <ns1:endParaRPr lang="ru-RU" sz="1400"/>
          </ns1:p>
        </ns0:txBody>
      </ns0:sp>
      <ns0:sp>
        <ns0:nvSpPr>
          <ns0:cNvPr id="2100722404" name="Prospects lead"/>
          <ns0:cNvSpPr txBox="1"/>
          <ns0:nvPr/>
        </ns0:nvSpPr>
        <ns0:spPr bwMode="auto">
          <ns1:xfrm>
            <ns1:off x="6336792" y="2375971"/>
            <ns1:ext cx="2148840" cy="438912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t"/>
          <ns1:lstStyle/>
          <ns1:p>
            <ns1:pPr algn="l">
              <ns1:defRPr/>
            </ns1:pPr>
            <ns1:r>
              <ns1:rPr lang="ru-RU" sz="1100" b="1">
                <ns1:solidFill>
                  <ns1:srgbClr val="D2A45C"/>
                </ns1:solidFill>
                <ns1:latin typeface="Bellota"/>
                <ns1:ea typeface="Bellota"/>
                <ns1:cs typeface="Bellota"/>
              </ns1:rPr>
              <ns1:t>Развитие без смены основы</ns1:t>
            </ns1:r>
            <ns1:endParaRPr lang="ru-RU" sz="1100"/>
          </ns1:p>
        </ns0:txBody>
      </ns0:sp>
      <ns0:sp>
        <ns0:nvSpPr>
          <ns0:cNvPr id="1989351816" name="Prospects bullet 0"/>
          <ns0:cNvSpPr/>
          <ns0:nvPr/>
        </ns0:nvSpPr>
        <ns0:spPr bwMode="auto">
          <ns1:xfrm>
            <ns1:off x="6373368" y="2766512"/>
            <ns1:ext cx="91440" cy="91440"/>
          </ns1:xfrm>
          <ns1:prstGeom prst="ellipse">
            <ns1:avLst/>
          </ns1:prstGeom>
          <ns1:solidFill>
            <ns1:srgbClr val="D2A45C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 sz="2000"/>
          </ns1:p>
        </ns0:txBody>
      </ns0:sp>
      <ns0:sp>
        <ns0:nvSpPr>
          <ns0:cNvPr id="386811352" name="Prospects item 0"/>
          <ns0:cNvSpPr txBox="1"/>
          <ns0:nvPr/>
        </ns0:nvSpPr>
        <ns0:spPr bwMode="auto">
          <ns1:xfrm>
            <ns1:off x="6565392" y="2675072"/>
            <ns1:ext cx="1920240" cy="384048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t"/>
          <ns1:lstStyle/>
          <ns1:p>
            <ns1:pPr algn="l">
              <ns1:defRPr/>
            </ns1:pPr>
            <ns1:r>
              <ns1:rPr lang="ru-RU" sz="1100" b="0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Новые сюжетные ветки</ns1:t>
            </ns1:r>
            <ns1:endParaRPr lang="ru-RU" sz="1100"/>
          </ns1:p>
        </ns0:txBody>
      </ns0:sp>
      <ns0:sp>
        <ns0:nvSpPr>
          <ns0:cNvPr id="920909486" name="Prospects bullet 1"/>
          <ns0:cNvSpPr/>
          <ns0:nvPr/>
        </ns0:nvSpPr>
        <ns0:spPr bwMode="auto">
          <ns1:xfrm>
            <ns1:off x="6373368" y="3260288"/>
            <ns1:ext cx="91440" cy="91440"/>
          </ns1:xfrm>
          <ns1:prstGeom prst="ellipse">
            <ns1:avLst/>
          </ns1:prstGeom>
          <ns1:solidFill>
            <ns1:srgbClr val="D2A45C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 sz="2000"/>
          </ns1:p>
        </ns0:txBody>
      </ns0:sp>
      <ns0:sp>
        <ns0:nvSpPr>
          <ns0:cNvPr id="1307292800" name="Prospects item 1"/>
          <ns0:cNvSpPr txBox="1"/>
          <ns0:nvPr/>
        </ns0:nvSpPr>
        <ns0:spPr bwMode="auto">
          <ns1:xfrm>
            <ns1:off x="6565392" y="3168848"/>
            <ns1:ext cx="1920240" cy="384048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t"/>
          <ns1:lstStyle/>
          <ns1:p>
            <ns1:pPr algn="l">
              <ns1:defRPr/>
            </ns1:pPr>
            <ns1:r>
              <ns1:rPr lang="ru-RU" sz="1100" b="0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Развитие ритм-механики</ns1:t>
            </ns1:r>
            <ns1:endParaRPr lang="ru-RU" sz="1100"/>
          </ns1:p>
        </ns0:txBody>
      </ns0:sp>
      <ns0:sp>
        <ns0:nvSpPr>
          <ns0:cNvPr id="430387379" name="Prospects bullet 2"/>
          <ns0:cNvSpPr/>
          <ns0:nvPr/>
        </ns0:nvSpPr>
        <ns0:spPr bwMode="auto">
          <ns1:xfrm>
            <ns1:off x="6373368" y="3754064"/>
            <ns1:ext cx="91440" cy="91440"/>
          </ns1:xfrm>
          <ns1:prstGeom prst="ellipse">
            <ns1:avLst/>
          </ns1:prstGeom>
          <ns1:solidFill>
            <ns1:srgbClr val="D2A45C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 sz="2000"/>
          </ns1:p>
        </ns0:txBody>
      </ns0:sp>
      <ns0:sp>
        <ns0:nvSpPr>
          <ns0:cNvPr id="357179764" name="Prospects item 2"/>
          <ns0:cNvSpPr txBox="1"/>
          <ns0:nvPr/>
        </ns0:nvSpPr>
        <ns0:spPr bwMode="auto">
          <ns1:xfrm>
            <ns1:off x="6565392" y="3662624"/>
            <ns1:ext cx="1920240" cy="384048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t"/>
          <ns1:lstStyle/>
          <ns1:p>
            <ns1:pPr algn="l">
              <ns1:defRPr/>
            </ns1:pPr>
            <ns1:r>
              <ns1:rPr lang="ru-RU" sz="1100" b="0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Улучшение визуальных эффектов</ns1:t>
            </ns1:r>
            <ns1:endParaRPr lang="ru-RU" sz="1100"/>
          </ns1:p>
        </ns0:txBody>
      </ns0:sp>
      <ns0:sp>
        <ns0:nvSpPr>
          <ns0:cNvPr id="23841861" name="Prospects bullet 3"/>
          <ns0:cNvSpPr/>
          <ns0:nvPr/>
        </ns0:nvSpPr>
        <ns0:spPr bwMode="auto">
          <ns1:xfrm>
            <ns1:off x="6373368" y="4247840"/>
            <ns1:ext cx="91440" cy="91440"/>
          </ns1:xfrm>
          <ns1:prstGeom prst="ellipse">
            <ns1:avLst/>
          </ns1:prstGeom>
          <ns1:solidFill>
            <ns1:srgbClr val="D2A45C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 sz="2000"/>
          </ns1:p>
        </ns0:txBody>
      </ns0:sp>
      <ns0:sp>
        <ns0:nvSpPr>
          <ns0:cNvPr id="153013905" name="Prospects item 3"/>
          <ns0:cNvSpPr txBox="1"/>
          <ns0:nvPr/>
        </ns0:nvSpPr>
        <ns0:spPr bwMode="auto">
          <ns1:xfrm>
            <ns1:off x="6565392" y="4156400"/>
            <ns1:ext cx="1920240" cy="384048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18288" rIns="18288" bIns="18288" anchor="t"/>
          <ns1:lstStyle/>
          <ns1:p>
            <ns1:pPr algn="l">
              <ns1:defRPr/>
            </ns1:pPr>
            <ns1:r>
              <ns1:rPr lang="ru-RU" sz="1100" b="0">
                <ns1:solidFill>
                  <ns1:srgbClr val="F8E5B8"/>
                </ns1:solidFill>
                <ns1:latin typeface="Bellota"/>
                <ns1:ea typeface="Bellota"/>
                <ns1:cs typeface="Bellota"/>
              </ns1:rPr>
              <ns1:t>Возможность загружать свои карты и сюжетные ветки</ns1:t>
            </ns1:r>
            <ns1:endParaRPr lang="ru-RU" sz="1100"/>
          </ns1:p>
        </ns0:txBody>
      </ns0:sp>
      <ns0:sp>
        <ns0:nvSpPr>
          <ns0:cNvPr id="1528462416" name="Eyebrow marker"/>
          <ns0:cNvSpPr/>
          <ns0:nvPr/>
        </ns0:nvSpPr>
        <ns0:spPr bwMode="auto">
          <ns1:xfrm>
            <ns1:off x="647064" y="327440"/>
            <ns1:ext cx="119997" cy="329995"/>
          </ns1:xfrm>
          <ns1:prstGeom prst="rect">
            <ns1:avLst/>
          </ns1:prstGeom>
          <ns1:solidFill>
            <ns1:srgbClr val="FFDEA1"/>
          </ns1:solidFill>
          <ns1:ln>
            <ns1:noFill/>
          </ns1:ln>
        </ns0:spPr>
        <ns0:txBody>
          <ns1:bodyPr anchor="ctr"/>
          <ns1:p>
            <ns1:pPr algn="ctr">
              <ns1:defRPr/>
            </ns1:pPr>
            <ns1:endParaRPr>
              <ns1:latin typeface="Bellota"/>
              <ns1:cs typeface="Bellota"/>
            </ns1:endParaRPr>
          </ns1:p>
        </ns0:txBody>
      </ns0:sp>
      <ns0:sp>
        <ns0:nvSpPr>
          <ns0:cNvPr id="1061211149" name="Eyebrow"/>
          <ns0:cNvSpPr txBox="1"/>
          <ns0:nvPr/>
        </ns0:nvSpPr>
        <ns0:spPr bwMode="auto">
          <ns1:xfrm>
            <ns1:off x="867060" y="387441"/>
            <ns1:ext cx="4199995" cy="209997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0" tIns="0" rIns="0" bIns="0" anchor="t"/>
          <ns1:lstStyle/>
          <ns1:p>
            <ns1:pPr marL="0" indent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  <ns1:defRPr/>
            </ns1:pPr>
            <ns1:r>
              <ns1:rPr lang="ru-RU" sz="1600" b="1">
                <ns1:solidFill>
                  <ns1:srgbClr val="D2A45C"/>
                </ns1:solidFill>
                <ns1:latin typeface="Bellota"/>
                <ns1:ea typeface="Bellota"/>
                <ns1:cs typeface="Bellota"/>
              </ns1:rPr>
              <ns1:t>ИТОГИ РАЗРАБОТКИ</ns1:t>
            </ns1:r>
            <ns1:endParaRPr sz="1600">
              <ns1:latin typeface="Bellota"/>
              <ns1:cs typeface="Bellota"/>
            </ns1:endParaRPr>
          </ns1:p>
        </ns0:txBody>
      </ns0:sp>
      <ns0:sp>
        <ns0:nvSpPr>
          <ns0:cNvPr id="36042746" name=""/>
          <ns0:cNvSpPr/>
          <ns0:nvPr/>
        </ns0:nvSpPr>
        <ns0:spPr bwMode="auto">
          <ns1:xfrm rot="0" flipH="0" flipV="0">
            <ns1:off x="7972715" y="4829996"/>
            <ns1:ext cx="1111248" cy="291406"/>
          </ns1:xfrm>
          <ns1:prstGeom prst="rect">
            <ns1:avLst/>
          </ns1:prstGeom>
          <ns1:solidFill>
            <ns1:srgbClr val="241318"/>
          </ns1:solidFill>
          <ns1:ln w="12700" cap="flat" cmpd="sng" algn="ctr">
            <ns1:noFill/>
            <ns1:prstDash val="solid"/>
            <ns1:miter lim="800000"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/>
          <ns1:p>
            <ns1:pPr algn="ctr">
              <ns1:defRPr/>
            </ns1:pPr>
            <ns1:endParaRPr sz="2000">
              <ns1:solidFill>
                <ns1:schemeClr val="tx1"/>
              </ns1:solidFill>
              <ns1:latin typeface="Bellota"/>
              <ns1:cs typeface="Bellota"/>
            </ns1:endParaRPr>
          </ns1:p>
        </ns0:txBody>
      </ns0:sp>
    </ns0:spTree>
  </ns0:cSld>
  <ns0:clrMapOvr>
    <ns1:masterClrMapping/>
  </ns0:clrMapOvr>
  <ns2:AlternateContent>
    <ns2:Choice Requires="p159">
      <ns0:transition ns3:dur="250" advClick="1" spd="fast">
        <ns0:fade/>
      </ns0:transition>
    </ns2:Choice>
    <ns2:Fallback>
      <ns0:transition advClick="1" spd="fast">
        <ns0:fade/>
      </ns0:transition>
    </ns2:Fallback>
  </ns2:AlternateContent>
</ns0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51A21"/>
      </a:dk2>
      <a:lt2>
        <a:srgbClr val="F8E5B8"/>
      </a:lt2>
      <a:accent1>
        <a:srgbClr val="FFDEA1"/>
      </a:accent1>
      <a:accent2>
        <a:srgbClr val="C9954B"/>
      </a:accent2>
      <a:accent3>
        <a:srgbClr val="8B5B52"/>
      </a:accent3>
      <a:accent4>
        <a:srgbClr val="FFDEA1"/>
      </a:accent4>
      <a:accent5>
        <a:srgbClr val="D2A45C"/>
      </a:accent5>
      <a:accent6>
        <a:srgbClr val="F8E5B8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10</cp:revision>
  <dcterms:created xsi:type="dcterms:W3CDTF">2026-06-02T01:06:07Z</dcterms:created>
  <dcterms:modified xsi:type="dcterms:W3CDTF">2026-06-02T03:36:46Z</dcterms:modified>
</cp:coreProperties>
</file>