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81197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7132121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66220119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44651034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3832588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574940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3060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094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21646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6547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44226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На слайде показана проблема, которую решает Cuppa. Во многих ритм-играх акцент сделан только на действиях под музыку, а сюжет и атмосфера отходят на второй план. В Cuppa ритм-механика встроена в повествование: игрок работает бариста в вампирской кофейне, готовит напитки, получает очки, и результат влияет на развитие истории и концовку.</a:t>
            </a:r>
            <a:endParaRPr lang="ru-RU"/>
          </a:p>
        </p:txBody>
      </p:sp>
      <p:sp>
        <p:nvSpPr>
          <p:cNvPr id="1523834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2153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5393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Цель проекта — создать функциональный прототип игры Cuppa, который объединяет визуальную новеллу и ритм-механику в одном игровом цикле. Игрок общается с посетителями вампирской кофейни и готовит напитки в ритм-сценах. Точность прохождения влияет на очки, развитие истории и итоговую концовку. Для достижения цели были проанализированы аналоги, сформированы требования, спроектирована архитектура, реализованы модули в Godot и проведено тестирование.</a:t>
            </a:r>
            <a:endParaRPr lang="ru-RU"/>
          </a:p>
        </p:txBody>
      </p:sp>
      <p:sp>
        <p:nvSpPr>
          <p:cNvPr id="818649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176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6431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Для реализации проекта использовались Godot 4.6 и GDScript. Godot был выбран прежде всего из-за более стабильной работы в Linux по сравнению с Unity. Для учебного 2D-проекта также важны быстрая установка, небольшой размер и встроенные инструменты редактора. Структура проекта разделена на три основных модуля: Menu отвечает за меню, настройки и паузу; Novel — за пролог, диалоги и концовки; RhythmGame — за карты нот, игровой раунд и систему оценки. Ключевые сценарии дополнительно проверены на Linux и Windows.</a:t>
            </a:r>
            <a:endParaRPr lang="ru-RU"/>
          </a:p>
        </p:txBody>
      </p:sp>
      <p:sp>
        <p:nvSpPr>
          <p:cNvPr id="205708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06322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1318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Архитектура проекта построена так, чтобы ритм-сцена не существовала отдельно от истории. Игра разделена на модули, подмодули и общие компоненты. Основной цикл выглядит так: меню, пролог, новелла, приготовление напитка в ритм-сцене, показ результата и переход к концовке. После ритм-сцены пользователь возвращается в новеллу, где показывается реакция персонажа. Результат прохождения влияет на дальнейшее повествование. На слайде приведены диаграмма взаимосвязи модулей и диаграмма состояний; подробная структура игрового процесса также описана в пояснительной записке.</a:t>
            </a:r>
            <a:endParaRPr lang="ru-RU"/>
          </a:p>
        </p:txBody>
      </p:sp>
      <p:sp>
        <p:nvSpPr>
          <p:cNvPr id="20242569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2663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7579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Архитектура проекта построена так, чтобы ритм-сцена не существовала отдельно от истории. Игра разделена на модули, подмодули и общие компоненты. Основной цикл выглядит так: меню, пролог, новелла, приготовление напитка в ритм-сцене, показ результата и переход к концовке. После ритм-сцены пользователь возвращается в новеллу, где показывается реакция персонажа. Результат прохождения влияет на дальнейшее повествование. На слайде приведены диаграмма взаимосвязи модулей и диаграмма состояний; подробная структура игрового процесса также описана в пояснительной записке.</a:t>
            </a:r>
            <a:endParaRPr lang="ru-RU"/>
          </a:p>
        </p:txBody>
      </p:sp>
      <p:sp>
        <p:nvSpPr>
          <p:cNvPr id="196394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7E343B-C247-14EA-E52A-1D3041DEFEFA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308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3722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 ходе разработки визуальная часть проекта прошла несколько итераций. Сначала был создан механический прототип для проверки базового ввода и состояний. Затем появилась первая рабочая ритм-сцена с нотами, дорожками и подсчетом очков. Следующий этап связан с переработкой атмосферы: интерфейс был встроен в пространство кофейни, а визуальные элементы стали более цельными и читаемыми. Отдельно прорабатывалась визуальная обратная связь — отображение комбо и оценок попадания. На слайде скриншоты расположены в порядке развития представленного решения.</a:t>
            </a:r>
            <a:endParaRPr lang="ru-RU"/>
          </a:p>
        </p:txBody>
      </p:sp>
      <p:sp>
        <p:nvSpPr>
          <p:cNvPr id="2005005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57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53213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 результате работы создан функциональный прототип игры Cuppa, объединяющий визуальную новеллу и ритм-механику. Реализованы обычные и длинные ноты, система оценки точности, переходы между сценами и механизм выбора одной из двух концовок. Наиболее важными техническими задачами стали синхронизация нот с музыкой, обработка удержаний, управление состояниями игры и устойчивость к некорректным нотным картам. Апробация подтвердила прохождение ключевых сценариев и сопоставимое поведение на Linux и Windows, включая запуск в виртуализированной среде. Архитектура позволяет развивать проект без переработки основы: добавлять сюжетные ветки, композиции, визуальные эффекты и более сложные ритм-механики.</a:t>
            </a:r>
            <a:endParaRPr lang="ru-RU"/>
          </a:p>
        </p:txBody>
      </p:sp>
      <p:sp>
        <p:nvSpPr>
          <p:cNvPr id="17748899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6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8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0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4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6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8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5732777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35592038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732904809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2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2216087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25856128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877397728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3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1972551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04554870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409782548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4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436272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95351905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567686166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5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0779400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68528331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046079626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6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8226995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24938948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462539310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7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902515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21394080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311712390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8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1639768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52452944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568075621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9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4153192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16655642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029023492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Slide 10 master">
    <p:bg>
      <p:bgPr shadeToTitle="0">
        <a:solidFill>
          <a:srgbClr val="24131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3775928" name="Image 0" descr="preencoded.png"/>
          <p:cNvPicPr>
            <a:picLocks noChangeAspect="1"/>
          </p:cNvPicPr>
          <p:nvPr/>
        </p:nvPicPr>
        <p:blipFill rotWithShape="1">
          <a:blip r:embed="rId2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13012625" name="Shape 0"/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241318"/>
          </a:solidFill>
          <a:ln/>
        </p:spPr>
      </p:sp>
      <p:pic>
        <p:nvPicPr>
          <p:cNvPr id="1311584553" name="Image 1" descr="preencoded.png">
            <a:hlinkClick r:id="rId3" tooltip=""/>
          </p:cNvPr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551337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91812674" name="Shape 0"/>
          <p:cNvSpPr/>
          <p:nvPr/>
        </p:nvSpPr>
        <p:spPr bwMode="auto">
          <a:xfrm flipH="0" flipV="0">
            <a:off x="0" y="0"/>
            <a:ext cx="4121304" cy="5143500"/>
          </a:xfrm>
          <a:prstGeom prst="rect">
            <a:avLst/>
          </a:prstGeom>
          <a:solidFill>
            <a:srgbClr val="351A21"/>
          </a:solidFill>
          <a:ln/>
        </p:spPr>
      </p:sp>
      <p:sp>
        <p:nvSpPr>
          <p:cNvPr id="174678666" name="Text 1"/>
          <p:cNvSpPr/>
          <p:nvPr/>
        </p:nvSpPr>
        <p:spPr bwMode="auto">
          <a:xfrm flipH="0" flipV="0">
            <a:off x="4965365" y="1434385"/>
            <a:ext cx="3966749" cy="130188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rmAutofit fontScale="60000" lnSpcReduction="8000"/>
          </a:bodyPr>
          <a:lstStyle/>
          <a:p>
            <a:pPr marL="0" indent="0" algn="ctr">
              <a:lnSpc>
                <a:spcPct val="104000"/>
              </a:lnSpc>
              <a:buNone/>
              <a:defRPr/>
            </a:pPr>
            <a:r>
              <a:rPr lang="en-US" sz="11000" b="1">
                <a:solidFill>
                  <a:srgbClr val="FFDEA1"/>
                </a:solidFill>
                <a:latin typeface="Give You Glory"/>
                <a:ea typeface="Give You Glory"/>
                <a:cs typeface="Give You Glory"/>
              </a:rPr>
              <a:t> «Cuppa»</a:t>
            </a:r>
            <a:endParaRPr sz="11000" b="1">
              <a:latin typeface="Give You Glory"/>
              <a:cs typeface="Give You Glory"/>
            </a:endParaRPr>
          </a:p>
        </p:txBody>
      </p:sp>
      <p:sp>
        <p:nvSpPr>
          <p:cNvPr id="1406999632" name="Text 2"/>
          <p:cNvSpPr/>
          <p:nvPr/>
        </p:nvSpPr>
        <p:spPr bwMode="auto">
          <a:xfrm flipH="0" flipV="0">
            <a:off x="5412010" y="3640549"/>
            <a:ext cx="3550896" cy="613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33000"/>
              </a:lnSpc>
              <a:buNone/>
              <a:defRPr/>
            </a:pPr>
            <a:r>
              <a:rPr lang="ru-RU" sz="18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Выполнил </a:t>
            </a:r>
            <a:r>
              <a:rPr lang="ru-RU" sz="18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с</a:t>
            </a:r>
            <a:r>
              <a:rPr lang="en-US" sz="18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тудент:</a:t>
            </a:r>
            <a:r>
              <a:rPr lang="ru-RU" sz="18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 </a:t>
            </a:r>
            <a:endParaRPr lang="ru-RU" sz="1800">
              <a:solidFill>
                <a:srgbClr val="F8E5B8"/>
              </a:solidFill>
              <a:latin typeface="Bellota"/>
              <a:ea typeface="Bellota"/>
              <a:cs typeface="Bellota"/>
            </a:endParaRPr>
          </a:p>
          <a:p>
            <a:pPr marL="0" indent="0" algn="r">
              <a:lnSpc>
                <a:spcPct val="133000"/>
              </a:lnSpc>
              <a:buNone/>
              <a:defRPr/>
            </a:pPr>
            <a:r>
              <a:rPr lang="ru-RU" sz="18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Матешко Валерия Викторовна, </a:t>
            </a:r>
            <a:endParaRPr lang="ru-RU" sz="1800">
              <a:solidFill>
                <a:srgbClr val="F8E5B8"/>
              </a:solidFill>
              <a:latin typeface="Bellota"/>
              <a:ea typeface="Bellota"/>
              <a:cs typeface="Bellota"/>
            </a:endParaRPr>
          </a:p>
          <a:p>
            <a:pPr marL="0" indent="0" algn="r">
              <a:lnSpc>
                <a:spcPct val="133000"/>
              </a:lnSpc>
              <a:buNone/>
              <a:defRPr/>
            </a:pPr>
            <a:r>
              <a:rPr lang="ru-RU" sz="18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ИВТб-2302-05-00</a:t>
            </a:r>
            <a:endParaRPr lang="ru-RU" sz="1800">
              <a:solidFill>
                <a:srgbClr val="F8E5B8"/>
              </a:solidFill>
              <a:latin typeface="Bellota"/>
              <a:ea typeface="Bellota"/>
              <a:cs typeface="Bellota"/>
            </a:endParaRPr>
          </a:p>
        </p:txBody>
      </p:sp>
      <p:sp>
        <p:nvSpPr>
          <p:cNvPr id="164751899" name=""/>
          <p:cNvSpPr/>
          <p:nvPr/>
        </p:nvSpPr>
        <p:spPr bwMode="auto">
          <a:xfrm rot="0" flipH="0" flipV="0">
            <a:off x="7682825" y="4700380"/>
            <a:ext cx="1387336" cy="421032"/>
          </a:xfrm>
          <a:prstGeom prst="rect">
            <a:avLst/>
          </a:prstGeom>
          <a:solidFill>
            <a:srgbClr val="24131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bldLst>
      <p:bldP spid="17467866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175481" name="Divider"/>
          <p:cNvSpPr/>
          <p:nvPr/>
        </p:nvSpPr>
        <p:spPr bwMode="auto">
          <a:xfrm>
            <a:off x="6801684" y="0"/>
            <a:ext cx="100000" cy="5143500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1059484275" name="Eyebrow marker"/>
          <p:cNvSpPr/>
          <p:nvPr/>
        </p:nvSpPr>
        <p:spPr bwMode="auto">
          <a:xfrm>
            <a:off x="647065" y="327445"/>
            <a:ext cx="120000" cy="330000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1717003113" name="Eyebrow"/>
          <p:cNvSpPr txBox="1"/>
          <p:nvPr/>
        </p:nvSpPr>
        <p:spPr bwMode="auto">
          <a:xfrm>
            <a:off x="867064" y="387444"/>
            <a:ext cx="4200000" cy="2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АКТУАЛЬНОСТЬ ПРОЕКТА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1969513038" name="Title"/>
          <p:cNvSpPr txBox="1"/>
          <p:nvPr/>
        </p:nvSpPr>
        <p:spPr bwMode="auto">
          <a:xfrm flipH="0" flipV="0">
            <a:off x="647065" y="732663"/>
            <a:ext cx="4979999" cy="7444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6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Почему жанры стоит объединить?</a:t>
            </a:r>
            <a:endParaRPr sz="2600">
              <a:latin typeface="Bellota"/>
              <a:cs typeface="Bellota"/>
            </a:endParaRPr>
          </a:p>
        </p:txBody>
      </p:sp>
      <p:sp>
        <p:nvSpPr>
          <p:cNvPr id="352257632" name="Problem panel"/>
          <p:cNvSpPr/>
          <p:nvPr/>
        </p:nvSpPr>
        <p:spPr bwMode="auto">
          <a:xfrm flipH="0" flipV="0">
            <a:off x="647065" y="1707064"/>
            <a:ext cx="5372336" cy="922662"/>
          </a:xfrm>
          <a:prstGeom prst="roundRect">
            <a:avLst>
              <a:gd name="adj" fmla="val 16667"/>
            </a:avLst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1254640735" name="Problem text"/>
          <p:cNvSpPr txBox="1"/>
          <p:nvPr/>
        </p:nvSpPr>
        <p:spPr bwMode="auto">
          <a:xfrm flipH="0" flipV="0">
            <a:off x="927228" y="1866575"/>
            <a:ext cx="4291521" cy="46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50"/>
              </a:spcAft>
              <a:buNone/>
              <a:defRPr/>
            </a:pPr>
            <a:r>
              <a:rPr lang="ru-RU" sz="1200" b="1">
                <a:solidFill>
                  <a:srgbClr val="241318"/>
                </a:solidFill>
                <a:latin typeface="Bellota"/>
                <a:ea typeface="Bellota"/>
                <a:cs typeface="Bellota"/>
              </a:rPr>
              <a:t>ПРОБЛЕМА ЖАНРА</a:t>
            </a:r>
            <a:endParaRPr sz="1200">
              <a:latin typeface="Bellota"/>
              <a:cs typeface="Bellota"/>
            </a:endParaRPr>
          </a:p>
          <a:p>
            <a: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200">
                <a:solidFill>
                  <a:srgbClr val="241318"/>
                </a:solidFill>
                <a:latin typeface="Bellota"/>
                <a:ea typeface="Bellota"/>
                <a:cs typeface="Bellota"/>
              </a:rPr>
              <a:t>Во многих ритм-играх механика выходит на первый план, а сюжет и атмосфера остаются фоном.</a:t>
            </a:r>
            <a:endParaRPr sz="1200">
              <a:latin typeface="Bellota"/>
              <a:cs typeface="Bellota"/>
            </a:endParaRPr>
          </a:p>
        </p:txBody>
      </p:sp>
      <p:sp>
        <p:nvSpPr>
          <p:cNvPr id="588225094" name="Card 01"/>
          <p:cNvSpPr/>
          <p:nvPr/>
        </p:nvSpPr>
        <p:spPr bwMode="auto">
          <a:xfrm flipH="0" flipV="0">
            <a:off x="647065" y="2838641"/>
            <a:ext cx="5372336" cy="559999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70999502" name="Card number 01"/>
          <p:cNvSpPr txBox="1"/>
          <p:nvPr/>
        </p:nvSpPr>
        <p:spPr bwMode="auto">
          <a:xfrm>
            <a:off x="857064" y="2970641"/>
            <a:ext cx="51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01</a:t>
            </a:r>
            <a:endParaRPr sz="1400">
              <a:latin typeface="Bellota"/>
              <a:cs typeface="Bellota"/>
            </a:endParaRPr>
          </a:p>
        </p:txBody>
      </p:sp>
      <p:sp>
        <p:nvSpPr>
          <p:cNvPr id="249444128" name="Card divider 01"/>
          <p:cNvSpPr/>
          <p:nvPr/>
        </p:nvSpPr>
        <p:spPr bwMode="auto">
          <a:xfrm>
            <a:off x="1214510" y="2963640"/>
            <a:ext cx="22000" cy="310000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1973329403" name="Card text 01"/>
          <p:cNvSpPr txBox="1"/>
          <p:nvPr/>
        </p:nvSpPr>
        <p:spPr bwMode="auto">
          <a:xfrm>
            <a:off x="1359999" y="2916641"/>
            <a:ext cx="372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  <a:defRPr/>
            </a:pPr>
            <a:r>
              <a:rPr lang="ru-RU" sz="12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МУЗЫКА СОЗДАЁТ АТМОСФЕРУ</a:t>
            </a:r>
            <a:endParaRPr sz="1200">
              <a:solidFill>
                <a:srgbClr val="FFDEA1"/>
              </a:solidFill>
              <a:latin typeface="Bellota"/>
              <a:cs typeface="Bellota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100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Ритм работает не отдельно, а внутри событий игры.</a:t>
            </a:r>
            <a:endParaRPr sz="1100">
              <a:solidFill>
                <a:srgbClr val="FFDEA1"/>
              </a:solidFill>
              <a:latin typeface="Bellota"/>
              <a:cs typeface="Bellota"/>
            </a:endParaRPr>
          </a:p>
        </p:txBody>
      </p:sp>
      <p:sp>
        <p:nvSpPr>
          <p:cNvPr id="551928296" name="Card 02"/>
          <p:cNvSpPr/>
          <p:nvPr/>
        </p:nvSpPr>
        <p:spPr bwMode="auto">
          <a:xfrm flipH="0" flipV="0">
            <a:off x="647065" y="3548640"/>
            <a:ext cx="5372336" cy="559999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1481109682" name="Card number 02"/>
          <p:cNvSpPr txBox="1"/>
          <p:nvPr/>
        </p:nvSpPr>
        <p:spPr bwMode="auto">
          <a:xfrm>
            <a:off x="857064" y="3680641"/>
            <a:ext cx="51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3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02</a:t>
            </a:r>
            <a:endParaRPr sz="1300">
              <a:latin typeface="Bellota"/>
              <a:cs typeface="Bellota"/>
            </a:endParaRPr>
          </a:p>
        </p:txBody>
      </p:sp>
      <p:sp>
        <p:nvSpPr>
          <p:cNvPr id="1617230165" name="Card divider 02"/>
          <p:cNvSpPr/>
          <p:nvPr/>
        </p:nvSpPr>
        <p:spPr bwMode="auto">
          <a:xfrm>
            <a:off x="1214510" y="3673641"/>
            <a:ext cx="22000" cy="310000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1893106461" name="Card text 02"/>
          <p:cNvSpPr txBox="1"/>
          <p:nvPr/>
        </p:nvSpPr>
        <p:spPr bwMode="auto">
          <a:xfrm flipH="0" flipV="0">
            <a:off x="1360434" y="3626641"/>
            <a:ext cx="4226630" cy="40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  <a:defRPr/>
            </a:pPr>
            <a:r>
              <a:rPr lang="ru-RU" sz="12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ДВА ЖАНРА — ОДИН ОПЫТ</a:t>
            </a:r>
            <a:endParaRPr sz="1200">
              <a:latin typeface="Bellota"/>
              <a:cs typeface="Bellota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1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Новелла добавляет персонажей, диалоги и развитие истории.</a:t>
            </a:r>
            <a:endParaRPr sz="1100">
              <a:latin typeface="Bellota"/>
              <a:cs typeface="Bellota"/>
            </a:endParaRPr>
          </a:p>
        </p:txBody>
      </p:sp>
      <p:sp>
        <p:nvSpPr>
          <p:cNvPr id="1940239361" name="Card 03"/>
          <p:cNvSpPr/>
          <p:nvPr/>
        </p:nvSpPr>
        <p:spPr bwMode="auto">
          <a:xfrm flipH="0" flipV="0">
            <a:off x="647065" y="4258641"/>
            <a:ext cx="5372336" cy="559999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1301714803" name="Card number 03"/>
          <p:cNvSpPr txBox="1"/>
          <p:nvPr/>
        </p:nvSpPr>
        <p:spPr bwMode="auto">
          <a:xfrm>
            <a:off x="857064" y="4390641"/>
            <a:ext cx="51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3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03</a:t>
            </a:r>
            <a:endParaRPr sz="1300">
              <a:latin typeface="Bellota"/>
              <a:cs typeface="Bellota"/>
            </a:endParaRPr>
          </a:p>
        </p:txBody>
      </p:sp>
      <p:sp>
        <p:nvSpPr>
          <p:cNvPr id="886445179" name="Card divider 03"/>
          <p:cNvSpPr/>
          <p:nvPr/>
        </p:nvSpPr>
        <p:spPr bwMode="auto">
          <a:xfrm>
            <a:off x="1214510" y="4383641"/>
            <a:ext cx="22000" cy="310000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283859464" name="Card text 03"/>
          <p:cNvSpPr txBox="1"/>
          <p:nvPr/>
        </p:nvSpPr>
        <p:spPr bwMode="auto">
          <a:xfrm flipH="0" flipV="0">
            <a:off x="1359999" y="4336641"/>
            <a:ext cx="3962282" cy="40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50"/>
              </a:spcAft>
              <a:buNone/>
              <a:defRPr/>
            </a:pPr>
            <a:r>
              <a:rPr lang="ru-RU" sz="11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ДЕЙСТВИЯ ИМЕЮТ ПОСЛЕДСТВИЯ</a:t>
            </a:r>
            <a:endParaRPr sz="1100">
              <a:latin typeface="Bellota"/>
              <a:cs typeface="Bellota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0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Точность приготовления кофе влияет на очки и концовку.</a:t>
            </a:r>
            <a:endParaRPr sz="1000">
              <a:latin typeface="Bellota"/>
              <a:cs typeface="Bellota"/>
            </a:endParaRPr>
          </a:p>
        </p:txBody>
      </p:sp>
      <p:sp>
        <p:nvSpPr>
          <p:cNvPr id="1899116148" name=""/>
          <p:cNvSpPr/>
          <p:nvPr/>
        </p:nvSpPr>
        <p:spPr bwMode="auto">
          <a:xfrm rot="0" flipH="0" flipV="0">
            <a:off x="7682824" y="4700379"/>
            <a:ext cx="1387335" cy="421030"/>
          </a:xfrm>
          <a:prstGeom prst="rect">
            <a:avLst/>
          </a:prstGeom>
          <a:solidFill>
            <a:srgbClr val="24131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latin typeface="Bellota"/>
              <a:cs typeface="Bellot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bldLst>
      <p:bldP spid="196951303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637371" name="Title"/>
          <p:cNvSpPr txBox="1"/>
          <p:nvPr/>
        </p:nvSpPr>
        <p:spPr bwMode="auto">
          <a:xfrm>
            <a:off x="440000" y="800000"/>
            <a:ext cx="4900000" cy="4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26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Что должно быть создано?</a:t>
            </a:r>
            <a:endParaRPr sz="2600">
              <a:latin typeface="Bellota"/>
              <a:cs typeface="Bellota"/>
            </a:endParaRPr>
          </a:p>
        </p:txBody>
      </p:sp>
      <p:sp>
        <p:nvSpPr>
          <p:cNvPr id="1458763830" name="Tasks header"/>
          <p:cNvSpPr txBox="1"/>
          <p:nvPr/>
        </p:nvSpPr>
        <p:spPr bwMode="auto">
          <a:xfrm flipH="0" flipV="0">
            <a:off x="439999" y="2407445"/>
            <a:ext cx="2742608" cy="20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ЗАДАЧИ РАЗРАБОТКИ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227078620" name="Task 01"/>
          <p:cNvSpPr/>
          <p:nvPr/>
        </p:nvSpPr>
        <p:spPr bwMode="auto">
          <a:xfrm flipH="0" flipV="0">
            <a:off x="425422" y="2790978"/>
            <a:ext cx="4802119" cy="332146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9525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>
              <a:latin typeface="Bellota"/>
              <a:cs typeface="Bellota"/>
            </a:endParaRPr>
          </a:p>
        </p:txBody>
      </p:sp>
      <p:sp>
        <p:nvSpPr>
          <p:cNvPr id="1457674112" name="Task number 01"/>
          <p:cNvSpPr txBox="1"/>
          <p:nvPr/>
        </p:nvSpPr>
        <p:spPr bwMode="auto">
          <a:xfrm flipH="0" flipV="0">
            <a:off x="595422" y="2857978"/>
            <a:ext cx="405241" cy="151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01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1702710649" name="Task divider 01"/>
          <p:cNvSpPr/>
          <p:nvPr/>
        </p:nvSpPr>
        <p:spPr bwMode="auto">
          <a:xfrm flipH="0" flipV="0">
            <a:off x="1085421" y="2847978"/>
            <a:ext cx="45720" cy="198122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600">
              <a:latin typeface="Bellota"/>
              <a:cs typeface="Bellota"/>
            </a:endParaRPr>
          </a:p>
        </p:txBody>
      </p:sp>
      <p:sp>
        <p:nvSpPr>
          <p:cNvPr id="674810213" name="Task text 01"/>
          <p:cNvSpPr txBox="1"/>
          <p:nvPr/>
        </p:nvSpPr>
        <p:spPr bwMode="auto">
          <a:xfrm flipH="0" flipV="0">
            <a:off x="1275422" y="2851977"/>
            <a:ext cx="3586393" cy="1748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Проанализировать аналоги и механики</a:t>
            </a:r>
            <a:endParaRPr sz="1200">
              <a:latin typeface="Bellota"/>
              <a:cs typeface="Bellota"/>
            </a:endParaRPr>
          </a:p>
        </p:txBody>
      </p:sp>
      <p:sp>
        <p:nvSpPr>
          <p:cNvPr id="1588018165" name="Task 02"/>
          <p:cNvSpPr/>
          <p:nvPr/>
        </p:nvSpPr>
        <p:spPr bwMode="auto">
          <a:xfrm flipH="0" flipV="0">
            <a:off x="425422" y="3185488"/>
            <a:ext cx="4802119" cy="332146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9525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>
              <a:latin typeface="Bellota"/>
              <a:cs typeface="Bellota"/>
            </a:endParaRPr>
          </a:p>
        </p:txBody>
      </p:sp>
      <p:sp>
        <p:nvSpPr>
          <p:cNvPr id="1485154318" name="Task number 02"/>
          <p:cNvSpPr txBox="1"/>
          <p:nvPr/>
        </p:nvSpPr>
        <p:spPr bwMode="auto">
          <a:xfrm flipH="0" flipV="0">
            <a:off x="595422" y="3252489"/>
            <a:ext cx="405241" cy="151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02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1290011217" name="Task divider 02"/>
          <p:cNvSpPr/>
          <p:nvPr/>
        </p:nvSpPr>
        <p:spPr bwMode="auto">
          <a:xfrm flipH="0" flipV="0">
            <a:off x="1085421" y="3242489"/>
            <a:ext cx="45720" cy="198122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600">
              <a:latin typeface="Bellota"/>
              <a:cs typeface="Bellota"/>
            </a:endParaRPr>
          </a:p>
        </p:txBody>
      </p:sp>
      <p:sp>
        <p:nvSpPr>
          <p:cNvPr id="1034465526" name="Task text 02"/>
          <p:cNvSpPr txBox="1"/>
          <p:nvPr/>
        </p:nvSpPr>
        <p:spPr bwMode="auto">
          <a:xfrm flipH="0" flipV="0">
            <a:off x="1275422" y="3246489"/>
            <a:ext cx="3586393" cy="1748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Сформировать требования к прототипу</a:t>
            </a:r>
            <a:endParaRPr sz="1200">
              <a:latin typeface="Bellota"/>
              <a:cs typeface="Bellota"/>
            </a:endParaRPr>
          </a:p>
        </p:txBody>
      </p:sp>
      <p:sp>
        <p:nvSpPr>
          <p:cNvPr id="3674330" name="Task 03"/>
          <p:cNvSpPr/>
          <p:nvPr/>
        </p:nvSpPr>
        <p:spPr bwMode="auto">
          <a:xfrm flipH="0" flipV="0">
            <a:off x="425422" y="3579999"/>
            <a:ext cx="4802119" cy="332146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9525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>
              <a:latin typeface="Bellota"/>
              <a:cs typeface="Bellota"/>
            </a:endParaRPr>
          </a:p>
        </p:txBody>
      </p:sp>
      <p:sp>
        <p:nvSpPr>
          <p:cNvPr id="526825895" name="Task number 03"/>
          <p:cNvSpPr txBox="1"/>
          <p:nvPr/>
        </p:nvSpPr>
        <p:spPr bwMode="auto">
          <a:xfrm flipH="0" flipV="0">
            <a:off x="595422" y="3646999"/>
            <a:ext cx="405241" cy="151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03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995940257" name="Task divider 03"/>
          <p:cNvSpPr/>
          <p:nvPr/>
        </p:nvSpPr>
        <p:spPr bwMode="auto">
          <a:xfrm flipH="0" flipV="0">
            <a:off x="1085421" y="3636999"/>
            <a:ext cx="45720" cy="198122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600">
              <a:latin typeface="Bellota"/>
              <a:cs typeface="Bellota"/>
            </a:endParaRPr>
          </a:p>
        </p:txBody>
      </p:sp>
      <p:sp>
        <p:nvSpPr>
          <p:cNvPr id="838707008" name="Task text 03"/>
          <p:cNvSpPr txBox="1"/>
          <p:nvPr/>
        </p:nvSpPr>
        <p:spPr bwMode="auto">
          <a:xfrm flipH="0" flipV="0">
            <a:off x="1275422" y="3640999"/>
            <a:ext cx="3897675" cy="1748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Спроектировать архитектуру и состояния</a:t>
            </a:r>
            <a:endParaRPr sz="1200">
              <a:latin typeface="Bellota"/>
              <a:cs typeface="Bellota"/>
            </a:endParaRPr>
          </a:p>
        </p:txBody>
      </p:sp>
      <p:sp>
        <p:nvSpPr>
          <p:cNvPr id="1698890183" name="Task 04"/>
          <p:cNvSpPr/>
          <p:nvPr/>
        </p:nvSpPr>
        <p:spPr bwMode="auto">
          <a:xfrm flipH="0" flipV="0">
            <a:off x="425422" y="3974510"/>
            <a:ext cx="4802119" cy="332146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9525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>
              <a:latin typeface="Bellota"/>
              <a:cs typeface="Bellota"/>
            </a:endParaRPr>
          </a:p>
        </p:txBody>
      </p:sp>
      <p:sp>
        <p:nvSpPr>
          <p:cNvPr id="138026994" name="Task number 04"/>
          <p:cNvSpPr txBox="1"/>
          <p:nvPr/>
        </p:nvSpPr>
        <p:spPr bwMode="auto">
          <a:xfrm flipH="0" flipV="0">
            <a:off x="595422" y="4041510"/>
            <a:ext cx="405241" cy="151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04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993813855" name="Task divider 04"/>
          <p:cNvSpPr/>
          <p:nvPr/>
        </p:nvSpPr>
        <p:spPr bwMode="auto">
          <a:xfrm flipH="0" flipV="0">
            <a:off x="1085421" y="4031509"/>
            <a:ext cx="45720" cy="198122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600">
              <a:latin typeface="Bellota"/>
              <a:cs typeface="Bellota"/>
            </a:endParaRPr>
          </a:p>
        </p:txBody>
      </p:sp>
      <p:sp>
        <p:nvSpPr>
          <p:cNvPr id="1049692119" name="Task text 04"/>
          <p:cNvSpPr txBox="1"/>
          <p:nvPr/>
        </p:nvSpPr>
        <p:spPr bwMode="auto">
          <a:xfrm flipH="0" flipV="0">
            <a:off x="1275422" y="4035510"/>
            <a:ext cx="3586393" cy="1748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Реализовать модули игры</a:t>
            </a:r>
            <a:endParaRPr sz="1200">
              <a:latin typeface="Bellota"/>
              <a:cs typeface="Bellota"/>
            </a:endParaRPr>
          </a:p>
        </p:txBody>
      </p:sp>
      <p:sp>
        <p:nvSpPr>
          <p:cNvPr id="721339910" name="Task 05"/>
          <p:cNvSpPr/>
          <p:nvPr/>
        </p:nvSpPr>
        <p:spPr bwMode="auto">
          <a:xfrm flipH="0" flipV="0">
            <a:off x="425422" y="4369021"/>
            <a:ext cx="4802119" cy="332146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9525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600">
              <a:latin typeface="Bellota"/>
              <a:cs typeface="Bellota"/>
            </a:endParaRPr>
          </a:p>
        </p:txBody>
      </p:sp>
      <p:sp>
        <p:nvSpPr>
          <p:cNvPr id="1358675258" name="Task number 05"/>
          <p:cNvSpPr txBox="1"/>
          <p:nvPr/>
        </p:nvSpPr>
        <p:spPr bwMode="auto">
          <a:xfrm flipH="0" flipV="0">
            <a:off x="595422" y="4436021"/>
            <a:ext cx="405241" cy="1515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05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1366492908" name="Task divider 05"/>
          <p:cNvSpPr/>
          <p:nvPr/>
        </p:nvSpPr>
        <p:spPr bwMode="auto">
          <a:xfrm flipH="0" flipV="0">
            <a:off x="1085421" y="4426021"/>
            <a:ext cx="45720" cy="198122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600">
              <a:latin typeface="Bellota"/>
              <a:cs typeface="Bellota"/>
            </a:endParaRPr>
          </a:p>
        </p:txBody>
      </p:sp>
      <p:sp>
        <p:nvSpPr>
          <p:cNvPr id="1616695738" name="Task text 05"/>
          <p:cNvSpPr txBox="1"/>
          <p:nvPr/>
        </p:nvSpPr>
        <p:spPr bwMode="auto">
          <a:xfrm flipH="0" flipV="0">
            <a:off x="1275422" y="4430021"/>
            <a:ext cx="3897675" cy="17481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Определить дальнейшее развитие</a:t>
            </a:r>
            <a:endParaRPr sz="1200">
              <a:latin typeface="Bellota"/>
              <a:cs typeface="Bellota"/>
            </a:endParaRPr>
          </a:p>
        </p:txBody>
      </p:sp>
      <p:sp>
        <p:nvSpPr>
          <p:cNvPr id="1744048598" name="Visual background"/>
          <p:cNvSpPr/>
          <p:nvPr/>
        </p:nvSpPr>
        <p:spPr bwMode="auto">
          <a:xfrm>
            <a:off x="5450000" y="320000"/>
            <a:ext cx="3300000" cy="4490000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9050">
            <a:solidFill>
              <a:srgbClr val="FFDEA1"/>
            </a:solidFill>
            <a:prstDash val="solid"/>
          </a:ln>
        </p:spPr>
      </p:sp>
      <p:sp>
        <p:nvSpPr>
          <p:cNvPr id="727456891" name="Visual header"/>
          <p:cNvSpPr txBox="1"/>
          <p:nvPr/>
        </p:nvSpPr>
        <p:spPr bwMode="auto">
          <a:xfrm>
            <a:off x="5739999" y="500978"/>
            <a:ext cx="270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ОДИН ИГРОВОЙ ЦИКЛ</a:t>
            </a:r>
            <a:endParaRPr sz="1200">
              <a:latin typeface="Bellota"/>
              <a:cs typeface="Bellota"/>
            </a:endParaRPr>
          </a:p>
        </p:txBody>
      </p:sp>
      <p:pic>
        <p:nvPicPr>
          <p:cNvPr id="1119156706" name="Dialogue screensho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679999" y="810624"/>
            <a:ext cx="2790000" cy="1569375"/>
          </a:xfrm>
          <a:prstGeom prst="rect">
            <a:avLst/>
          </a:prstGeom>
          <a:ln w="19050">
            <a:solidFill>
              <a:srgbClr val="FFDEA1"/>
            </a:solidFill>
          </a:ln>
        </p:spPr>
      </p:pic>
      <p:sp>
        <p:nvSpPr>
          <p:cNvPr id="1911163093" name="Dialogue label text"/>
          <p:cNvSpPr txBox="1"/>
          <p:nvPr/>
        </p:nvSpPr>
        <p:spPr bwMode="auto">
          <a:xfrm>
            <a:off x="6390000" y="2444999"/>
            <a:ext cx="1370000" cy="1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9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01  /  ДИАЛОГИ</a:t>
            </a:r>
            <a:endParaRPr sz="900">
              <a:latin typeface="Bellota"/>
              <a:cs typeface="Bellota"/>
            </a:endParaRPr>
          </a:p>
        </p:txBody>
      </p:sp>
      <p:pic>
        <p:nvPicPr>
          <p:cNvPr id="1232263736" name="Rhythm screenshot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683970" y="2858666"/>
            <a:ext cx="2790000" cy="1569375"/>
          </a:xfrm>
          <a:prstGeom prst="rect">
            <a:avLst/>
          </a:prstGeom>
          <a:ln w="19050">
            <a:solidFill>
              <a:srgbClr val="FFDEA1"/>
            </a:solidFill>
          </a:ln>
        </p:spPr>
      </p:pic>
      <p:sp>
        <p:nvSpPr>
          <p:cNvPr id="1157415965" name="Rhythm label text"/>
          <p:cNvSpPr txBox="1"/>
          <p:nvPr/>
        </p:nvSpPr>
        <p:spPr bwMode="auto">
          <a:xfrm>
            <a:off x="6289999" y="4504144"/>
            <a:ext cx="1570000" cy="1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9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02  /  РИТМ-СЦЕНА</a:t>
            </a:r>
            <a:endParaRPr sz="900">
              <a:latin typeface="Bellota"/>
              <a:cs typeface="Bellota"/>
            </a:endParaRPr>
          </a:p>
        </p:txBody>
      </p:sp>
      <p:sp>
        <p:nvSpPr>
          <p:cNvPr id="498135672" name=""/>
          <p:cNvSpPr/>
          <p:nvPr/>
        </p:nvSpPr>
        <p:spPr bwMode="auto">
          <a:xfrm rot="0" flipH="0" flipV="0">
            <a:off x="7972717" y="4829998"/>
            <a:ext cx="1111249" cy="291407"/>
          </a:xfrm>
          <a:prstGeom prst="rect">
            <a:avLst/>
          </a:prstGeom>
          <a:solidFill>
            <a:srgbClr val="24131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latin typeface="Bellota"/>
              <a:cs typeface="Bellota"/>
            </a:endParaRPr>
          </a:p>
        </p:txBody>
      </p:sp>
      <p:sp>
        <p:nvSpPr>
          <p:cNvPr id="1174831298" name="Eyebrow marker"/>
          <p:cNvSpPr/>
          <p:nvPr/>
        </p:nvSpPr>
        <p:spPr bwMode="auto">
          <a:xfrm>
            <a:off x="647064" y="327444"/>
            <a:ext cx="119999" cy="329999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87125269" name="Eyebrow"/>
          <p:cNvSpPr txBox="1"/>
          <p:nvPr/>
        </p:nvSpPr>
        <p:spPr bwMode="auto">
          <a:xfrm>
            <a:off x="867064" y="387443"/>
            <a:ext cx="4199999" cy="20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ЦЕЛЬ И ЗАДАЧИ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1199917227" name="Problem panel"/>
          <p:cNvSpPr/>
          <p:nvPr/>
        </p:nvSpPr>
        <p:spPr bwMode="auto">
          <a:xfrm flipH="0" flipV="0">
            <a:off x="439999" y="1327228"/>
            <a:ext cx="4802119" cy="872771"/>
          </a:xfrm>
          <a:prstGeom prst="roundRect">
            <a:avLst>
              <a:gd name="adj" fmla="val 16667"/>
            </a:avLst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163020829" name="Problem text"/>
          <p:cNvSpPr txBox="1"/>
          <p:nvPr/>
        </p:nvSpPr>
        <p:spPr bwMode="auto">
          <a:xfrm flipH="0" flipV="0">
            <a:off x="582119" y="1454021"/>
            <a:ext cx="4590978" cy="469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499"/>
              </a:spcAft>
              <a:buNone/>
              <a:defRPr/>
            </a:pPr>
            <a:r>
              <a:rPr lang="ru-RU" sz="1200" b="1" i="0" u="none" strike="noStrike" cap="none" spc="0">
                <a:solidFill>
                  <a:srgbClr val="241318"/>
                </a:solidFill>
                <a:latin typeface="Bellota"/>
                <a:ea typeface="Bellota"/>
                <a:cs typeface="Bellota"/>
              </a:rPr>
              <a:t>ЦЕЛЬ ПРОЕКТА</a:t>
            </a:r>
            <a:endParaRPr sz="1200">
              <a:latin typeface="Bellota"/>
              <a:cs typeface="Bellota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49"/>
              </a:spcAft>
              <a:buNone/>
              <a:defRPr/>
            </a:pPr>
            <a:r>
              <a:rPr lang="ru-RU" sz="1200" b="1" i="0" u="none" strike="noStrike" cap="none" spc="0">
                <a:solidFill>
                  <a:srgbClr val="241318"/>
                </a:solidFill>
                <a:latin typeface="Bellota"/>
                <a:ea typeface="Bellota"/>
                <a:cs typeface="Bellota"/>
              </a:rPr>
              <a:t>Создать функциональный прототип «Cuppa», </a:t>
            </a:r>
            <a:r>
              <a:rPr lang="ru-RU" sz="1200" b="0" i="0" u="none" strike="noStrike" cap="none" spc="0">
                <a:solidFill>
                  <a:srgbClr val="241318"/>
                </a:solidFill>
                <a:latin typeface="Bellota"/>
                <a:ea typeface="Bellota"/>
                <a:cs typeface="Bellota"/>
              </a:rPr>
              <a:t>где результат ритм сцен влияет на развитие  концовки визуальной новеллы.</a:t>
            </a:r>
            <a:endParaRPr sz="1200">
              <a:latin typeface="Bellota"/>
              <a:cs typeface="Bellota"/>
            </a:endParaRPr>
          </a:p>
          <a:p>
            <a:pPr>
              <a:defRPr/>
            </a:pPr>
            <a:endParaRPr/>
          </a:p>
        </p:txBody>
      </p:sp>
      <p:cxnSp>
        <p:nvCxnSpPr>
          <p:cNvPr id="250989536" name=""/>
          <p:cNvCxnSpPr/>
          <p:nvPr/>
        </p:nvCxnSpPr>
        <p:spPr bwMode="auto">
          <a:xfrm flipH="1" flipV="0">
            <a:off x="7099999" y="2599656"/>
            <a:ext cx="0" cy="191320"/>
          </a:xfrm>
          <a:prstGeom prst="line">
            <a:avLst/>
          </a:prstGeom>
          <a:ln w="38100" cap="flat" cmpd="sng" algn="ctr">
            <a:solidFill>
              <a:srgbClr val="FFDEA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bldLst>
      <p:bldP spid="44463737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377932" name="Title"/>
          <p:cNvSpPr txBox="1"/>
          <p:nvPr/>
        </p:nvSpPr>
        <p:spPr bwMode="auto">
          <a:xfrm flipH="0" flipV="0">
            <a:off x="336467" y="799999"/>
            <a:ext cx="5419999" cy="47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95000"/>
              </a:lnSpc>
              <a:spcAft>
                <a:spcPts val="0"/>
              </a:spcAft>
              <a:buNone/>
              <a:defRPr/>
            </a:pPr>
            <a:r>
              <a:rPr lang="ru-RU" sz="25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Инструменты для 2D-прототипа</a:t>
            </a:r>
            <a:endParaRPr lang="ru-RU" sz="2500"/>
          </a:p>
        </p:txBody>
      </p:sp>
      <p:sp>
        <p:nvSpPr>
          <p:cNvPr id="587735004" name="Engine panel"/>
          <p:cNvSpPr/>
          <p:nvPr/>
        </p:nvSpPr>
        <p:spPr bwMode="auto">
          <a:xfrm>
            <a:off x="405488" y="1513532"/>
            <a:ext cx="4810000" cy="940000"/>
          </a:xfrm>
          <a:prstGeom prst="roundRect">
            <a:avLst>
              <a:gd name="adj" fmla="val 16667"/>
            </a:avLst>
          </a:prstGeom>
          <a:solidFill>
            <a:srgbClr val="FFDEA1"/>
          </a:solidFill>
          <a:ln>
            <a:noFill/>
          </a:ln>
        </p:spPr>
      </p:sp>
      <p:sp>
        <p:nvSpPr>
          <p:cNvPr id="1478827574" name="Engine label"/>
          <p:cNvSpPr txBox="1"/>
          <p:nvPr/>
        </p:nvSpPr>
        <p:spPr bwMode="auto">
          <a:xfrm>
            <a:off x="655489" y="1683532"/>
            <a:ext cx="2200000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351A21"/>
                </a:solidFill>
                <a:latin typeface="Bellota"/>
                <a:ea typeface="Bellota"/>
                <a:cs typeface="Bellota"/>
              </a:rPr>
              <a:t>ОСНОВНОЙ СТЕК</a:t>
            </a:r>
            <a:endParaRPr sz="1200" b="1"/>
          </a:p>
        </p:txBody>
      </p:sp>
      <p:sp>
        <p:nvSpPr>
          <p:cNvPr id="1848094862" name="Engine name"/>
          <p:cNvSpPr txBox="1"/>
          <p:nvPr/>
        </p:nvSpPr>
        <p:spPr bwMode="auto">
          <a:xfrm>
            <a:off x="655489" y="1889021"/>
            <a:ext cx="245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2500" b="1">
                <a:solidFill>
                  <a:srgbClr val="241318"/>
                </a:solidFill>
                <a:latin typeface="Bellota"/>
                <a:ea typeface="Bellota"/>
                <a:cs typeface="Bellota"/>
              </a:rPr>
              <a:t>Godot 4.6</a:t>
            </a:r>
            <a:endParaRPr lang="ru-RU" sz="2500"/>
          </a:p>
        </p:txBody>
      </p:sp>
      <p:sp>
        <p:nvSpPr>
          <p:cNvPr id="1932406320" name="Engine divider"/>
          <p:cNvSpPr/>
          <p:nvPr/>
        </p:nvSpPr>
        <p:spPr bwMode="auto">
          <a:xfrm>
            <a:off x="3146467" y="1753532"/>
            <a:ext cx="18000" cy="500000"/>
          </a:xfrm>
          <a:prstGeom prst="rect">
            <a:avLst/>
          </a:prstGeom>
          <a:solidFill>
            <a:srgbClr val="C9954B"/>
          </a:solidFill>
          <a:ln>
            <a:noFill/>
          </a:ln>
        </p:spPr>
      </p:sp>
      <p:sp>
        <p:nvSpPr>
          <p:cNvPr id="898698004" name="Language name"/>
          <p:cNvSpPr txBox="1"/>
          <p:nvPr/>
        </p:nvSpPr>
        <p:spPr bwMode="auto">
          <a:xfrm>
            <a:off x="3475488" y="1794509"/>
            <a:ext cx="145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2000" b="1">
                <a:solidFill>
                  <a:srgbClr val="241318"/>
                </a:solidFill>
                <a:latin typeface="Bellota"/>
                <a:ea typeface="Bellota"/>
                <a:cs typeface="Bellota"/>
              </a:rPr>
              <a:t>GDScript</a:t>
            </a:r>
            <a:endParaRPr lang="ru-RU" sz="2000"/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000">
                <a:solidFill>
                  <a:srgbClr val="351A21"/>
                </a:solidFill>
                <a:latin typeface="Bellota"/>
                <a:ea typeface="Bellota"/>
                <a:cs typeface="Bellota"/>
              </a:rPr>
              <a:t>сценарная логика</a:t>
            </a:r>
            <a:endParaRPr lang="ru-RU" sz="1000"/>
          </a:p>
        </p:txBody>
      </p:sp>
      <p:sp>
        <p:nvSpPr>
          <p:cNvPr id="2001318573" name="Reasons title"/>
          <p:cNvSpPr txBox="1"/>
          <p:nvPr/>
        </p:nvSpPr>
        <p:spPr bwMode="auto">
          <a:xfrm>
            <a:off x="405488" y="2733531"/>
            <a:ext cx="220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ПОЧЕМУ </a:t>
            </a:r>
            <a:r>
              <a:rPr lang="ru-RU" sz="16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GODOT</a:t>
            </a:r>
            <a:endParaRPr sz="1600"/>
          </a:p>
        </p:txBody>
      </p:sp>
      <p:sp>
        <p:nvSpPr>
          <p:cNvPr id="970767327" name="Reason 01"/>
          <p:cNvSpPr/>
          <p:nvPr/>
        </p:nvSpPr>
        <p:spPr bwMode="auto">
          <a:xfrm>
            <a:off x="370978" y="3088043"/>
            <a:ext cx="2260000" cy="390000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461388245" name="Reason number 01"/>
          <p:cNvSpPr txBox="1"/>
          <p:nvPr/>
        </p:nvSpPr>
        <p:spPr bwMode="auto">
          <a:xfrm>
            <a:off x="471956" y="3198043"/>
            <a:ext cx="34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01</a:t>
            </a:r>
            <a:endParaRPr lang="ru-RU" sz="1400"/>
          </a:p>
        </p:txBody>
      </p:sp>
      <p:sp>
        <p:nvSpPr>
          <p:cNvPr id="1423960422" name="Reason divider 01"/>
          <p:cNvSpPr/>
          <p:nvPr/>
        </p:nvSpPr>
        <p:spPr bwMode="auto">
          <a:xfrm>
            <a:off x="773912" y="3173043"/>
            <a:ext cx="14000" cy="220000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017682745" name="Reason text 01"/>
          <p:cNvSpPr txBox="1"/>
          <p:nvPr/>
        </p:nvSpPr>
        <p:spPr bwMode="auto">
          <a:xfrm flipH="0" flipV="0">
            <a:off x="832552" y="3166043"/>
            <a:ext cx="1908914" cy="23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1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Стабильная разработка</a:t>
            </a:r>
            <a:endParaRPr lang="ru-RU" sz="1100"/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1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в среде Linux</a:t>
            </a:r>
            <a:endParaRPr lang="ru-RU" sz="1100"/>
          </a:p>
        </p:txBody>
      </p:sp>
      <p:sp>
        <p:nvSpPr>
          <p:cNvPr id="1436574171" name="Reason 02"/>
          <p:cNvSpPr/>
          <p:nvPr/>
        </p:nvSpPr>
        <p:spPr bwMode="auto">
          <a:xfrm>
            <a:off x="2820978" y="3088043"/>
            <a:ext cx="2260000" cy="390000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751231782" name="Reason number 02"/>
          <p:cNvSpPr txBox="1"/>
          <p:nvPr/>
        </p:nvSpPr>
        <p:spPr bwMode="auto">
          <a:xfrm>
            <a:off x="2887445" y="3198043"/>
            <a:ext cx="34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02</a:t>
            </a:r>
            <a:endParaRPr lang="ru-RU" sz="1400"/>
          </a:p>
        </p:txBody>
      </p:sp>
      <p:sp>
        <p:nvSpPr>
          <p:cNvPr id="1588150142" name="Reason divider 02"/>
          <p:cNvSpPr/>
          <p:nvPr/>
        </p:nvSpPr>
        <p:spPr bwMode="auto">
          <a:xfrm>
            <a:off x="3189402" y="3173043"/>
            <a:ext cx="14000" cy="220000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219869932" name="Reason text 02"/>
          <p:cNvSpPr txBox="1"/>
          <p:nvPr/>
        </p:nvSpPr>
        <p:spPr bwMode="auto">
          <a:xfrm flipH="0" flipV="0">
            <a:off x="3313749" y="3166043"/>
            <a:ext cx="1617228" cy="23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1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Быстрая установка</a:t>
            </a:r>
            <a:endParaRPr lang="ru-RU" sz="1100"/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1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и небольшой размер</a:t>
            </a:r>
            <a:endParaRPr lang="ru-RU" sz="1100"/>
          </a:p>
        </p:txBody>
      </p:sp>
      <p:sp>
        <p:nvSpPr>
          <p:cNvPr id="1107073585" name="Reason 03"/>
          <p:cNvSpPr/>
          <p:nvPr/>
        </p:nvSpPr>
        <p:spPr bwMode="auto">
          <a:xfrm>
            <a:off x="370978" y="3608043"/>
            <a:ext cx="2260000" cy="390000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444892466" name="Reason number 03"/>
          <p:cNvSpPr txBox="1"/>
          <p:nvPr/>
        </p:nvSpPr>
        <p:spPr bwMode="auto">
          <a:xfrm>
            <a:off x="471956" y="3718043"/>
            <a:ext cx="34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03</a:t>
            </a:r>
            <a:endParaRPr lang="ru-RU" sz="1400"/>
          </a:p>
        </p:txBody>
      </p:sp>
      <p:sp>
        <p:nvSpPr>
          <p:cNvPr id="1174497982" name="Reason divider 03"/>
          <p:cNvSpPr/>
          <p:nvPr/>
        </p:nvSpPr>
        <p:spPr bwMode="auto">
          <a:xfrm>
            <a:off x="773912" y="3693043"/>
            <a:ext cx="14000" cy="220000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81054733" name="Reason text 03"/>
          <p:cNvSpPr txBox="1"/>
          <p:nvPr/>
        </p:nvSpPr>
        <p:spPr bwMode="auto">
          <a:xfrm flipH="0" flipV="0">
            <a:off x="832552" y="3686043"/>
            <a:ext cx="1908914" cy="23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1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Встроенные инструменты</a:t>
            </a:r>
            <a:endParaRPr lang="ru-RU" sz="1100"/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1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редактора</a:t>
            </a:r>
            <a:endParaRPr lang="ru-RU" sz="1100"/>
          </a:p>
        </p:txBody>
      </p:sp>
      <p:sp>
        <p:nvSpPr>
          <p:cNvPr id="1639271051" name="Reason 04"/>
          <p:cNvSpPr/>
          <p:nvPr/>
        </p:nvSpPr>
        <p:spPr bwMode="auto">
          <a:xfrm>
            <a:off x="2820978" y="3608043"/>
            <a:ext cx="2260000" cy="390000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405413930" name="Reason number 04"/>
          <p:cNvSpPr txBox="1"/>
          <p:nvPr/>
        </p:nvSpPr>
        <p:spPr bwMode="auto">
          <a:xfrm>
            <a:off x="2921956" y="3718043"/>
            <a:ext cx="340000" cy="1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04</a:t>
            </a:r>
            <a:endParaRPr lang="ru-RU" sz="1400"/>
          </a:p>
        </p:txBody>
      </p:sp>
      <p:sp>
        <p:nvSpPr>
          <p:cNvPr id="1373773995" name="Reason divider 04"/>
          <p:cNvSpPr/>
          <p:nvPr/>
        </p:nvSpPr>
        <p:spPr bwMode="auto">
          <a:xfrm>
            <a:off x="3223913" y="3693043"/>
            <a:ext cx="14000" cy="220000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167819753" name="Reason text 04"/>
          <p:cNvSpPr txBox="1"/>
          <p:nvPr/>
        </p:nvSpPr>
        <p:spPr bwMode="auto">
          <a:xfrm flipH="0" flipV="0">
            <a:off x="3313749" y="3686043"/>
            <a:ext cx="1617228" cy="23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100" b="1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Удобная структура</a:t>
            </a:r>
            <a:endParaRPr lang="ru-RU" sz="1100"/>
          </a:p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1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сцен и узлов</a:t>
            </a:r>
            <a:endParaRPr lang="ru-RU" sz="1100"/>
          </a:p>
        </p:txBody>
      </p:sp>
      <p:sp>
        <p:nvSpPr>
          <p:cNvPr id="147978194" name="Modules panel"/>
          <p:cNvSpPr/>
          <p:nvPr/>
        </p:nvSpPr>
        <p:spPr bwMode="auto">
          <a:xfrm>
            <a:off x="5580000" y="320000"/>
            <a:ext cx="3100000" cy="4490000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</p:sp>
      <p:sp>
        <p:nvSpPr>
          <p:cNvPr id="1798173016" name="Modules title"/>
          <p:cNvSpPr txBox="1"/>
          <p:nvPr/>
        </p:nvSpPr>
        <p:spPr bwMode="auto">
          <a:xfrm>
            <a:off x="5860000" y="590000"/>
            <a:ext cx="2540000" cy="1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МОДУЛЬНАЯ </a:t>
            </a:r>
            <a:r>
              <a:rPr lang="ru-RU" sz="12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ОРГАНИЗАЦИЯ</a:t>
            </a:r>
            <a:endParaRPr sz="1200"/>
          </a:p>
        </p:txBody>
      </p:sp>
      <p:sp>
        <p:nvSpPr>
          <p:cNvPr id="1837552238" name="Modules subtitle"/>
          <p:cNvSpPr txBox="1"/>
          <p:nvPr/>
        </p:nvSpPr>
        <p:spPr bwMode="auto">
          <a:xfrm>
            <a:off x="5860000" y="850000"/>
            <a:ext cx="25400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1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Проект разделён по зонам ответственности</a:t>
            </a:r>
            <a:endParaRPr lang="ru-RU" sz="1100"/>
          </a:p>
        </p:txBody>
      </p:sp>
      <p:sp>
        <p:nvSpPr>
          <p:cNvPr id="1173616840" name="Module MENU"/>
          <p:cNvSpPr/>
          <p:nvPr/>
        </p:nvSpPr>
        <p:spPr bwMode="auto">
          <a:xfrm>
            <a:off x="5860000" y="1280000"/>
            <a:ext cx="2540000" cy="680000"/>
          </a:xfrm>
          <a:prstGeom prst="roundRect">
            <a:avLst>
              <a:gd name="adj" fmla="val 16667"/>
            </a:avLst>
          </a:prstGeom>
          <a:solidFill>
            <a:srgbClr val="241318"/>
          </a:solidFill>
          <a:ln w="12700">
            <a:solidFill>
              <a:srgbClr val="FFDEA1"/>
            </a:solidFill>
            <a:prstDash val="solid"/>
          </a:ln>
        </p:spPr>
      </p:sp>
      <p:sp>
        <p:nvSpPr>
          <p:cNvPr id="1240665032" name="Module number box MENU"/>
          <p:cNvSpPr/>
          <p:nvPr/>
        </p:nvSpPr>
        <p:spPr bwMode="auto">
          <a:xfrm>
            <a:off x="6035982" y="1449999"/>
            <a:ext cx="430000" cy="340000"/>
          </a:xfrm>
          <a:prstGeom prst="roundRect">
            <a:avLst>
              <a:gd name="adj" fmla="val 16667"/>
            </a:avLst>
          </a:prstGeom>
          <a:solidFill>
            <a:srgbClr val="FFDEA1"/>
          </a:solidFill>
          <a:ln>
            <a:noFill/>
          </a:ln>
        </p:spPr>
      </p:sp>
      <p:sp>
        <p:nvSpPr>
          <p:cNvPr id="757133519" name="Module number MENU"/>
          <p:cNvSpPr txBox="1"/>
          <p:nvPr/>
        </p:nvSpPr>
        <p:spPr bwMode="auto">
          <a:xfrm>
            <a:off x="6035982" y="1559017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241318"/>
                </a:solidFill>
                <a:latin typeface="Bellota"/>
                <a:ea typeface="Bellota"/>
                <a:cs typeface="Bellota"/>
              </a:rPr>
              <a:t>01</a:t>
            </a:r>
            <a:endParaRPr lang="ru-RU" sz="1200"/>
          </a:p>
        </p:txBody>
      </p:sp>
      <p:sp>
        <p:nvSpPr>
          <p:cNvPr id="89142108" name="Module title MENU"/>
          <p:cNvSpPr txBox="1"/>
          <p:nvPr/>
        </p:nvSpPr>
        <p:spPr bwMode="auto">
          <a:xfrm>
            <a:off x="6700000" y="1425000"/>
            <a:ext cx="1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Меню</a:t>
            </a:r>
            <a:endParaRPr lang="ru-RU" sz="1400"/>
          </a:p>
        </p:txBody>
      </p:sp>
      <p:sp>
        <p:nvSpPr>
          <p:cNvPr id="617811938" name="Module detail MENU"/>
          <p:cNvSpPr txBox="1"/>
          <p:nvPr/>
        </p:nvSpPr>
        <p:spPr bwMode="auto">
          <a:xfrm>
            <a:off x="6700000" y="1640000"/>
            <a:ext cx="1450000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95000"/>
              </a:lnSpc>
              <a:spcAft>
                <a:spcPts val="0"/>
              </a:spcAft>
              <a:buNone/>
              <a:defRPr/>
            </a:pPr>
            <a:r>
              <a:rPr lang="ru-RU" sz="8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главное меню  •  настройки  •  пауза</a:t>
            </a:r>
            <a:endParaRPr lang="ru-RU" sz="800"/>
          </a:p>
        </p:txBody>
      </p:sp>
      <p:sp>
        <p:nvSpPr>
          <p:cNvPr id="241250780" name="Module NOVEL"/>
          <p:cNvSpPr/>
          <p:nvPr/>
        </p:nvSpPr>
        <p:spPr bwMode="auto">
          <a:xfrm>
            <a:off x="5860000" y="2210000"/>
            <a:ext cx="2540000" cy="680000"/>
          </a:xfrm>
          <a:prstGeom prst="roundRect">
            <a:avLst>
              <a:gd name="adj" fmla="val 16667"/>
            </a:avLst>
          </a:prstGeom>
          <a:solidFill>
            <a:srgbClr val="241318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229405592" name="Module number box NOVEL"/>
          <p:cNvSpPr/>
          <p:nvPr/>
        </p:nvSpPr>
        <p:spPr bwMode="auto">
          <a:xfrm>
            <a:off x="6035982" y="2379999"/>
            <a:ext cx="430000" cy="340000"/>
          </a:xfrm>
          <a:prstGeom prst="roundRect">
            <a:avLst>
              <a:gd name="adj" fmla="val 16667"/>
            </a:avLst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78072542" name="Module number NOVEL"/>
          <p:cNvSpPr txBox="1"/>
          <p:nvPr/>
        </p:nvSpPr>
        <p:spPr bwMode="auto">
          <a:xfrm>
            <a:off x="6035982" y="2489017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241318"/>
                </a:solidFill>
                <a:latin typeface="Bellota"/>
                <a:ea typeface="Bellota"/>
                <a:cs typeface="Bellota"/>
              </a:rPr>
              <a:t>02</a:t>
            </a:r>
            <a:endParaRPr lang="ru-RU" sz="1200"/>
          </a:p>
        </p:txBody>
      </p:sp>
      <p:sp>
        <p:nvSpPr>
          <p:cNvPr id="1499654691" name="Module title NOVEL"/>
          <p:cNvSpPr txBox="1"/>
          <p:nvPr/>
        </p:nvSpPr>
        <p:spPr bwMode="auto">
          <a:xfrm>
            <a:off x="6700000" y="2355000"/>
            <a:ext cx="1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Новелла</a:t>
            </a:r>
            <a:endParaRPr lang="ru-RU" sz="1400"/>
          </a:p>
        </p:txBody>
      </p:sp>
      <p:sp>
        <p:nvSpPr>
          <p:cNvPr id="1754012888" name="Module detail NOVEL"/>
          <p:cNvSpPr txBox="1"/>
          <p:nvPr/>
        </p:nvSpPr>
        <p:spPr bwMode="auto">
          <a:xfrm flipH="0" flipV="0">
            <a:off x="6699999" y="2569999"/>
            <a:ext cx="1553428" cy="14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95000"/>
              </a:lnSpc>
              <a:spcAft>
                <a:spcPts val="0"/>
              </a:spcAft>
              <a:buNone/>
              <a:defRPr/>
            </a:pPr>
            <a:r>
              <a:rPr lang="ru-RU" sz="8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пролог  •  диалоги  •  концовки</a:t>
            </a:r>
            <a:endParaRPr lang="ru-RU" sz="800"/>
          </a:p>
        </p:txBody>
      </p:sp>
      <p:sp>
        <p:nvSpPr>
          <p:cNvPr id="1843618119" name="Module RHYTHMGAME"/>
          <p:cNvSpPr/>
          <p:nvPr/>
        </p:nvSpPr>
        <p:spPr bwMode="auto">
          <a:xfrm>
            <a:off x="5860000" y="3140000"/>
            <a:ext cx="2540000" cy="680000"/>
          </a:xfrm>
          <a:prstGeom prst="roundRect">
            <a:avLst>
              <a:gd name="adj" fmla="val 16667"/>
            </a:avLst>
          </a:prstGeom>
          <a:solidFill>
            <a:srgbClr val="241318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254079170" name="Module number box RHYTHMGAME"/>
          <p:cNvSpPr/>
          <p:nvPr/>
        </p:nvSpPr>
        <p:spPr bwMode="auto">
          <a:xfrm>
            <a:off x="6035982" y="3309999"/>
            <a:ext cx="430000" cy="340000"/>
          </a:xfrm>
          <a:prstGeom prst="roundRect">
            <a:avLst>
              <a:gd name="adj" fmla="val 16667"/>
            </a:avLst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639227484" name="Module number RHYTHMGAME"/>
          <p:cNvSpPr txBox="1"/>
          <p:nvPr/>
        </p:nvSpPr>
        <p:spPr bwMode="auto">
          <a:xfrm>
            <a:off x="6035982" y="3419017"/>
            <a:ext cx="430000" cy="1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241318"/>
                </a:solidFill>
                <a:latin typeface="Bellota"/>
                <a:ea typeface="Bellota"/>
                <a:cs typeface="Bellota"/>
              </a:rPr>
              <a:t>03</a:t>
            </a:r>
            <a:endParaRPr lang="ru-RU" sz="1200"/>
          </a:p>
        </p:txBody>
      </p:sp>
      <p:sp>
        <p:nvSpPr>
          <p:cNvPr id="1400745065" name="Module title RHYTHMGAME"/>
          <p:cNvSpPr txBox="1"/>
          <p:nvPr/>
        </p:nvSpPr>
        <p:spPr bwMode="auto">
          <a:xfrm>
            <a:off x="6700000" y="3285000"/>
            <a:ext cx="14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4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Ритм-игра</a:t>
            </a:r>
            <a:endParaRPr lang="ru-RU" sz="1400"/>
          </a:p>
        </p:txBody>
      </p:sp>
      <p:sp>
        <p:nvSpPr>
          <p:cNvPr id="2092419690" name="Module detail RHYTHMGAME"/>
          <p:cNvSpPr txBox="1"/>
          <p:nvPr/>
        </p:nvSpPr>
        <p:spPr bwMode="auto">
          <a:xfrm>
            <a:off x="6700000" y="3500000"/>
            <a:ext cx="1450000" cy="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95000"/>
              </a:lnSpc>
              <a:spcAft>
                <a:spcPts val="0"/>
              </a:spcAft>
              <a:buNone/>
              <a:defRPr/>
            </a:pPr>
            <a:r>
              <a:rPr lang="ru-RU" sz="80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карты нот  •  раунд  •  система оценки</a:t>
            </a:r>
            <a:endParaRPr lang="ru-RU" sz="800"/>
          </a:p>
        </p:txBody>
      </p:sp>
      <p:sp>
        <p:nvSpPr>
          <p:cNvPr id="383512460" name="Modules note"/>
          <p:cNvSpPr txBox="1"/>
          <p:nvPr/>
        </p:nvSpPr>
        <p:spPr bwMode="auto">
          <a:xfrm flipH="0" flipV="0">
            <a:off x="5756467" y="4201964"/>
            <a:ext cx="2728282" cy="23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000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Сцены и скрипты остаются разделёнными,</a:t>
            </a:r>
            <a:endParaRPr sz="1000">
              <a:solidFill>
                <a:srgbClr val="FFDEA1"/>
              </a:solidFill>
            </a:endParaRPr>
          </a:p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000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но работают как единый игровой цикл.</a:t>
            </a:r>
            <a:endParaRPr sz="1000">
              <a:solidFill>
                <a:srgbClr val="FFDEA1"/>
              </a:solidFill>
            </a:endParaRPr>
          </a:p>
        </p:txBody>
      </p:sp>
      <p:sp>
        <p:nvSpPr>
          <p:cNvPr id="870826384" name="Eyebrow marker"/>
          <p:cNvSpPr/>
          <p:nvPr/>
        </p:nvSpPr>
        <p:spPr bwMode="auto">
          <a:xfrm>
            <a:off x="647064" y="327443"/>
            <a:ext cx="119997" cy="329998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846282013" name="Eyebrow"/>
          <p:cNvSpPr txBox="1"/>
          <p:nvPr/>
        </p:nvSpPr>
        <p:spPr bwMode="auto">
          <a:xfrm>
            <a:off x="867063" y="387442"/>
            <a:ext cx="4199998" cy="209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ВЫБОР ТЕХНОЛОГИЙ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1241447051" name=""/>
          <p:cNvSpPr/>
          <p:nvPr/>
        </p:nvSpPr>
        <p:spPr bwMode="auto">
          <a:xfrm rot="0" flipH="0" flipV="0">
            <a:off x="7682823" y="4857750"/>
            <a:ext cx="1387334" cy="263658"/>
          </a:xfrm>
          <a:prstGeom prst="rect">
            <a:avLst/>
          </a:prstGeom>
          <a:solidFill>
            <a:srgbClr val="24131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latin typeface="Bellota"/>
              <a:cs typeface="Bellot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bldLst>
      <p:bldP spid="14833779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17088" name="Flow panel"/>
          <p:cNvSpPr/>
          <p:nvPr/>
        </p:nvSpPr>
        <p:spPr bwMode="auto">
          <a:xfrm>
            <a:off x="439999" y="819891"/>
            <a:ext cx="8260000" cy="690000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418614267" name="Flow label"/>
          <p:cNvSpPr txBox="1"/>
          <p:nvPr/>
        </p:nvSpPr>
        <p:spPr bwMode="auto">
          <a:xfrm flipH="0" flipV="0">
            <a:off x="669999" y="915380"/>
            <a:ext cx="2089999" cy="13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ИГРОВОЙ </a:t>
            </a:r>
            <a:r>
              <a:rPr lang="ru-RU" sz="12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ЦИКЛ</a:t>
            </a:r>
            <a:endParaRPr sz="1200">
              <a:solidFill>
                <a:srgbClr val="FFDEA1"/>
              </a:solidFill>
            </a:endParaRPr>
          </a:p>
        </p:txBody>
      </p:sp>
      <p:sp>
        <p:nvSpPr>
          <p:cNvPr id="1037556521" name="Flow node 01"/>
          <p:cNvSpPr/>
          <p:nvPr/>
        </p:nvSpPr>
        <p:spPr bwMode="auto">
          <a:xfrm flipH="0" flipV="0">
            <a:off x="724016" y="1159890"/>
            <a:ext cx="1039999" cy="229999"/>
          </a:xfrm>
          <a:prstGeom prst="roundRect">
            <a:avLst>
              <a:gd name="adj" fmla="val 16667"/>
            </a:avLst>
          </a:prstGeom>
          <a:solidFill>
            <a:srgbClr val="241318"/>
          </a:solidFill>
          <a:ln w="9525">
            <a:solidFill>
              <a:srgbClr val="FFDEA1"/>
            </a:solidFill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266261415" name="Flow text 01"/>
          <p:cNvSpPr txBox="1"/>
          <p:nvPr/>
        </p:nvSpPr>
        <p:spPr bwMode="auto">
          <a:xfrm>
            <a:off x="724017" y="1209891"/>
            <a:ext cx="104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9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МЕНЮ</a:t>
            </a:r>
            <a:endParaRPr lang="ru-RU" sz="900"/>
          </a:p>
        </p:txBody>
      </p:sp>
      <p:sp>
        <p:nvSpPr>
          <p:cNvPr id="125124107" name="Flow node 02"/>
          <p:cNvSpPr/>
          <p:nvPr/>
        </p:nvSpPr>
        <p:spPr bwMode="auto">
          <a:xfrm>
            <a:off x="2034017" y="1159891"/>
            <a:ext cx="1040000" cy="230000"/>
          </a:xfrm>
          <a:prstGeom prst="roundRect">
            <a:avLst>
              <a:gd name="adj" fmla="val 16667"/>
            </a:avLst>
          </a:prstGeom>
          <a:solidFill>
            <a:srgbClr val="241318"/>
          </a:solidFill>
          <a:ln w="9525">
            <a:solidFill>
              <a:srgbClr val="FFDEA1"/>
            </a:solidFill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403700560" name="Flow text 02"/>
          <p:cNvSpPr txBox="1"/>
          <p:nvPr/>
        </p:nvSpPr>
        <p:spPr bwMode="auto">
          <a:xfrm>
            <a:off x="2034017" y="1209891"/>
            <a:ext cx="104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9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ПРОЛОГ</a:t>
            </a:r>
            <a:endParaRPr lang="ru-RU" sz="900"/>
          </a:p>
        </p:txBody>
      </p:sp>
      <p:sp>
        <p:nvSpPr>
          <p:cNvPr id="1576589780" name="Flow node 03"/>
          <p:cNvSpPr/>
          <p:nvPr/>
        </p:nvSpPr>
        <p:spPr bwMode="auto">
          <a:xfrm>
            <a:off x="3344017" y="1159891"/>
            <a:ext cx="1040000" cy="230000"/>
          </a:xfrm>
          <a:prstGeom prst="roundRect">
            <a:avLst>
              <a:gd name="adj" fmla="val 16667"/>
            </a:avLst>
          </a:prstGeom>
          <a:solidFill>
            <a:srgbClr val="241318"/>
          </a:solidFill>
          <a:ln w="9525">
            <a:solidFill>
              <a:srgbClr val="FFDEA1"/>
            </a:solidFill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342513162" name="Flow text 03"/>
          <p:cNvSpPr txBox="1"/>
          <p:nvPr/>
        </p:nvSpPr>
        <p:spPr bwMode="auto">
          <a:xfrm>
            <a:off x="3344017" y="1209891"/>
            <a:ext cx="104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9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НОВЕЛЛА</a:t>
            </a:r>
            <a:endParaRPr lang="ru-RU" sz="900"/>
          </a:p>
        </p:txBody>
      </p:sp>
      <p:sp>
        <p:nvSpPr>
          <p:cNvPr id="733181133" name="Flow node 04"/>
          <p:cNvSpPr/>
          <p:nvPr/>
        </p:nvSpPr>
        <p:spPr bwMode="auto">
          <a:xfrm>
            <a:off x="4654017" y="1159891"/>
            <a:ext cx="1040000" cy="230000"/>
          </a:xfrm>
          <a:prstGeom prst="roundRect">
            <a:avLst>
              <a:gd name="adj" fmla="val 16667"/>
            </a:avLst>
          </a:prstGeom>
          <a:solidFill>
            <a:srgbClr val="241318"/>
          </a:solidFill>
          <a:ln w="9525">
            <a:solidFill>
              <a:srgbClr val="FFDEA1"/>
            </a:solidFill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962885393" name="Flow text 04"/>
          <p:cNvSpPr txBox="1"/>
          <p:nvPr/>
        </p:nvSpPr>
        <p:spPr bwMode="auto">
          <a:xfrm>
            <a:off x="4654017" y="1209891"/>
            <a:ext cx="104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9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РИТМ-СЦЕНА</a:t>
            </a:r>
            <a:endParaRPr lang="ru-RU" sz="900"/>
          </a:p>
        </p:txBody>
      </p:sp>
      <p:sp>
        <p:nvSpPr>
          <p:cNvPr id="1976219785" name="Flow node 05"/>
          <p:cNvSpPr/>
          <p:nvPr/>
        </p:nvSpPr>
        <p:spPr bwMode="auto">
          <a:xfrm>
            <a:off x="5964017" y="1159891"/>
            <a:ext cx="1040000" cy="230000"/>
          </a:xfrm>
          <a:prstGeom prst="roundRect">
            <a:avLst>
              <a:gd name="adj" fmla="val 16667"/>
            </a:avLst>
          </a:prstGeom>
          <a:solidFill>
            <a:srgbClr val="241318"/>
          </a:solidFill>
          <a:ln w="9525">
            <a:solidFill>
              <a:srgbClr val="FFDEA1"/>
            </a:solidFill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364520804" name="Flow text 05"/>
          <p:cNvSpPr txBox="1"/>
          <p:nvPr/>
        </p:nvSpPr>
        <p:spPr bwMode="auto">
          <a:xfrm>
            <a:off x="5964017" y="1209891"/>
            <a:ext cx="104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9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РЕЗУЛЬТАТ</a:t>
            </a:r>
            <a:endParaRPr lang="ru-RU" sz="900"/>
          </a:p>
        </p:txBody>
      </p:sp>
      <p:sp>
        <p:nvSpPr>
          <p:cNvPr id="983132890" name="Flow node 06"/>
          <p:cNvSpPr/>
          <p:nvPr/>
        </p:nvSpPr>
        <p:spPr bwMode="auto">
          <a:xfrm>
            <a:off x="7274017" y="1159891"/>
            <a:ext cx="1040000" cy="230000"/>
          </a:xfrm>
          <a:prstGeom prst="roundRect">
            <a:avLst>
              <a:gd name="adj" fmla="val 16667"/>
            </a:avLst>
          </a:prstGeom>
          <a:solidFill>
            <a:srgbClr val="241318"/>
          </a:solidFill>
          <a:ln w="9525">
            <a:solidFill>
              <a:srgbClr val="FFDEA1"/>
            </a:solidFill>
          </a:ln>
        </p:spPr>
        <p:txBody>
          <a:bodyPr anchor="ctr"/>
          <a:p>
            <a:pPr algn="ctr">
              <a:defRPr/>
            </a:pPr>
            <a:endParaRPr sz="2400"/>
          </a:p>
        </p:txBody>
      </p:sp>
      <p:sp>
        <p:nvSpPr>
          <p:cNvPr id="1554973792" name="Flow text 06"/>
          <p:cNvSpPr txBox="1"/>
          <p:nvPr/>
        </p:nvSpPr>
        <p:spPr bwMode="auto">
          <a:xfrm>
            <a:off x="7274017" y="1209891"/>
            <a:ext cx="1040000" cy="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9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КОНЦОВКА</a:t>
            </a:r>
            <a:endParaRPr lang="ru-RU" sz="900"/>
          </a:p>
        </p:txBody>
      </p:sp>
      <p:sp>
        <p:nvSpPr>
          <p:cNvPr id="994337850" name="Modules heading"/>
          <p:cNvSpPr txBox="1"/>
          <p:nvPr/>
        </p:nvSpPr>
        <p:spPr bwMode="auto">
          <a:xfrm flipH="0" flipV="0">
            <a:off x="3261349" y="1657837"/>
            <a:ext cx="2481228" cy="16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ВЗАИМОСВЯЗЬ МОДУЛЕЙ</a:t>
            </a:r>
            <a:endParaRPr lang="ru-RU" sz="1200"/>
          </a:p>
        </p:txBody>
      </p:sp>
      <p:pic>
        <p:nvPicPr>
          <p:cNvPr id="1582143309" name="Modules diagram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21098" y="1885782"/>
            <a:ext cx="4265839" cy="3089918"/>
          </a:xfrm>
          <a:prstGeom prst="rect">
            <a:avLst/>
          </a:prstGeom>
        </p:spPr>
      </p:pic>
      <p:sp>
        <p:nvSpPr>
          <p:cNvPr id="1774395905" name="Eyebrow marker"/>
          <p:cNvSpPr/>
          <p:nvPr/>
        </p:nvSpPr>
        <p:spPr bwMode="auto">
          <a:xfrm>
            <a:off x="647064" y="327442"/>
            <a:ext cx="119997" cy="329997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709468396" name="Eyebrow"/>
          <p:cNvSpPr txBox="1"/>
          <p:nvPr/>
        </p:nvSpPr>
        <p:spPr bwMode="auto">
          <a:xfrm>
            <a:off x="867062" y="387441"/>
            <a:ext cx="4199997" cy="209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АРХИТЕКТУРА ПРОЕКТА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1746025082" name=""/>
          <p:cNvSpPr/>
          <p:nvPr/>
        </p:nvSpPr>
        <p:spPr bwMode="auto">
          <a:xfrm rot="0" flipH="0" flipV="0">
            <a:off x="7972716" y="4829997"/>
            <a:ext cx="1111249" cy="291407"/>
          </a:xfrm>
          <a:prstGeom prst="rect">
            <a:avLst/>
          </a:prstGeom>
          <a:solidFill>
            <a:srgbClr val="24131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latin typeface="Bellota"/>
              <a:cs typeface="Bellota"/>
            </a:endParaRPr>
          </a:p>
        </p:txBody>
      </p:sp>
      <p:cxnSp>
        <p:nvCxnSpPr>
          <p:cNvPr id="949833414" name=""/>
          <p:cNvCxnSpPr/>
          <p:nvPr/>
        </p:nvCxnSpPr>
        <p:spPr bwMode="auto">
          <a:xfrm flipH="0" flipV="0">
            <a:off x="1831657" y="1265464"/>
            <a:ext cx="136071" cy="0"/>
          </a:xfrm>
          <a:prstGeom prst="line">
            <a:avLst/>
          </a:prstGeom>
          <a:ln w="19050" cap="flat" cmpd="sng" algn="ctr">
            <a:solidFill>
              <a:srgbClr val="FFDEA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789432" name=""/>
          <p:cNvCxnSpPr/>
          <p:nvPr/>
        </p:nvCxnSpPr>
        <p:spPr bwMode="auto">
          <a:xfrm flipH="0" flipV="0">
            <a:off x="3146666" y="1253777"/>
            <a:ext cx="136071" cy="0"/>
          </a:xfrm>
          <a:prstGeom prst="line">
            <a:avLst/>
          </a:prstGeom>
          <a:ln w="19050" cap="flat" cmpd="sng" algn="ctr">
            <a:solidFill>
              <a:srgbClr val="FFDEA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9772682" name=""/>
          <p:cNvCxnSpPr/>
          <p:nvPr/>
        </p:nvCxnSpPr>
        <p:spPr bwMode="auto">
          <a:xfrm flipH="0" flipV="0">
            <a:off x="4433928" y="1265464"/>
            <a:ext cx="136071" cy="0"/>
          </a:xfrm>
          <a:prstGeom prst="line">
            <a:avLst/>
          </a:prstGeom>
          <a:ln w="19050" cap="flat" cmpd="sng" algn="ctr">
            <a:solidFill>
              <a:srgbClr val="FFDEA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5546275" name=""/>
          <p:cNvCxnSpPr/>
          <p:nvPr/>
        </p:nvCxnSpPr>
        <p:spPr bwMode="auto">
          <a:xfrm flipH="0" flipV="0">
            <a:off x="5741949" y="1265464"/>
            <a:ext cx="136071" cy="0"/>
          </a:xfrm>
          <a:prstGeom prst="line">
            <a:avLst/>
          </a:prstGeom>
          <a:ln w="19050" cap="flat" cmpd="sng" algn="ctr">
            <a:solidFill>
              <a:srgbClr val="FFDEA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573649" name=""/>
          <p:cNvCxnSpPr/>
          <p:nvPr/>
        </p:nvCxnSpPr>
        <p:spPr bwMode="auto">
          <a:xfrm flipH="0" flipV="0">
            <a:off x="7053037" y="1274891"/>
            <a:ext cx="136071" cy="0"/>
          </a:xfrm>
          <a:prstGeom prst="line">
            <a:avLst/>
          </a:prstGeom>
          <a:ln w="19050" cap="flat" cmpd="sng" algn="ctr">
            <a:solidFill>
              <a:srgbClr val="FFDEA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bldLst>
      <p:bldP spid="994337850" grpId="0" animBg="1"/>
      <p:bldP spid="158214330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175676" name="Modules heading"/>
          <p:cNvSpPr txBox="1"/>
          <p:nvPr/>
        </p:nvSpPr>
        <p:spPr bwMode="auto">
          <a:xfrm flipH="0" flipV="0">
            <a:off x="3026441" y="4917387"/>
            <a:ext cx="3091117" cy="1699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ru-RU" sz="12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ДИАГРАММА СОСТОЯНИЙ ИГРЫ</a:t>
            </a:r>
            <a:endParaRPr lang="ru-RU" sz="1200"/>
          </a:p>
        </p:txBody>
      </p:sp>
      <p:sp>
        <p:nvSpPr>
          <p:cNvPr id="36238426" name="Eyebrow marker"/>
          <p:cNvSpPr/>
          <p:nvPr/>
        </p:nvSpPr>
        <p:spPr bwMode="auto">
          <a:xfrm>
            <a:off x="647064" y="327442"/>
            <a:ext cx="119997" cy="329997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1919265519" name="Eyebrow"/>
          <p:cNvSpPr txBox="1"/>
          <p:nvPr/>
        </p:nvSpPr>
        <p:spPr bwMode="auto">
          <a:xfrm>
            <a:off x="867062" y="387441"/>
            <a:ext cx="4199997" cy="209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АРХИТЕКТУРА ПРОЕКТА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1615330154" name=""/>
          <p:cNvSpPr/>
          <p:nvPr/>
        </p:nvSpPr>
        <p:spPr bwMode="auto">
          <a:xfrm rot="0" flipH="0" flipV="0">
            <a:off x="7972716" y="4829997"/>
            <a:ext cx="1111249" cy="291407"/>
          </a:xfrm>
          <a:prstGeom prst="rect">
            <a:avLst/>
          </a:prstGeom>
          <a:solidFill>
            <a:srgbClr val="24131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latin typeface="Bellota"/>
              <a:cs typeface="Bellota"/>
            </a:endParaRPr>
          </a:p>
        </p:txBody>
      </p:sp>
      <p:pic>
        <p:nvPicPr>
          <p:cNvPr id="1686752253" name="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2893314" y="669041"/>
            <a:ext cx="3357370" cy="42046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bldLst>
      <p:bldP spid="1687175676" grpId="0" animBg="1"/>
      <p:bldP spid="16867522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9239141" name="Stage 1 imag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1208" y="803357"/>
            <a:ext cx="3156125" cy="1775320"/>
          </a:xfrm>
          <a:prstGeom prst="rect">
            <a:avLst/>
          </a:prstGeom>
          <a:ln w="19050">
            <a:solidFill>
              <a:srgbClr val="FFDEA1"/>
            </a:solidFill>
            <a:prstDash val="solid"/>
          </a:ln>
        </p:spPr>
      </p:pic>
      <p:sp>
        <p:nvSpPr>
          <p:cNvPr id="546698749" name="Stage 1 title"/>
          <p:cNvSpPr txBox="1"/>
          <p:nvPr/>
        </p:nvSpPr>
        <p:spPr bwMode="auto">
          <a:xfrm>
            <a:off x="658368" y="2625807"/>
            <a:ext cx="3328416" cy="1920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11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МЕХАНИЧЕСКИЙ ПРОТОТИП</a:t>
            </a:r>
            <a:endParaRPr lang="ru-RU" sz="1100"/>
          </a:p>
        </p:txBody>
      </p:sp>
      <p:sp>
        <p:nvSpPr>
          <p:cNvPr id="285477905" name="Stage 1 subtitle"/>
          <p:cNvSpPr txBox="1"/>
          <p:nvPr/>
        </p:nvSpPr>
        <p:spPr bwMode="auto">
          <a:xfrm>
            <a:off x="658368" y="2806180"/>
            <a:ext cx="3328416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9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Проверка базового ввода и состояний</a:t>
            </a:r>
            <a:endParaRPr lang="ru-RU" sz="900"/>
          </a:p>
        </p:txBody>
      </p:sp>
      <p:pic>
        <p:nvPicPr>
          <p:cNvPr id="1196783058" name="Stage 2 imag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189909" y="803357"/>
            <a:ext cx="3156125" cy="1775320"/>
          </a:xfrm>
          <a:prstGeom prst="rect">
            <a:avLst/>
          </a:prstGeom>
          <a:ln w="19050">
            <a:solidFill>
              <a:srgbClr val="FFDEA1"/>
            </a:solidFill>
            <a:prstDash val="solid"/>
          </a:ln>
        </p:spPr>
      </p:pic>
      <p:sp>
        <p:nvSpPr>
          <p:cNvPr id="299666184" name="Stage 2 title"/>
          <p:cNvSpPr txBox="1"/>
          <p:nvPr/>
        </p:nvSpPr>
        <p:spPr bwMode="auto">
          <a:xfrm>
            <a:off x="5348058" y="2625807"/>
            <a:ext cx="3328416" cy="1920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11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ПЕРВАЯ ИГРОВАЯ СЦЕНА</a:t>
            </a:r>
            <a:endParaRPr lang="ru-RU" sz="1100"/>
          </a:p>
        </p:txBody>
      </p:sp>
      <p:sp>
        <p:nvSpPr>
          <p:cNvPr id="906553137" name="Stage 2 subtitle"/>
          <p:cNvSpPr txBox="1"/>
          <p:nvPr/>
        </p:nvSpPr>
        <p:spPr bwMode="auto">
          <a:xfrm>
            <a:off x="5348058" y="2806180"/>
            <a:ext cx="3328416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9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Ноты, дорожки и счёт прохождения</a:t>
            </a:r>
            <a:endParaRPr lang="ru-RU" sz="900"/>
          </a:p>
        </p:txBody>
      </p:sp>
      <p:pic>
        <p:nvPicPr>
          <p:cNvPr id="1065873752" name="Stage 3 image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175504" y="3052908"/>
            <a:ext cx="3156125" cy="1775320"/>
          </a:xfrm>
          <a:prstGeom prst="rect">
            <a:avLst/>
          </a:prstGeom>
          <a:ln w="19050">
            <a:solidFill>
              <a:srgbClr val="FFDEA1"/>
            </a:solidFill>
            <a:prstDash val="solid"/>
          </a:ln>
        </p:spPr>
      </p:pic>
      <p:sp>
        <p:nvSpPr>
          <p:cNvPr id="57324230" name="Stage 3 title"/>
          <p:cNvSpPr txBox="1"/>
          <p:nvPr/>
        </p:nvSpPr>
        <p:spPr bwMode="auto">
          <a:xfrm>
            <a:off x="5175504" y="4891752"/>
            <a:ext cx="3328416" cy="1920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11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АТМОСФЕРНАЯ ПЕРЕРАБОТКА</a:t>
            </a:r>
            <a:endParaRPr lang="ru-RU" sz="1100"/>
          </a:p>
        </p:txBody>
      </p:sp>
      <p:sp>
        <p:nvSpPr>
          <p:cNvPr id="178764799" name="Stage 3 subtitle"/>
          <p:cNvSpPr txBox="1"/>
          <p:nvPr/>
        </p:nvSpPr>
        <p:spPr bwMode="auto">
          <a:xfrm>
            <a:off x="5175504" y="5555278"/>
            <a:ext cx="3328416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9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Цельный стиль кофейни и читаемость</a:t>
            </a:r>
            <a:endParaRPr lang="ru-RU" sz="900"/>
          </a:p>
        </p:txBody>
      </p:sp>
      <p:pic>
        <p:nvPicPr>
          <p:cNvPr id="1624689599" name="Stage 4 image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30352" y="3039662"/>
            <a:ext cx="3177777" cy="1787499"/>
          </a:xfrm>
          <a:prstGeom prst="rect">
            <a:avLst/>
          </a:prstGeom>
          <a:ln w="19050">
            <a:solidFill>
              <a:srgbClr val="FFDEA1"/>
            </a:solidFill>
            <a:prstDash val="solid"/>
          </a:ln>
        </p:spPr>
      </p:pic>
      <p:sp>
        <p:nvSpPr>
          <p:cNvPr id="422099431" name="Stage 4 title"/>
          <p:cNvSpPr txBox="1"/>
          <p:nvPr/>
        </p:nvSpPr>
        <p:spPr bwMode="auto">
          <a:xfrm>
            <a:off x="658368" y="4891752"/>
            <a:ext cx="3328416" cy="19202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11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КОНЦЕПТ ИТОГОВОГО ВАРИАНТА</a:t>
            </a:r>
            <a:endParaRPr lang="ru-RU" sz="1100"/>
          </a:p>
        </p:txBody>
      </p:sp>
      <p:sp>
        <p:nvSpPr>
          <p:cNvPr id="10813100" name="Stage 4 subtitle"/>
          <p:cNvSpPr txBox="1"/>
          <p:nvPr/>
        </p:nvSpPr>
        <p:spPr bwMode="auto">
          <a:xfrm>
            <a:off x="658368" y="5555278"/>
            <a:ext cx="3328416" cy="17373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9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Поиск формы комбо и оценок попадания</a:t>
            </a:r>
            <a:endParaRPr lang="ru-RU" sz="900"/>
          </a:p>
        </p:txBody>
      </p:sp>
      <p:sp>
        <p:nvSpPr>
          <p:cNvPr id="148260039" name="Footer"/>
          <p:cNvSpPr txBox="1"/>
          <p:nvPr/>
        </p:nvSpPr>
        <p:spPr bwMode="auto">
          <a:xfrm>
            <a:off x="429768" y="6473952"/>
            <a:ext cx="804672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85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CUPPA • ЭВОЛЮЦИЯ ИНТЕРФЕЙСА И ВИЗУАЛЬНОГО РЕШЕНИЯ</a:t>
            </a:r>
            <a:endParaRPr lang="ru-RU" sz="850"/>
          </a:p>
        </p:txBody>
      </p:sp>
      <p:sp>
        <p:nvSpPr>
          <p:cNvPr id="1788818512" name="Eyebrow marker"/>
          <p:cNvSpPr/>
          <p:nvPr/>
        </p:nvSpPr>
        <p:spPr bwMode="auto">
          <a:xfrm>
            <a:off x="647064" y="327441"/>
            <a:ext cx="119997" cy="329996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345071025" name="Eyebrow"/>
          <p:cNvSpPr txBox="1"/>
          <p:nvPr/>
        </p:nvSpPr>
        <p:spPr bwMode="auto">
          <a:xfrm>
            <a:off x="867061" y="387441"/>
            <a:ext cx="4199996" cy="209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ЭВОЛЮЦИЯ ПРОЕКТА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418078503" name=""/>
          <p:cNvSpPr/>
          <p:nvPr/>
        </p:nvSpPr>
        <p:spPr bwMode="auto">
          <a:xfrm rot="0" flipH="0" flipV="0">
            <a:off x="7682823" y="4857750"/>
            <a:ext cx="1387333" cy="263657"/>
          </a:xfrm>
          <a:prstGeom prst="rect">
            <a:avLst/>
          </a:prstGeom>
          <a:solidFill>
            <a:srgbClr val="24131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>
              <a:solidFill>
                <a:schemeClr val="tx1"/>
              </a:solidFill>
              <a:latin typeface="Bellota"/>
              <a:cs typeface="Bellota"/>
            </a:endParaRPr>
          </a:p>
        </p:txBody>
      </p:sp>
      <p:cxnSp>
        <p:nvCxnSpPr>
          <p:cNvPr id="39349403" name=""/>
          <p:cNvCxnSpPr/>
          <p:nvPr/>
        </p:nvCxnSpPr>
        <p:spPr bwMode="auto">
          <a:xfrm flipH="0" flipV="1">
            <a:off x="3852119" y="1691018"/>
            <a:ext cx="1007717" cy="0"/>
          </a:xfrm>
          <a:prstGeom prst="line">
            <a:avLst/>
          </a:prstGeom>
          <a:ln w="57150" cap="flat" cmpd="sng" algn="ctr">
            <a:solidFill>
              <a:srgbClr val="FFDEA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0805463" name=""/>
          <p:cNvCxnSpPr/>
          <p:nvPr/>
        </p:nvCxnSpPr>
        <p:spPr bwMode="auto">
          <a:xfrm rot="10799999" flipH="0" flipV="1">
            <a:off x="3986783" y="3776026"/>
            <a:ext cx="1007716" cy="0"/>
          </a:xfrm>
          <a:prstGeom prst="line">
            <a:avLst/>
          </a:prstGeom>
          <a:ln w="57150" cap="flat" cmpd="sng" algn="ctr">
            <a:solidFill>
              <a:srgbClr val="FFDEA1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239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1449239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8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78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60"/>
                                        <p:tgtEl>
                                          <p:spTgt spid="119678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16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873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60"/>
                                        <p:tgtEl>
                                          <p:spTgt spid="1065873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68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60"/>
                                        <p:tgtEl>
                                          <p:spTgt spid="1624689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9239141" grpId="0" animBg="1"/>
      <p:bldP spid="1196783058" grpId="0" animBg="1"/>
      <p:bldP spid="1065873752" grpId="0" animBg="1"/>
      <p:bldP spid="162468959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476243" name="Title"/>
          <p:cNvSpPr txBox="1"/>
          <p:nvPr/>
        </p:nvSpPr>
        <p:spPr bwMode="auto">
          <a:xfrm>
            <a:off x="420624" y="658368"/>
            <a:ext cx="813816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245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Результаты, сложности и перспективы</a:t>
            </a:r>
            <a:endParaRPr lang="ru-RU" sz="2450"/>
          </a:p>
        </p:txBody>
      </p:sp>
      <p:sp>
        <p:nvSpPr>
          <p:cNvPr id="2147137629" name="Metric endings bg"/>
          <p:cNvSpPr/>
          <p:nvPr/>
        </p:nvSpPr>
        <p:spPr bwMode="auto">
          <a:xfrm flipH="0" flipV="0">
            <a:off x="448055" y="1152442"/>
            <a:ext cx="1298448" cy="297014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402935221" name="Metric endings"/>
          <p:cNvSpPr txBox="1"/>
          <p:nvPr/>
        </p:nvSpPr>
        <p:spPr bwMode="auto">
          <a:xfrm>
            <a:off x="493776" y="1225594"/>
            <a:ext cx="1207008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defRPr/>
            </a:pPr>
            <a:r>
              <a:rPr lang="ru-RU" sz="10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2 КОНЦОВКИ</a:t>
            </a:r>
            <a:endParaRPr lang="ru-RU" sz="1000"/>
          </a:p>
        </p:txBody>
      </p:sp>
      <p:sp>
        <p:nvSpPr>
          <p:cNvPr id="109779650" name="Metric music bg"/>
          <p:cNvSpPr/>
          <p:nvPr/>
        </p:nvSpPr>
        <p:spPr bwMode="auto">
          <a:xfrm flipH="0" flipV="0">
            <a:off x="1847086" y="1152442"/>
            <a:ext cx="1444752" cy="297014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449135617" name="Metric music"/>
          <p:cNvSpPr txBox="1"/>
          <p:nvPr/>
        </p:nvSpPr>
        <p:spPr bwMode="auto">
          <a:xfrm>
            <a:off x="1892808" y="1225594"/>
            <a:ext cx="1353312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defRPr/>
            </a:pPr>
            <a:r>
              <a:rPr lang="ru-RU" sz="10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3 КОМПОЗИЦИИ</a:t>
            </a:r>
            <a:endParaRPr lang="ru-RU" sz="1000"/>
          </a:p>
        </p:txBody>
      </p:sp>
      <p:sp>
        <p:nvSpPr>
          <p:cNvPr id="1551452037" name="Metric platforms bg"/>
          <p:cNvSpPr/>
          <p:nvPr/>
        </p:nvSpPr>
        <p:spPr bwMode="auto">
          <a:xfrm flipH="0" flipV="0">
            <a:off x="3392424" y="1152442"/>
            <a:ext cx="1645920" cy="297014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258386164" name="Metric platforms"/>
          <p:cNvSpPr txBox="1"/>
          <p:nvPr/>
        </p:nvSpPr>
        <p:spPr bwMode="auto">
          <a:xfrm>
            <a:off x="3438144" y="1225594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defRPr/>
            </a:pPr>
            <a:r>
              <a:rPr lang="ru-RU" sz="10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LINUX + WINDOWS</a:t>
            </a:r>
            <a:endParaRPr lang="ru-RU" sz="1000"/>
          </a:p>
        </p:txBody>
      </p:sp>
      <p:sp>
        <p:nvSpPr>
          <p:cNvPr id="323677181" name="Results panel"/>
          <p:cNvSpPr/>
          <p:nvPr/>
        </p:nvSpPr>
        <p:spPr bwMode="auto">
          <a:xfrm flipH="0" flipV="0">
            <a:off x="429768" y="1624981"/>
            <a:ext cx="2606040" cy="3088363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788480060" name="Results number bg"/>
          <p:cNvSpPr/>
          <p:nvPr/>
        </p:nvSpPr>
        <p:spPr bwMode="auto">
          <a:xfrm flipH="0" flipV="0">
            <a:off x="630935" y="1853581"/>
            <a:ext cx="512064" cy="409491"/>
          </a:xfrm>
          <a:prstGeom prst="roundRect">
            <a:avLst>
              <a:gd name="adj" fmla="val 16667"/>
            </a:avLst>
          </a:prstGeom>
          <a:solidFill>
            <a:srgbClr val="2B161C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285932654" name="Results number"/>
          <p:cNvSpPr txBox="1"/>
          <p:nvPr/>
        </p:nvSpPr>
        <p:spPr bwMode="auto">
          <a:xfrm>
            <a:off x="630936" y="1954164"/>
            <a:ext cx="512064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defRPr/>
            </a:pPr>
            <a:r>
              <a:rPr lang="ru-RU" sz="16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01</a:t>
            </a:r>
            <a:endParaRPr lang="ru-RU" sz="1600"/>
          </a:p>
        </p:txBody>
      </p:sp>
      <p:sp>
        <p:nvSpPr>
          <p:cNvPr id="633958484" name="Results title"/>
          <p:cNvSpPr txBox="1"/>
          <p:nvPr/>
        </p:nvSpPr>
        <p:spPr bwMode="auto">
          <a:xfrm>
            <a:off x="1271015" y="1935877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14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РЕАЛИЗОВАНО</a:t>
            </a:r>
            <a:endParaRPr lang="ru-RU" sz="1400"/>
          </a:p>
        </p:txBody>
      </p:sp>
      <p:sp>
        <p:nvSpPr>
          <p:cNvPr id="1902048220" name="Results lead"/>
          <p:cNvSpPr txBox="1"/>
          <p:nvPr/>
        </p:nvSpPr>
        <p:spPr bwMode="auto">
          <a:xfrm>
            <a:off x="649224" y="2375971"/>
            <a:ext cx="214884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Единый игровой цикл</a:t>
            </a:r>
            <a:endParaRPr lang="ru-RU" sz="1100"/>
          </a:p>
        </p:txBody>
      </p:sp>
      <p:sp>
        <p:nvSpPr>
          <p:cNvPr id="1939068511" name="Results bullet 0"/>
          <p:cNvSpPr/>
          <p:nvPr/>
        </p:nvSpPr>
        <p:spPr bwMode="auto">
          <a:xfrm>
            <a:off x="685800" y="2766512"/>
            <a:ext cx="91440" cy="91440"/>
          </a:xfrm>
          <a:prstGeom prst="ellipse">
            <a:avLst/>
          </a:prstGeom>
          <a:solidFill>
            <a:srgbClr val="D2A45C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438626167" name="Results item 0"/>
          <p:cNvSpPr txBox="1"/>
          <p:nvPr/>
        </p:nvSpPr>
        <p:spPr bwMode="auto">
          <a:xfrm>
            <a:off x="877824" y="267507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Новелла и ритм-сцена</a:t>
            </a:r>
            <a:endParaRPr lang="ru-RU" sz="1100"/>
          </a:p>
        </p:txBody>
      </p:sp>
      <p:sp>
        <p:nvSpPr>
          <p:cNvPr id="1046654869" name="Results bullet 1"/>
          <p:cNvSpPr/>
          <p:nvPr/>
        </p:nvSpPr>
        <p:spPr bwMode="auto">
          <a:xfrm>
            <a:off x="685800" y="3260288"/>
            <a:ext cx="91440" cy="91440"/>
          </a:xfrm>
          <a:prstGeom prst="ellipse">
            <a:avLst/>
          </a:prstGeom>
          <a:solidFill>
            <a:srgbClr val="D2A45C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222283872" name="Results item 1"/>
          <p:cNvSpPr txBox="1"/>
          <p:nvPr/>
        </p:nvSpPr>
        <p:spPr bwMode="auto">
          <a:xfrm>
            <a:off x="877824" y="31688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Обычные и длинные ноты</a:t>
            </a:r>
            <a:endParaRPr lang="ru-RU" sz="1100"/>
          </a:p>
        </p:txBody>
      </p:sp>
      <p:sp>
        <p:nvSpPr>
          <p:cNvPr id="2012842442" name="Results bullet 2"/>
          <p:cNvSpPr/>
          <p:nvPr/>
        </p:nvSpPr>
        <p:spPr bwMode="auto">
          <a:xfrm>
            <a:off x="685800" y="3754064"/>
            <a:ext cx="91440" cy="91440"/>
          </a:xfrm>
          <a:prstGeom prst="ellipse">
            <a:avLst/>
          </a:prstGeom>
          <a:solidFill>
            <a:srgbClr val="D2A45C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805151697" name="Results item 2"/>
          <p:cNvSpPr txBox="1"/>
          <p:nvPr/>
        </p:nvSpPr>
        <p:spPr bwMode="auto">
          <a:xfrm>
            <a:off x="877824" y="366262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Оценка точности и финалы</a:t>
            </a:r>
            <a:endParaRPr lang="ru-RU" sz="1100"/>
          </a:p>
        </p:txBody>
      </p:sp>
      <p:sp>
        <p:nvSpPr>
          <p:cNvPr id="427948867" name="Results bullet 3"/>
          <p:cNvSpPr/>
          <p:nvPr/>
        </p:nvSpPr>
        <p:spPr bwMode="auto">
          <a:xfrm>
            <a:off x="685800" y="4247840"/>
            <a:ext cx="91440" cy="91440"/>
          </a:xfrm>
          <a:prstGeom prst="ellipse">
            <a:avLst/>
          </a:prstGeom>
          <a:solidFill>
            <a:srgbClr val="D2A45C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770507372" name="Results item 3"/>
          <p:cNvSpPr txBox="1"/>
          <p:nvPr/>
        </p:nvSpPr>
        <p:spPr bwMode="auto">
          <a:xfrm>
            <a:off x="877824" y="4156399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Меню, пауза, настройки</a:t>
            </a:r>
            <a:endParaRPr lang="ru-RU" sz="1100"/>
          </a:p>
        </p:txBody>
      </p:sp>
      <p:sp>
        <p:nvSpPr>
          <p:cNvPr id="517411643" name="Challenges panel"/>
          <p:cNvSpPr/>
          <p:nvPr/>
        </p:nvSpPr>
        <p:spPr bwMode="auto">
          <a:xfrm flipH="0" flipV="0">
            <a:off x="3273552" y="1624981"/>
            <a:ext cx="2606040" cy="3088363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065826175" name="Challenges number bg"/>
          <p:cNvSpPr/>
          <p:nvPr/>
        </p:nvSpPr>
        <p:spPr bwMode="auto">
          <a:xfrm flipH="0" flipV="0">
            <a:off x="3474720" y="1853581"/>
            <a:ext cx="512064" cy="409491"/>
          </a:xfrm>
          <a:prstGeom prst="roundRect">
            <a:avLst>
              <a:gd name="adj" fmla="val 16667"/>
            </a:avLst>
          </a:prstGeom>
          <a:solidFill>
            <a:srgbClr val="2B161C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100057623" name="Challenges number"/>
          <p:cNvSpPr txBox="1"/>
          <p:nvPr/>
        </p:nvSpPr>
        <p:spPr bwMode="auto">
          <a:xfrm>
            <a:off x="3474720" y="1954164"/>
            <a:ext cx="512064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defRPr/>
            </a:pPr>
            <a:r>
              <a:rPr lang="ru-RU" sz="16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02</a:t>
            </a:r>
            <a:endParaRPr lang="ru-RU" sz="1600"/>
          </a:p>
        </p:txBody>
      </p:sp>
      <p:sp>
        <p:nvSpPr>
          <p:cNvPr id="397184191" name="Challenges title"/>
          <p:cNvSpPr txBox="1"/>
          <p:nvPr/>
        </p:nvSpPr>
        <p:spPr bwMode="auto">
          <a:xfrm>
            <a:off x="4114800" y="1935877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14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СЛОЖНОСТИ</a:t>
            </a:r>
            <a:endParaRPr lang="ru-RU" sz="1400"/>
          </a:p>
        </p:txBody>
      </p:sp>
      <p:sp>
        <p:nvSpPr>
          <p:cNvPr id="249555206" name="Challenges lead"/>
          <p:cNvSpPr txBox="1"/>
          <p:nvPr/>
        </p:nvSpPr>
        <p:spPr bwMode="auto">
          <a:xfrm>
            <a:off x="3493008" y="2375971"/>
            <a:ext cx="214884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Ключевые задачи</a:t>
            </a:r>
            <a:endParaRPr lang="ru-RU" sz="1100"/>
          </a:p>
        </p:txBody>
      </p:sp>
      <p:sp>
        <p:nvSpPr>
          <p:cNvPr id="2136224190" name="Challenges bullet 0"/>
          <p:cNvSpPr/>
          <p:nvPr/>
        </p:nvSpPr>
        <p:spPr bwMode="auto">
          <a:xfrm>
            <a:off x="3529584" y="2766512"/>
            <a:ext cx="91440" cy="91440"/>
          </a:xfrm>
          <a:prstGeom prst="ellipse">
            <a:avLst/>
          </a:prstGeom>
          <a:solidFill>
            <a:srgbClr val="D2A45C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143468044" name="Challenges item 0"/>
          <p:cNvSpPr txBox="1"/>
          <p:nvPr/>
        </p:nvSpPr>
        <p:spPr bwMode="auto">
          <a:xfrm flipH="0" flipV="0">
            <a:off x="3721608" y="2675072"/>
            <a:ext cx="2083826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Формулы, синхронизирующие геймлпей с музыкой</a:t>
            </a:r>
            <a:endParaRPr lang="ru-RU" sz="1100"/>
          </a:p>
        </p:txBody>
      </p:sp>
      <p:sp>
        <p:nvSpPr>
          <p:cNvPr id="1157451462" name="Challenges bullet 1"/>
          <p:cNvSpPr/>
          <p:nvPr/>
        </p:nvSpPr>
        <p:spPr bwMode="auto">
          <a:xfrm>
            <a:off x="3529584" y="3260288"/>
            <a:ext cx="91440" cy="91440"/>
          </a:xfrm>
          <a:prstGeom prst="ellipse">
            <a:avLst/>
          </a:prstGeom>
          <a:solidFill>
            <a:srgbClr val="D2A45C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363998751" name="Challenges item 1"/>
          <p:cNvSpPr txBox="1"/>
          <p:nvPr/>
        </p:nvSpPr>
        <p:spPr bwMode="auto">
          <a:xfrm>
            <a:off x="3721608" y="31688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0" i="0" u="none" strike="noStrike" cap="none" spc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Парсинг .sm-карт</a:t>
            </a:r>
            <a:endParaRPr sz="1100"/>
          </a:p>
          <a:p>
            <a:pPr>
              <a:defRPr/>
            </a:pPr>
            <a:endParaRPr/>
          </a:p>
        </p:txBody>
      </p:sp>
      <p:sp>
        <p:nvSpPr>
          <p:cNvPr id="960278923" name="Challenges bullet 2"/>
          <p:cNvSpPr/>
          <p:nvPr/>
        </p:nvSpPr>
        <p:spPr bwMode="auto">
          <a:xfrm>
            <a:off x="3529584" y="3754064"/>
            <a:ext cx="91440" cy="91440"/>
          </a:xfrm>
          <a:prstGeom prst="ellipse">
            <a:avLst/>
          </a:prstGeom>
          <a:solidFill>
            <a:srgbClr val="D2A45C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41050042" name="Challenges item 2"/>
          <p:cNvSpPr txBox="1"/>
          <p:nvPr/>
        </p:nvSpPr>
        <p:spPr bwMode="auto">
          <a:xfrm>
            <a:off x="3721608" y="366262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0" i="0" u="none" strike="noStrike" cap="none" spc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Обработка удержания длинных нот</a:t>
            </a:r>
            <a:endParaRPr sz="1100"/>
          </a:p>
        </p:txBody>
      </p:sp>
      <p:sp>
        <p:nvSpPr>
          <p:cNvPr id="128832799" name="Prospects panel"/>
          <p:cNvSpPr/>
          <p:nvPr/>
        </p:nvSpPr>
        <p:spPr bwMode="auto">
          <a:xfrm flipH="0" flipV="0">
            <a:off x="6117336" y="1624981"/>
            <a:ext cx="2606040" cy="3088363"/>
          </a:xfrm>
          <a:prstGeom prst="roundRect">
            <a:avLst>
              <a:gd name="adj" fmla="val 16667"/>
            </a:avLst>
          </a:prstGeom>
          <a:solidFill>
            <a:srgbClr val="351A21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856642446" name="Prospects number bg"/>
          <p:cNvSpPr/>
          <p:nvPr/>
        </p:nvSpPr>
        <p:spPr bwMode="auto">
          <a:xfrm flipH="0" flipV="0">
            <a:off x="6318504" y="1853581"/>
            <a:ext cx="512064" cy="409491"/>
          </a:xfrm>
          <a:prstGeom prst="roundRect">
            <a:avLst>
              <a:gd name="adj" fmla="val 16667"/>
            </a:avLst>
          </a:prstGeom>
          <a:solidFill>
            <a:srgbClr val="2B161C"/>
          </a:solidFill>
          <a:ln w="12700">
            <a:solidFill>
              <a:srgbClr val="FFDEA1"/>
            </a:solidFill>
            <a:prstDash val="solid"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488056231" name="Prospects number"/>
          <p:cNvSpPr txBox="1"/>
          <p:nvPr/>
        </p:nvSpPr>
        <p:spPr bwMode="auto">
          <a:xfrm>
            <a:off x="6318504" y="1954164"/>
            <a:ext cx="512064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ctr">
              <a:defRPr/>
            </a:pPr>
            <a:r>
              <a:rPr lang="ru-RU" sz="16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03</a:t>
            </a:r>
            <a:endParaRPr lang="ru-RU" sz="1600"/>
          </a:p>
        </p:txBody>
      </p:sp>
      <p:sp>
        <p:nvSpPr>
          <p:cNvPr id="24289177" name="Prospects title"/>
          <p:cNvSpPr txBox="1"/>
          <p:nvPr/>
        </p:nvSpPr>
        <p:spPr bwMode="auto">
          <a:xfrm>
            <a:off x="6958584" y="1935877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/>
          <a:lstStyle/>
          <a:p>
            <a:pPr algn="l">
              <a:defRPr/>
            </a:pPr>
            <a:r>
              <a:rPr lang="ru-RU" sz="1400" b="1">
                <a:solidFill>
                  <a:srgbClr val="FFDEA1"/>
                </a:solidFill>
                <a:latin typeface="Bellota"/>
                <a:ea typeface="Bellota"/>
                <a:cs typeface="Bellota"/>
              </a:rPr>
              <a:t>ПЕРСПЕКТИВЫ</a:t>
            </a:r>
            <a:endParaRPr lang="ru-RU" sz="1400"/>
          </a:p>
        </p:txBody>
      </p:sp>
      <p:sp>
        <p:nvSpPr>
          <p:cNvPr id="883636419" name="Prospects lead"/>
          <p:cNvSpPr txBox="1"/>
          <p:nvPr/>
        </p:nvSpPr>
        <p:spPr bwMode="auto">
          <a:xfrm>
            <a:off x="6336792" y="2375971"/>
            <a:ext cx="2148840" cy="43891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Развитие без смены основы</a:t>
            </a:r>
            <a:endParaRPr lang="ru-RU" sz="1100"/>
          </a:p>
        </p:txBody>
      </p:sp>
      <p:sp>
        <p:nvSpPr>
          <p:cNvPr id="353197659" name="Prospects bullet 0"/>
          <p:cNvSpPr/>
          <p:nvPr/>
        </p:nvSpPr>
        <p:spPr bwMode="auto">
          <a:xfrm>
            <a:off x="6373368" y="2766512"/>
            <a:ext cx="91440" cy="91440"/>
          </a:xfrm>
          <a:prstGeom prst="ellipse">
            <a:avLst/>
          </a:prstGeom>
          <a:solidFill>
            <a:srgbClr val="D2A45C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834897014" name="Prospects item 0"/>
          <p:cNvSpPr txBox="1"/>
          <p:nvPr/>
        </p:nvSpPr>
        <p:spPr bwMode="auto">
          <a:xfrm>
            <a:off x="6565392" y="2675072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Новые сюжетные ветки</a:t>
            </a:r>
            <a:endParaRPr lang="ru-RU" sz="1100"/>
          </a:p>
        </p:txBody>
      </p:sp>
      <p:sp>
        <p:nvSpPr>
          <p:cNvPr id="1638568121" name="Prospects bullet 1"/>
          <p:cNvSpPr/>
          <p:nvPr/>
        </p:nvSpPr>
        <p:spPr bwMode="auto">
          <a:xfrm>
            <a:off x="6373368" y="3260288"/>
            <a:ext cx="91440" cy="91440"/>
          </a:xfrm>
          <a:prstGeom prst="ellipse">
            <a:avLst/>
          </a:prstGeom>
          <a:solidFill>
            <a:srgbClr val="D2A45C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2133980813" name="Prospects item 1"/>
          <p:cNvSpPr txBox="1"/>
          <p:nvPr/>
        </p:nvSpPr>
        <p:spPr bwMode="auto">
          <a:xfrm>
            <a:off x="6565392" y="316884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Развитие ритм-механики</a:t>
            </a:r>
            <a:endParaRPr lang="ru-RU" sz="1100"/>
          </a:p>
        </p:txBody>
      </p:sp>
      <p:sp>
        <p:nvSpPr>
          <p:cNvPr id="931421995" name="Prospects bullet 2"/>
          <p:cNvSpPr/>
          <p:nvPr/>
        </p:nvSpPr>
        <p:spPr bwMode="auto">
          <a:xfrm>
            <a:off x="6373368" y="3754064"/>
            <a:ext cx="91440" cy="91440"/>
          </a:xfrm>
          <a:prstGeom prst="ellipse">
            <a:avLst/>
          </a:prstGeom>
          <a:solidFill>
            <a:srgbClr val="D2A45C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2144198165" name="Prospects item 2"/>
          <p:cNvSpPr txBox="1"/>
          <p:nvPr/>
        </p:nvSpPr>
        <p:spPr bwMode="auto">
          <a:xfrm>
            <a:off x="6565392" y="366262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Улучшение визуальных эффектов</a:t>
            </a:r>
            <a:endParaRPr lang="ru-RU" sz="1100"/>
          </a:p>
        </p:txBody>
      </p:sp>
      <p:sp>
        <p:nvSpPr>
          <p:cNvPr id="421504971" name="Prospects bullet 3"/>
          <p:cNvSpPr/>
          <p:nvPr/>
        </p:nvSpPr>
        <p:spPr bwMode="auto">
          <a:xfrm>
            <a:off x="6373368" y="4247840"/>
            <a:ext cx="91440" cy="91440"/>
          </a:xfrm>
          <a:prstGeom prst="ellipse">
            <a:avLst/>
          </a:prstGeom>
          <a:solidFill>
            <a:srgbClr val="D2A45C"/>
          </a:solidFill>
          <a:ln>
            <a:noFill/>
          </a:ln>
        </p:spPr>
        <p:txBody>
          <a:bodyPr anchor="ctr"/>
          <a:p>
            <a:pPr algn="ctr">
              <a:defRPr/>
            </a:pPr>
            <a:endParaRPr sz="2000"/>
          </a:p>
        </p:txBody>
      </p:sp>
      <p:sp>
        <p:nvSpPr>
          <p:cNvPr id="1080789626" name="Prospects item 3"/>
          <p:cNvSpPr txBox="1"/>
          <p:nvPr/>
        </p:nvSpPr>
        <p:spPr bwMode="auto">
          <a:xfrm>
            <a:off x="6565392" y="4156399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/>
          <a:lstStyle/>
          <a:p>
            <a:pPr algn="l">
              <a:defRPr/>
            </a:pPr>
            <a:r>
              <a:rPr lang="ru-RU" sz="1100" b="0">
                <a:solidFill>
                  <a:srgbClr val="F8E5B8"/>
                </a:solidFill>
                <a:latin typeface="Bellota"/>
                <a:ea typeface="Bellota"/>
                <a:cs typeface="Bellota"/>
              </a:rPr>
              <a:t>Возможность загружать свои карты и сюжетные ветки</a:t>
            </a:r>
            <a:endParaRPr lang="ru-RU" sz="1100"/>
          </a:p>
        </p:txBody>
      </p:sp>
      <p:sp>
        <p:nvSpPr>
          <p:cNvPr id="1966223666" name="Eyebrow marker"/>
          <p:cNvSpPr/>
          <p:nvPr/>
        </p:nvSpPr>
        <p:spPr bwMode="auto">
          <a:xfrm>
            <a:off x="647064" y="327440"/>
            <a:ext cx="119997" cy="329995"/>
          </a:xfrm>
          <a:prstGeom prst="rect">
            <a:avLst/>
          </a:prstGeom>
          <a:solidFill>
            <a:srgbClr val="FFDEA1"/>
          </a:solidFill>
          <a:ln>
            <a:noFill/>
          </a:ln>
        </p:spPr>
        <p:txBody>
          <a:bodyPr anchor="ctr"/>
          <a:p>
            <a:pPr algn="ctr">
              <a:defRPr/>
            </a:pPr>
            <a:endParaRPr>
              <a:latin typeface="Bellota"/>
              <a:cs typeface="Bellota"/>
            </a:endParaRPr>
          </a:p>
        </p:txBody>
      </p:sp>
      <p:sp>
        <p:nvSpPr>
          <p:cNvPr id="1222989378" name="Eyebrow"/>
          <p:cNvSpPr txBox="1"/>
          <p:nvPr/>
        </p:nvSpPr>
        <p:spPr bwMode="auto">
          <a:xfrm>
            <a:off x="867060" y="387441"/>
            <a:ext cx="4199995" cy="2099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-RU" sz="1600" b="1">
                <a:solidFill>
                  <a:srgbClr val="D2A45C"/>
                </a:solidFill>
                <a:latin typeface="Bellota"/>
                <a:ea typeface="Bellota"/>
                <a:cs typeface="Bellota"/>
              </a:rPr>
              <a:t>ИТОГИ РАЗРАБОТКИ</a:t>
            </a:r>
            <a:endParaRPr sz="1600">
              <a:latin typeface="Bellota"/>
              <a:cs typeface="Bellota"/>
            </a:endParaRPr>
          </a:p>
        </p:txBody>
      </p:sp>
      <p:sp>
        <p:nvSpPr>
          <p:cNvPr id="370886451" name=""/>
          <p:cNvSpPr/>
          <p:nvPr/>
        </p:nvSpPr>
        <p:spPr bwMode="auto">
          <a:xfrm rot="0" flipH="0" flipV="0">
            <a:off x="7972715" y="4829996"/>
            <a:ext cx="1111248" cy="291406"/>
          </a:xfrm>
          <a:prstGeom prst="rect">
            <a:avLst/>
          </a:prstGeom>
          <a:solidFill>
            <a:srgbClr val="24131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sz="2000">
              <a:solidFill>
                <a:schemeClr val="tx1"/>
              </a:solidFill>
              <a:latin typeface="Bellota"/>
              <a:cs typeface="Bellot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250" advClick="1">
        <p:fade thruBlk="0"/>
      </p:transition>
    </mc:Choice>
    <mc:Fallback>
      <p:transition spd="fast" advClick="1">
        <p:fade thruBlk="0"/>
      </p:transition>
    </mc:Fallback>
  </mc:AlternateContent>
  <p:timing>
    <p:bldLst>
      <p:bldP spid="1877476243" grpId="0" animBg="1"/>
    </p:bld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51A21"/>
      </a:dk2>
      <a:lt2>
        <a:srgbClr val="F8E5B8"/>
      </a:lt2>
      <a:accent1>
        <a:srgbClr val="FFDEA1"/>
      </a:accent1>
      <a:accent2>
        <a:srgbClr val="C9954B"/>
      </a:accent2>
      <a:accent3>
        <a:srgbClr val="8B5B52"/>
      </a:accent3>
      <a:accent4>
        <a:srgbClr val="FFDEA1"/>
      </a:accent4>
      <a:accent5>
        <a:srgbClr val="D2A45C"/>
      </a:accent5>
      <a:accent6>
        <a:srgbClr val="F8E5B8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12</cp:revision>
  <dcterms:created xsi:type="dcterms:W3CDTF">2026-06-02T01:06:07Z</dcterms:created>
  <dcterms:modified xsi:type="dcterms:W3CDTF">2026-06-02T05:31:54Z</dcterms:modified>
</cp:coreProperties>
</file>