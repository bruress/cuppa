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slideLayouts/slideLayout9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slideLayouts/slideLayout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embedTrueTypeFonts="1" saveSubsetFonts="1">
  <p:sldMasterIdLst>
    <p:sldMasterId id="2147483648" r:id="rId1"/>
  </p:sldMasterIdLst>
  <p:notesMasterIdLst>
    <p:notesMasterId r:id="rId11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>
        <p:guide pos="2880"/>
        <p:guide pos="1620" orient="horz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 /><Relationship Id="rId13" Type="http://schemas.openxmlformats.org/officeDocument/2006/relationships/tableStyles" Target="tableStyles.xml" /><Relationship Id="rId14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1011846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00193132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655798267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661013010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1190980281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223359149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534026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078723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376680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297530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024347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На слайде показана проблема, которую решает Cuppa. Во многих ритм-играх акцент сделан только на действиях под музыку, а сюжет и атмосфера отходят на второй план. В Cuppa ритм-механика встроена в повествование: игрок работает бариста в вампирской кофейне, готовит напитки, получает очки, и результат влияет на развитие истории и концовку.</a:t>
            </a:r>
            <a:endParaRPr lang="ru-RU"/>
          </a:p>
        </p:txBody>
      </p:sp>
      <p:sp>
        <p:nvSpPr>
          <p:cNvPr id="6263485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292518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743292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Цель проекта — создать функциональный прототип игры Cuppa, который объединяет визуальную новеллу и ритм-механику в одном игровом цикле. Игрок общается с посетителями вампирской кофейни и готовит напитки в ритм-сценах. Точность прохождения влияет на очки, развитие истории и итоговую концовку. Для достижения цели были проанализированы аналоги, сформированы требования, спроектирована архитектура, реализованы модули в Godot и проведено тестирование.</a:t>
            </a:r>
            <a:endParaRPr lang="ru-RU"/>
          </a:p>
        </p:txBody>
      </p:sp>
      <p:sp>
        <p:nvSpPr>
          <p:cNvPr id="20950006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89955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242289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Для реализации проекта использовались Godot 4.6 и GDScript. Godot был выбран прежде всего из-за более стабильной работы в Linux по сравнению с Unity. Для учебного 2D-проекта также важны быстрая установка, небольшой размер и встроенные инструменты редактора. Структура проекта разделена на три основных модуля: Menu отвечает за меню, настройки и паузу; Novel — за пролог, диалоги и концовки; RhythmGame — за карты нот, игровой раунд и систему оценки. Ключевые сценарии дополнительно проверены на Linux и Windows.</a:t>
            </a:r>
            <a:endParaRPr lang="ru-RU"/>
          </a:p>
        </p:txBody>
      </p:sp>
      <p:sp>
        <p:nvSpPr>
          <p:cNvPr id="9353642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624512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570348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Архитектура проекта построена так, чтобы ритм-сцена не существовала отдельно от истории. Игра разделена на модули, подмодули и общие компоненты. Основной цикл выглядит так: меню, пролог, новелла, приготовление напитка в ритм-сцене, показ результата и переход к концовке. После ритм-сцены пользователь возвращается в новеллу, где показывается реакция персонажа. Результат прохождения влияет на дальнейшее повествование. На слайде приведены диаграмма взаимосвязи модулей и диаграмма состояний; подробная структура игрового процесса также описана в пояснительной записке.</a:t>
            </a:r>
            <a:endParaRPr lang="ru-RU"/>
          </a:p>
        </p:txBody>
      </p:sp>
      <p:sp>
        <p:nvSpPr>
          <p:cNvPr id="742197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440511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125473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Архитектура проекта построена так, чтобы ритм-сцена не существовала отдельно от истории. Игра разделена на модули, подмодули и общие компоненты. Основной цикл выглядит так: меню, пролог, новелла, приготовление напитка в ритм-сцене, показ результата и переход к концовке. После ритм-сцены пользователь возвращается в новеллу, где показывается реакция персонажа. Результат прохождения влияет на дальнейшее повествование. На слайде приведены диаграмма взаимосвязи модулей и диаграмма состояний; подробная структура игрового процесса также описана в пояснительной записке.</a:t>
            </a:r>
            <a:endParaRPr lang="ru-RU"/>
          </a:p>
        </p:txBody>
      </p:sp>
      <p:sp>
        <p:nvSpPr>
          <p:cNvPr id="12624498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17E343B-C247-14EA-E52A-1D3041DEFEFA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496169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788067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В ходе разработки визуальная часть проекта прошла несколько итераций. Сначала был создан механический прототип для проверки базового ввода и состояний. Затем появилась первая рабочая ритм-сцена с нотами, дорожками и подсчетом очков. Следующий этап связан с переработкой атмосферы: интерфейс был встроен в пространство кофейни, а визуальные элементы стали более цельными и читаемыми. Отдельно прорабатывалась визуальная обратная связь — отображение комбо и оценок попадания. На слайде скриншоты расположены в порядке развития представленного решения.</a:t>
            </a:r>
            <a:endParaRPr lang="ru-RU"/>
          </a:p>
        </p:txBody>
      </p:sp>
      <p:sp>
        <p:nvSpPr>
          <p:cNvPr id="11172165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787559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002769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В результате работы создан функциональный прототип игры Cuppa, объединяющий визуальную новеллу и ритм-механику. Реализованы обычные и длинные ноты, система оценки точности, переходы между сценами и механизм выбора одной из двух концовок. Наиболее важными техническими задачами стали синхронизация нот с музыкой, обработка удержаний, управление состояниями игры и устойчивость к некорректным нотным картам. Апробация подтвердила прохождение ключевых сценариев и сопоставимое поведение на Linux и Windows, включая запуск в виртуализированной среде. Архитектура позволяет развивать проект без переработки основы: добавлять сюжетные ветки, композиции, визуальные эффекты и более сложные ритм-механики.</a:t>
            </a:r>
            <a:endParaRPr lang="ru-RU"/>
          </a:p>
        </p:txBody>
      </p:sp>
      <p:sp>
        <p:nvSpPr>
          <p:cNvPr id="15305439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2.png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4.png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6.png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8.png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10.png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12.png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14.png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16.png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18.png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20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Slide 1 master">
    <p:bg>
      <p:bgPr shadeToTitle="0">
        <a:solidFill>
          <a:srgbClr val="241318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27905149" name="Image 0" descr="preencoded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138119224" name="Shape 0"/>
          <p:cNvSpPr/>
          <p:nvPr/>
        </p:nvSpPr>
        <p:spPr bwMode="auto">
          <a:xfrm>
            <a:off x="0" y="0"/>
            <a:ext cx="9144000" cy="5143500"/>
          </a:xfrm>
          <a:prstGeom prst="rect">
            <a:avLst/>
          </a:prstGeom>
          <a:solidFill>
            <a:srgbClr val="241318"/>
          </a:solidFill>
          <a:ln/>
        </p:spPr>
      </p:sp>
      <p:pic>
        <p:nvPicPr>
          <p:cNvPr id="1955408767" name="Image 1" descr="preencoded.png">
            <a:hlinkClick r:id="rId3" tooltip=""/>
          </p:cNvPr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Slide 2 master">
    <p:bg>
      <p:bgPr shadeToTitle="0">
        <a:solidFill>
          <a:srgbClr val="241318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33960643" name="Image 0" descr="preencoded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861047795" name="Shape 0"/>
          <p:cNvSpPr/>
          <p:nvPr/>
        </p:nvSpPr>
        <p:spPr bwMode="auto">
          <a:xfrm>
            <a:off x="0" y="0"/>
            <a:ext cx="9144000" cy="5143500"/>
          </a:xfrm>
          <a:prstGeom prst="rect">
            <a:avLst/>
          </a:prstGeom>
          <a:solidFill>
            <a:srgbClr val="241318"/>
          </a:solidFill>
          <a:ln/>
        </p:spPr>
      </p:sp>
      <p:pic>
        <p:nvPicPr>
          <p:cNvPr id="1335703470" name="Image 1" descr="preencoded.png">
            <a:hlinkClick r:id="rId3" tooltip=""/>
          </p:cNvPr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Slide 3 master">
    <p:bg>
      <p:bgPr shadeToTitle="0">
        <a:solidFill>
          <a:srgbClr val="241318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9242599" name="Image 0" descr="preencoded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949773875" name="Shape 0"/>
          <p:cNvSpPr/>
          <p:nvPr/>
        </p:nvSpPr>
        <p:spPr bwMode="auto">
          <a:xfrm>
            <a:off x="0" y="0"/>
            <a:ext cx="9144000" cy="5143500"/>
          </a:xfrm>
          <a:prstGeom prst="rect">
            <a:avLst/>
          </a:prstGeom>
          <a:solidFill>
            <a:srgbClr val="241318"/>
          </a:solidFill>
          <a:ln/>
        </p:spPr>
      </p:sp>
      <p:pic>
        <p:nvPicPr>
          <p:cNvPr id="2034771470" name="Image 1" descr="preencoded.png">
            <a:hlinkClick r:id="rId3" tooltip=""/>
          </p:cNvPr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Slide 4 master">
    <p:bg>
      <p:bgPr shadeToTitle="0">
        <a:solidFill>
          <a:srgbClr val="241318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3054413" name="Image 0" descr="preencoded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65735764" name="Shape 0"/>
          <p:cNvSpPr/>
          <p:nvPr/>
        </p:nvSpPr>
        <p:spPr bwMode="auto">
          <a:xfrm>
            <a:off x="0" y="0"/>
            <a:ext cx="9144000" cy="5143500"/>
          </a:xfrm>
          <a:prstGeom prst="rect">
            <a:avLst/>
          </a:prstGeom>
          <a:solidFill>
            <a:srgbClr val="241318"/>
          </a:solidFill>
          <a:ln/>
        </p:spPr>
      </p:sp>
      <p:pic>
        <p:nvPicPr>
          <p:cNvPr id="1399853905" name="Image 1" descr="preencoded.png">
            <a:hlinkClick r:id="rId3" tooltip=""/>
          </p:cNvPr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Slide 5 master">
    <p:bg>
      <p:bgPr shadeToTitle="0">
        <a:solidFill>
          <a:srgbClr val="241318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09893751" name="Image 0" descr="preencoded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225078432" name="Shape 0"/>
          <p:cNvSpPr/>
          <p:nvPr/>
        </p:nvSpPr>
        <p:spPr bwMode="auto">
          <a:xfrm>
            <a:off x="0" y="0"/>
            <a:ext cx="9144000" cy="5143500"/>
          </a:xfrm>
          <a:prstGeom prst="rect">
            <a:avLst/>
          </a:prstGeom>
          <a:solidFill>
            <a:srgbClr val="241318"/>
          </a:solidFill>
          <a:ln/>
        </p:spPr>
      </p:sp>
      <p:pic>
        <p:nvPicPr>
          <p:cNvPr id="1289362291" name="Image 1" descr="preencoded.png">
            <a:hlinkClick r:id="rId3" tooltip=""/>
          </p:cNvPr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Slide 6 master">
    <p:bg>
      <p:bgPr shadeToTitle="0">
        <a:solidFill>
          <a:srgbClr val="241318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30741576" name="Image 0" descr="preencoded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281413645" name="Shape 0"/>
          <p:cNvSpPr/>
          <p:nvPr/>
        </p:nvSpPr>
        <p:spPr bwMode="auto">
          <a:xfrm>
            <a:off x="0" y="0"/>
            <a:ext cx="9144000" cy="5143500"/>
          </a:xfrm>
          <a:prstGeom prst="rect">
            <a:avLst/>
          </a:prstGeom>
          <a:solidFill>
            <a:srgbClr val="241318"/>
          </a:solidFill>
          <a:ln/>
        </p:spPr>
      </p:sp>
      <p:pic>
        <p:nvPicPr>
          <p:cNvPr id="404066312" name="Image 1" descr="preencoded.png">
            <a:hlinkClick r:id="rId3" tooltip=""/>
          </p:cNvPr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Slide 7 master">
    <p:bg>
      <p:bgPr shadeToTitle="0">
        <a:solidFill>
          <a:srgbClr val="241318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60785687" name="Image 0" descr="preencoded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43544242" name="Shape 0"/>
          <p:cNvSpPr/>
          <p:nvPr/>
        </p:nvSpPr>
        <p:spPr bwMode="auto">
          <a:xfrm>
            <a:off x="0" y="0"/>
            <a:ext cx="9144000" cy="5143500"/>
          </a:xfrm>
          <a:prstGeom prst="rect">
            <a:avLst/>
          </a:prstGeom>
          <a:solidFill>
            <a:srgbClr val="241318"/>
          </a:solidFill>
          <a:ln/>
        </p:spPr>
      </p:sp>
      <p:pic>
        <p:nvPicPr>
          <p:cNvPr id="2094183491" name="Image 1" descr="preencoded.png">
            <a:hlinkClick r:id="rId3" tooltip=""/>
          </p:cNvPr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Slide 8 master">
    <p:bg>
      <p:bgPr shadeToTitle="0">
        <a:solidFill>
          <a:srgbClr val="241318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87894920" name="Image 0" descr="preencoded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888466161" name="Shape 0"/>
          <p:cNvSpPr/>
          <p:nvPr/>
        </p:nvSpPr>
        <p:spPr bwMode="auto">
          <a:xfrm>
            <a:off x="0" y="0"/>
            <a:ext cx="9144000" cy="5143500"/>
          </a:xfrm>
          <a:prstGeom prst="rect">
            <a:avLst/>
          </a:prstGeom>
          <a:solidFill>
            <a:srgbClr val="241318"/>
          </a:solidFill>
          <a:ln/>
        </p:spPr>
      </p:sp>
      <p:pic>
        <p:nvPicPr>
          <p:cNvPr id="1900672388" name="Image 1" descr="preencoded.png">
            <a:hlinkClick r:id="rId3" tooltip=""/>
          </p:cNvPr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Slide 9 master">
    <p:bg>
      <p:bgPr shadeToTitle="0">
        <a:solidFill>
          <a:srgbClr val="241318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36407514" name="Image 0" descr="preencoded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94343162" name="Shape 0"/>
          <p:cNvSpPr/>
          <p:nvPr/>
        </p:nvSpPr>
        <p:spPr bwMode="auto">
          <a:xfrm>
            <a:off x="0" y="0"/>
            <a:ext cx="9144000" cy="5143500"/>
          </a:xfrm>
          <a:prstGeom prst="rect">
            <a:avLst/>
          </a:prstGeom>
          <a:solidFill>
            <a:srgbClr val="241318"/>
          </a:solidFill>
          <a:ln/>
        </p:spPr>
      </p:sp>
      <p:pic>
        <p:nvPicPr>
          <p:cNvPr id="894702188" name="Image 1" descr="preencoded.png">
            <a:hlinkClick r:id="rId3" tooltip=""/>
          </p:cNvPr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Slide 10 master">
    <p:bg>
      <p:bgPr shadeToTitle="0">
        <a:solidFill>
          <a:srgbClr val="241318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1237305" name="Image 0" descr="preencoded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638244995" name="Shape 0"/>
          <p:cNvSpPr/>
          <p:nvPr/>
        </p:nvSpPr>
        <p:spPr bwMode="auto">
          <a:xfrm>
            <a:off x="0" y="0"/>
            <a:ext cx="9144000" cy="5143500"/>
          </a:xfrm>
          <a:prstGeom prst="rect">
            <a:avLst/>
          </a:prstGeom>
          <a:solidFill>
            <a:srgbClr val="241318"/>
          </a:solidFill>
          <a:ln/>
        </p:spPr>
      </p:sp>
      <p:pic>
        <p:nvPicPr>
          <p:cNvPr id="243403963" name="Image 1" descr="preencoded.png">
            <a:hlinkClick r:id="rId3" tooltip=""/>
          </p:cNvPr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1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4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5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6.jpg"/><Relationship Id="rId4" Type="http://schemas.openxmlformats.org/officeDocument/2006/relationships/image" Target="../media/image27.jpg"/><Relationship Id="rId5" Type="http://schemas.openxmlformats.org/officeDocument/2006/relationships/image" Target="../media/image28.jpg"/><Relationship Id="rId6" Type="http://schemas.openxmlformats.org/officeDocument/2006/relationships/image" Target="../media/image29.jp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02686018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0" y="0"/>
            <a:ext cx="3429000" cy="5143500"/>
          </a:xfrm>
          <a:prstGeom prst="rect">
            <a:avLst/>
          </a:prstGeom>
        </p:spPr>
      </p:pic>
      <p:sp>
        <p:nvSpPr>
          <p:cNvPr id="1501061650" name="Shape 0"/>
          <p:cNvSpPr/>
          <p:nvPr/>
        </p:nvSpPr>
        <p:spPr bwMode="auto">
          <a:xfrm flipH="0" flipV="0">
            <a:off x="0" y="0"/>
            <a:ext cx="4121304" cy="5143500"/>
          </a:xfrm>
          <a:prstGeom prst="rect">
            <a:avLst/>
          </a:prstGeom>
          <a:solidFill>
            <a:srgbClr val="351A21"/>
          </a:solidFill>
          <a:ln/>
        </p:spPr>
      </p:sp>
      <p:sp>
        <p:nvSpPr>
          <p:cNvPr id="422745021" name="Text 1"/>
          <p:cNvSpPr/>
          <p:nvPr/>
        </p:nvSpPr>
        <p:spPr bwMode="auto">
          <a:xfrm flipH="0" flipV="0">
            <a:off x="4965365" y="1434385"/>
            <a:ext cx="3966749" cy="1301886"/>
          </a:xfrm>
          <a:prstGeom prst="rect">
            <a:avLst/>
          </a:prstGeom>
          <a:noFill/>
          <a:ln/>
        </p:spPr>
        <p:txBody>
          <a:bodyPr vertOverflow="overflow" horzOverflow="overflow" vert="horz" wrap="square" lIns="0" tIns="0" rIns="0" bIns="0" numCol="1" spcCol="0" rtlCol="0" fromWordArt="0" anchor="t" anchorCtr="0" forceAA="0" upright="0" compatLnSpc="0">
            <a:normAutofit fontScale="60000" lnSpcReduction="8000"/>
          </a:bodyPr>
          <a:lstStyle/>
          <a:p>
            <a:pPr marL="0" indent="0" algn="ctr">
              <a:lnSpc>
                <a:spcPct val="104000"/>
              </a:lnSpc>
              <a:buNone/>
              <a:defRPr/>
            </a:pPr>
            <a:r>
              <a:rPr lang="en-US" sz="11000" b="1">
                <a:solidFill>
                  <a:srgbClr val="FFDEA1"/>
                </a:solidFill>
                <a:latin typeface="Give You Glory"/>
                <a:ea typeface="Give You Glory"/>
                <a:cs typeface="Give You Glory"/>
              </a:rPr>
              <a:t> «Cuppa»</a:t>
            </a:r>
            <a:endParaRPr sz="11000" b="1">
              <a:latin typeface="Give You Glory"/>
              <a:cs typeface="Give You Glory"/>
            </a:endParaRPr>
          </a:p>
        </p:txBody>
      </p:sp>
      <p:sp>
        <p:nvSpPr>
          <p:cNvPr id="1424116549" name="Text 2"/>
          <p:cNvSpPr/>
          <p:nvPr/>
        </p:nvSpPr>
        <p:spPr bwMode="auto">
          <a:xfrm flipH="0" flipV="0">
            <a:off x="5412010" y="3640549"/>
            <a:ext cx="3550896" cy="613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33000"/>
              </a:lnSpc>
              <a:buNone/>
              <a:defRPr/>
            </a:pPr>
            <a:r>
              <a:rPr lang="ru-RU" sz="1800" b="1">
                <a:solidFill>
                  <a:srgbClr val="F8E5B8"/>
                </a:solidFill>
                <a:latin typeface="Bellota"/>
                <a:ea typeface="Bellota"/>
                <a:cs typeface="Bellota"/>
              </a:rPr>
              <a:t>Выполнил </a:t>
            </a:r>
            <a:r>
              <a:rPr lang="ru-RU" sz="1800" b="1">
                <a:solidFill>
                  <a:srgbClr val="F8E5B8"/>
                </a:solidFill>
                <a:latin typeface="Bellota"/>
                <a:ea typeface="Bellota"/>
                <a:cs typeface="Bellota"/>
              </a:rPr>
              <a:t>с</a:t>
            </a:r>
            <a:r>
              <a:rPr lang="en-US" sz="1800" b="1">
                <a:solidFill>
                  <a:srgbClr val="F8E5B8"/>
                </a:solidFill>
                <a:latin typeface="Bellota"/>
                <a:ea typeface="Bellota"/>
                <a:cs typeface="Bellota"/>
              </a:rPr>
              <a:t>тудент:</a:t>
            </a:r>
            <a:r>
              <a:rPr lang="ru-RU" sz="1800" b="1">
                <a:solidFill>
                  <a:srgbClr val="F8E5B8"/>
                </a:solidFill>
                <a:latin typeface="Bellota"/>
                <a:ea typeface="Bellota"/>
                <a:cs typeface="Bellota"/>
              </a:rPr>
              <a:t> </a:t>
            </a:r>
            <a:endParaRPr lang="ru-RU" sz="1800">
              <a:solidFill>
                <a:srgbClr val="F8E5B8"/>
              </a:solidFill>
              <a:latin typeface="Bellota"/>
              <a:ea typeface="Bellota"/>
              <a:cs typeface="Bellota"/>
            </a:endParaRPr>
          </a:p>
          <a:p>
            <a:pPr marL="0" indent="0" algn="r">
              <a:lnSpc>
                <a:spcPct val="133000"/>
              </a:lnSpc>
              <a:buNone/>
              <a:defRPr/>
            </a:pPr>
            <a:r>
              <a:rPr lang="ru-RU" sz="1800">
                <a:solidFill>
                  <a:srgbClr val="F8E5B8"/>
                </a:solidFill>
                <a:latin typeface="Bellota"/>
                <a:ea typeface="Bellota"/>
                <a:cs typeface="Bellota"/>
              </a:rPr>
              <a:t>Матешко Валерия Викторовна, </a:t>
            </a:r>
            <a:endParaRPr lang="ru-RU" sz="1800">
              <a:solidFill>
                <a:srgbClr val="F8E5B8"/>
              </a:solidFill>
              <a:latin typeface="Bellota"/>
              <a:ea typeface="Bellota"/>
              <a:cs typeface="Bellota"/>
            </a:endParaRPr>
          </a:p>
          <a:p>
            <a:pPr marL="0" indent="0" algn="r">
              <a:lnSpc>
                <a:spcPct val="133000"/>
              </a:lnSpc>
              <a:buNone/>
              <a:defRPr/>
            </a:pPr>
            <a:r>
              <a:rPr lang="ru-RU" sz="1800">
                <a:solidFill>
                  <a:srgbClr val="F8E5B8"/>
                </a:solidFill>
                <a:latin typeface="Bellota"/>
                <a:ea typeface="Bellota"/>
                <a:cs typeface="Bellota"/>
              </a:rPr>
              <a:t>ИВТб-2302-05-00</a:t>
            </a:r>
            <a:endParaRPr lang="ru-RU" sz="1800">
              <a:solidFill>
                <a:srgbClr val="F8E5B8"/>
              </a:solidFill>
              <a:latin typeface="Bellota"/>
              <a:ea typeface="Bellota"/>
              <a:cs typeface="Bellota"/>
            </a:endParaRPr>
          </a:p>
        </p:txBody>
      </p:sp>
      <p:sp>
        <p:nvSpPr>
          <p:cNvPr id="741363740" name=""/>
          <p:cNvSpPr/>
          <p:nvPr/>
        </p:nvSpPr>
        <p:spPr bwMode="auto">
          <a:xfrm rot="0" flipH="0" flipV="0">
            <a:off x="7682825" y="4700380"/>
            <a:ext cx="1387336" cy="421032"/>
          </a:xfrm>
          <a:prstGeom prst="rect">
            <a:avLst/>
          </a:prstGeom>
          <a:solidFill>
            <a:srgbClr val="24131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solidFill>
                <a:schemeClr val="tx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250" advClick="1">
        <p:fade thruBlk="0"/>
      </p:transition>
    </mc:Choice>
    <mc:Fallback>
      <p:transition spd="fast" advClick="1">
        <p:fade thruBlk="0"/>
      </p:transition>
    </mc:Fallback>
  </mc:AlternateContent>
  <p:timing>
    <p:bldLst>
      <p:bldP spid="42274502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0867051" name="Divider"/>
          <p:cNvSpPr/>
          <p:nvPr/>
        </p:nvSpPr>
        <p:spPr bwMode="auto">
          <a:xfrm>
            <a:off x="6801684" y="0"/>
            <a:ext cx="100000" cy="5143500"/>
          </a:xfrm>
          <a:prstGeom prst="rect">
            <a:avLst/>
          </a:prstGeom>
          <a:solidFill>
            <a:srgbClr val="FFDEA1"/>
          </a:solidFill>
          <a:ln>
            <a:noFill/>
          </a:ln>
        </p:spPr>
        <p:txBody>
          <a:bodyPr anchor="ctr"/>
          <a:p>
            <a:pPr algn="ctr">
              <a:defRPr/>
            </a:pPr>
            <a:endParaRPr>
              <a:latin typeface="Bellota"/>
              <a:cs typeface="Bellota"/>
            </a:endParaRPr>
          </a:p>
        </p:txBody>
      </p:sp>
      <p:sp>
        <p:nvSpPr>
          <p:cNvPr id="539546076" name="Eyebrow marker"/>
          <p:cNvSpPr/>
          <p:nvPr/>
        </p:nvSpPr>
        <p:spPr bwMode="auto">
          <a:xfrm>
            <a:off x="647065" y="327445"/>
            <a:ext cx="120000" cy="330000"/>
          </a:xfrm>
          <a:prstGeom prst="rect">
            <a:avLst/>
          </a:prstGeom>
          <a:solidFill>
            <a:srgbClr val="FFDEA1"/>
          </a:solidFill>
          <a:ln>
            <a:noFill/>
          </a:ln>
        </p:spPr>
        <p:txBody>
          <a:bodyPr anchor="ctr"/>
          <a:p>
            <a:pPr algn="ctr">
              <a:defRPr/>
            </a:pPr>
            <a:endParaRPr>
              <a:latin typeface="Bellota"/>
              <a:cs typeface="Bellota"/>
            </a:endParaRPr>
          </a:p>
        </p:txBody>
      </p:sp>
      <p:sp>
        <p:nvSpPr>
          <p:cNvPr id="58012406" name="Eyebrow"/>
          <p:cNvSpPr txBox="1"/>
          <p:nvPr/>
        </p:nvSpPr>
        <p:spPr bwMode="auto">
          <a:xfrm>
            <a:off x="867064" y="387444"/>
            <a:ext cx="4200000" cy="2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1600" b="1">
                <a:solidFill>
                  <a:srgbClr val="D2A45C"/>
                </a:solidFill>
                <a:latin typeface="Bellota"/>
                <a:ea typeface="Bellota"/>
                <a:cs typeface="Bellota"/>
              </a:rPr>
              <a:t>АКТУАЛЬНОСТЬ ПРОЕКТА</a:t>
            </a:r>
            <a:endParaRPr sz="1600">
              <a:latin typeface="Bellota"/>
              <a:cs typeface="Bellota"/>
            </a:endParaRPr>
          </a:p>
        </p:txBody>
      </p:sp>
      <p:sp>
        <p:nvSpPr>
          <p:cNvPr id="69132471" name="Title"/>
          <p:cNvSpPr txBox="1"/>
          <p:nvPr/>
        </p:nvSpPr>
        <p:spPr bwMode="auto">
          <a:xfrm flipH="0" flipV="0">
            <a:off x="647065" y="732663"/>
            <a:ext cx="4979999" cy="74440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2600" b="1">
                <a:solidFill>
                  <a:srgbClr val="FFDEA1"/>
                </a:solidFill>
                <a:latin typeface="Bellota"/>
                <a:ea typeface="Bellota"/>
                <a:cs typeface="Bellota"/>
              </a:rPr>
              <a:t>Почему жанры стоит объединить?</a:t>
            </a:r>
            <a:endParaRPr sz="2600">
              <a:latin typeface="Bellota"/>
              <a:cs typeface="Bellota"/>
            </a:endParaRPr>
          </a:p>
        </p:txBody>
      </p:sp>
      <p:sp>
        <p:nvSpPr>
          <p:cNvPr id="1207940379" name="Problem panel"/>
          <p:cNvSpPr/>
          <p:nvPr/>
        </p:nvSpPr>
        <p:spPr bwMode="auto">
          <a:xfrm flipH="0" flipV="0">
            <a:off x="647065" y="1707064"/>
            <a:ext cx="5372336" cy="922662"/>
          </a:xfrm>
          <a:prstGeom prst="roundRect">
            <a:avLst>
              <a:gd name="adj" fmla="val 16667"/>
            </a:avLst>
          </a:prstGeom>
          <a:solidFill>
            <a:srgbClr val="FFDEA1"/>
          </a:solidFill>
          <a:ln>
            <a:noFill/>
          </a:ln>
        </p:spPr>
        <p:txBody>
          <a:bodyPr anchor="ctr"/>
          <a:p>
            <a:pPr algn="ctr">
              <a:defRPr/>
            </a:pPr>
            <a:endParaRPr>
              <a:latin typeface="Bellota"/>
              <a:cs typeface="Bellota"/>
            </a:endParaRPr>
          </a:p>
        </p:txBody>
      </p:sp>
      <p:sp>
        <p:nvSpPr>
          <p:cNvPr id="1499378854" name="Problem text"/>
          <p:cNvSpPr txBox="1"/>
          <p:nvPr/>
        </p:nvSpPr>
        <p:spPr bwMode="auto">
          <a:xfrm flipH="0" flipV="0">
            <a:off x="927228" y="1866575"/>
            <a:ext cx="4291521" cy="4699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550"/>
              </a:spcAft>
              <a:buNone/>
              <a:defRPr/>
            </a:pPr>
            <a:r>
              <a:rPr lang="ru-RU" sz="1200" b="1">
                <a:solidFill>
                  <a:srgbClr val="241318"/>
                </a:solidFill>
                <a:latin typeface="Bellota"/>
                <a:ea typeface="Bellota"/>
                <a:cs typeface="Bellota"/>
              </a:rPr>
              <a:t>ПРОБЛЕМА ЖАНРА</a:t>
            </a:r>
            <a:endParaRPr sz="1200">
              <a:latin typeface="Bellota"/>
              <a:cs typeface="Bellota"/>
            </a:endParaRPr>
          </a:p>
          <a:p>
            <a:pPr marL="0" indent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1200">
                <a:solidFill>
                  <a:srgbClr val="241318"/>
                </a:solidFill>
                <a:latin typeface="Bellota"/>
                <a:ea typeface="Bellota"/>
                <a:cs typeface="Bellota"/>
              </a:rPr>
              <a:t>Во многих ритм-играх механика выходит на первый план, а сюжет и атмосфера остаются фоном.</a:t>
            </a:r>
            <a:endParaRPr sz="1200">
              <a:latin typeface="Bellota"/>
              <a:cs typeface="Bellota"/>
            </a:endParaRPr>
          </a:p>
        </p:txBody>
      </p:sp>
      <p:sp>
        <p:nvSpPr>
          <p:cNvPr id="1785283465" name="Card 01"/>
          <p:cNvSpPr/>
          <p:nvPr/>
        </p:nvSpPr>
        <p:spPr bwMode="auto">
          <a:xfrm flipH="0" flipV="0">
            <a:off x="647065" y="2838641"/>
            <a:ext cx="5372336" cy="559999"/>
          </a:xfrm>
          <a:prstGeom prst="roundRect">
            <a:avLst>
              <a:gd name="adj" fmla="val 16667"/>
            </a:avLst>
          </a:prstGeom>
          <a:solidFill>
            <a:srgbClr val="351A21"/>
          </a:solidFill>
          <a:ln w="12700">
            <a:solidFill>
              <a:srgbClr val="FFDEA1"/>
            </a:solidFill>
            <a:prstDash val="solid"/>
          </a:ln>
        </p:spPr>
        <p:txBody>
          <a:bodyPr anchor="ctr"/>
          <a:p>
            <a:pPr algn="ctr">
              <a:defRPr/>
            </a:pPr>
            <a:endParaRPr>
              <a:latin typeface="Bellota"/>
              <a:cs typeface="Bellota"/>
            </a:endParaRPr>
          </a:p>
        </p:txBody>
      </p:sp>
      <p:sp>
        <p:nvSpPr>
          <p:cNvPr id="548061877" name="Card number 01"/>
          <p:cNvSpPr txBox="1"/>
          <p:nvPr/>
        </p:nvSpPr>
        <p:spPr bwMode="auto">
          <a:xfrm>
            <a:off x="857064" y="2970641"/>
            <a:ext cx="5100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1400" b="1">
                <a:solidFill>
                  <a:srgbClr val="FFDEA1"/>
                </a:solidFill>
                <a:latin typeface="Bellota"/>
                <a:ea typeface="Bellota"/>
                <a:cs typeface="Bellota"/>
              </a:rPr>
              <a:t>01</a:t>
            </a:r>
            <a:endParaRPr sz="1400">
              <a:latin typeface="Bellota"/>
              <a:cs typeface="Bellota"/>
            </a:endParaRPr>
          </a:p>
        </p:txBody>
      </p:sp>
      <p:sp>
        <p:nvSpPr>
          <p:cNvPr id="1564800167" name="Card divider 01"/>
          <p:cNvSpPr/>
          <p:nvPr/>
        </p:nvSpPr>
        <p:spPr bwMode="auto">
          <a:xfrm>
            <a:off x="1214510" y="2963640"/>
            <a:ext cx="22000" cy="310000"/>
          </a:xfrm>
          <a:prstGeom prst="rect">
            <a:avLst/>
          </a:prstGeom>
          <a:solidFill>
            <a:srgbClr val="FFDEA1"/>
          </a:solidFill>
          <a:ln>
            <a:noFill/>
          </a:ln>
        </p:spPr>
        <p:txBody>
          <a:bodyPr anchor="ctr"/>
          <a:p>
            <a:pPr algn="ctr">
              <a:defRPr/>
            </a:pPr>
            <a:endParaRPr>
              <a:latin typeface="Bellota"/>
              <a:cs typeface="Bellota"/>
            </a:endParaRPr>
          </a:p>
        </p:txBody>
      </p:sp>
      <p:sp>
        <p:nvSpPr>
          <p:cNvPr id="982689641" name="Card text 01"/>
          <p:cNvSpPr txBox="1"/>
          <p:nvPr/>
        </p:nvSpPr>
        <p:spPr bwMode="auto">
          <a:xfrm>
            <a:off x="1359999" y="2916641"/>
            <a:ext cx="3720000" cy="4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  <a:buNone/>
              <a:defRPr/>
            </a:pPr>
            <a:r>
              <a:rPr lang="ru-RU" sz="1200" b="1">
                <a:solidFill>
                  <a:srgbClr val="FFDEA1"/>
                </a:solidFill>
                <a:latin typeface="Bellota"/>
                <a:ea typeface="Bellota"/>
                <a:cs typeface="Bellota"/>
              </a:rPr>
              <a:t>МУЗЫКА СОЗДАЁТ АТМОСФЕРУ</a:t>
            </a:r>
            <a:endParaRPr sz="1200">
              <a:solidFill>
                <a:srgbClr val="FFDEA1"/>
              </a:solidFill>
              <a:latin typeface="Bellota"/>
              <a:cs typeface="Bellota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1100">
                <a:solidFill>
                  <a:srgbClr val="FFDEA1"/>
                </a:solidFill>
                <a:latin typeface="Bellota"/>
                <a:ea typeface="Bellota"/>
                <a:cs typeface="Bellota"/>
              </a:rPr>
              <a:t>Ритм работает не отдельно, а внутри событий игры.</a:t>
            </a:r>
            <a:endParaRPr sz="1100">
              <a:solidFill>
                <a:srgbClr val="FFDEA1"/>
              </a:solidFill>
              <a:latin typeface="Bellota"/>
              <a:cs typeface="Bellota"/>
            </a:endParaRPr>
          </a:p>
        </p:txBody>
      </p:sp>
      <p:sp>
        <p:nvSpPr>
          <p:cNvPr id="785725152" name="Card 02"/>
          <p:cNvSpPr/>
          <p:nvPr/>
        </p:nvSpPr>
        <p:spPr bwMode="auto">
          <a:xfrm flipH="0" flipV="0">
            <a:off x="647065" y="3548640"/>
            <a:ext cx="5372336" cy="559999"/>
          </a:xfrm>
          <a:prstGeom prst="roundRect">
            <a:avLst>
              <a:gd name="adj" fmla="val 16667"/>
            </a:avLst>
          </a:prstGeom>
          <a:solidFill>
            <a:srgbClr val="351A21"/>
          </a:solidFill>
          <a:ln w="12700">
            <a:solidFill>
              <a:srgbClr val="FFDEA1"/>
            </a:solidFill>
            <a:prstDash val="solid"/>
          </a:ln>
        </p:spPr>
        <p:txBody>
          <a:bodyPr anchor="ctr"/>
          <a:p>
            <a:pPr algn="ctr">
              <a:defRPr/>
            </a:pPr>
            <a:endParaRPr>
              <a:latin typeface="Bellota"/>
              <a:cs typeface="Bellota"/>
            </a:endParaRPr>
          </a:p>
        </p:txBody>
      </p:sp>
      <p:sp>
        <p:nvSpPr>
          <p:cNvPr id="811828430" name="Card number 02"/>
          <p:cNvSpPr txBox="1"/>
          <p:nvPr/>
        </p:nvSpPr>
        <p:spPr bwMode="auto">
          <a:xfrm>
            <a:off x="857064" y="3680641"/>
            <a:ext cx="5100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1300" b="1">
                <a:solidFill>
                  <a:srgbClr val="FFDEA1"/>
                </a:solidFill>
                <a:latin typeface="Bellota"/>
                <a:ea typeface="Bellota"/>
                <a:cs typeface="Bellota"/>
              </a:rPr>
              <a:t>02</a:t>
            </a:r>
            <a:endParaRPr sz="1300">
              <a:latin typeface="Bellota"/>
              <a:cs typeface="Bellota"/>
            </a:endParaRPr>
          </a:p>
        </p:txBody>
      </p:sp>
      <p:sp>
        <p:nvSpPr>
          <p:cNvPr id="1906370407" name="Card divider 02"/>
          <p:cNvSpPr/>
          <p:nvPr/>
        </p:nvSpPr>
        <p:spPr bwMode="auto">
          <a:xfrm>
            <a:off x="1214510" y="3673641"/>
            <a:ext cx="22000" cy="310000"/>
          </a:xfrm>
          <a:prstGeom prst="rect">
            <a:avLst/>
          </a:prstGeom>
          <a:solidFill>
            <a:srgbClr val="FFDEA1"/>
          </a:solidFill>
          <a:ln>
            <a:noFill/>
          </a:ln>
        </p:spPr>
        <p:txBody>
          <a:bodyPr anchor="ctr"/>
          <a:p>
            <a:pPr algn="ctr">
              <a:defRPr/>
            </a:pPr>
            <a:endParaRPr>
              <a:latin typeface="Bellota"/>
              <a:cs typeface="Bellota"/>
            </a:endParaRPr>
          </a:p>
        </p:txBody>
      </p:sp>
      <p:sp>
        <p:nvSpPr>
          <p:cNvPr id="7643624" name="Card text 02"/>
          <p:cNvSpPr txBox="1"/>
          <p:nvPr/>
        </p:nvSpPr>
        <p:spPr bwMode="auto">
          <a:xfrm flipH="0" flipV="0">
            <a:off x="1360434" y="3626641"/>
            <a:ext cx="4226630" cy="4099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  <a:buNone/>
              <a:defRPr/>
            </a:pPr>
            <a:r>
              <a:rPr lang="ru-RU" sz="1200" b="1">
                <a:solidFill>
                  <a:srgbClr val="FFDEA1"/>
                </a:solidFill>
                <a:latin typeface="Bellota"/>
                <a:ea typeface="Bellota"/>
                <a:cs typeface="Bellota"/>
              </a:rPr>
              <a:t>ДВА ЖАНРА — ОДИН ОПЫТ</a:t>
            </a:r>
            <a:endParaRPr sz="1200">
              <a:latin typeface="Bellota"/>
              <a:cs typeface="Bellota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1100">
                <a:solidFill>
                  <a:srgbClr val="F8E5B8"/>
                </a:solidFill>
                <a:latin typeface="Bellota"/>
                <a:ea typeface="Bellota"/>
                <a:cs typeface="Bellota"/>
              </a:rPr>
              <a:t>Новелла добавляет персонажей, диалоги и развитие истории.</a:t>
            </a:r>
            <a:endParaRPr sz="1100">
              <a:latin typeface="Bellota"/>
              <a:cs typeface="Bellota"/>
            </a:endParaRPr>
          </a:p>
        </p:txBody>
      </p:sp>
      <p:sp>
        <p:nvSpPr>
          <p:cNvPr id="1802639931" name="Card 03"/>
          <p:cNvSpPr/>
          <p:nvPr/>
        </p:nvSpPr>
        <p:spPr bwMode="auto">
          <a:xfrm flipH="0" flipV="0">
            <a:off x="647065" y="4258641"/>
            <a:ext cx="5372336" cy="559999"/>
          </a:xfrm>
          <a:prstGeom prst="roundRect">
            <a:avLst>
              <a:gd name="adj" fmla="val 16667"/>
            </a:avLst>
          </a:prstGeom>
          <a:solidFill>
            <a:srgbClr val="351A21"/>
          </a:solidFill>
          <a:ln w="12700">
            <a:solidFill>
              <a:srgbClr val="FFDEA1"/>
            </a:solidFill>
            <a:prstDash val="solid"/>
          </a:ln>
        </p:spPr>
        <p:txBody>
          <a:bodyPr anchor="ctr"/>
          <a:p>
            <a:pPr algn="ctr">
              <a:defRPr/>
            </a:pPr>
            <a:endParaRPr>
              <a:latin typeface="Bellota"/>
              <a:cs typeface="Bellota"/>
            </a:endParaRPr>
          </a:p>
        </p:txBody>
      </p:sp>
      <p:sp>
        <p:nvSpPr>
          <p:cNvPr id="1449583319" name="Card number 03"/>
          <p:cNvSpPr txBox="1"/>
          <p:nvPr/>
        </p:nvSpPr>
        <p:spPr bwMode="auto">
          <a:xfrm>
            <a:off x="857064" y="4390641"/>
            <a:ext cx="5100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1300" b="1">
                <a:solidFill>
                  <a:srgbClr val="FFDEA1"/>
                </a:solidFill>
                <a:latin typeface="Bellota"/>
                <a:ea typeface="Bellota"/>
                <a:cs typeface="Bellota"/>
              </a:rPr>
              <a:t>03</a:t>
            </a:r>
            <a:endParaRPr sz="1300">
              <a:latin typeface="Bellota"/>
              <a:cs typeface="Bellota"/>
            </a:endParaRPr>
          </a:p>
        </p:txBody>
      </p:sp>
      <p:sp>
        <p:nvSpPr>
          <p:cNvPr id="1246718930" name="Card divider 03"/>
          <p:cNvSpPr/>
          <p:nvPr/>
        </p:nvSpPr>
        <p:spPr bwMode="auto">
          <a:xfrm>
            <a:off x="1214510" y="4383641"/>
            <a:ext cx="22000" cy="310000"/>
          </a:xfrm>
          <a:prstGeom prst="rect">
            <a:avLst/>
          </a:prstGeom>
          <a:solidFill>
            <a:srgbClr val="FFDEA1"/>
          </a:solidFill>
          <a:ln>
            <a:noFill/>
          </a:ln>
        </p:spPr>
        <p:txBody>
          <a:bodyPr anchor="ctr"/>
          <a:p>
            <a:pPr algn="ctr">
              <a:defRPr/>
            </a:pPr>
            <a:endParaRPr>
              <a:latin typeface="Bellota"/>
              <a:cs typeface="Bellota"/>
            </a:endParaRPr>
          </a:p>
        </p:txBody>
      </p:sp>
      <p:sp>
        <p:nvSpPr>
          <p:cNvPr id="450848280" name="Card text 03"/>
          <p:cNvSpPr txBox="1"/>
          <p:nvPr/>
        </p:nvSpPr>
        <p:spPr bwMode="auto">
          <a:xfrm flipH="0" flipV="0">
            <a:off x="1359999" y="4336641"/>
            <a:ext cx="3962282" cy="4099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350"/>
              </a:spcAft>
              <a:buNone/>
              <a:defRPr/>
            </a:pPr>
            <a:r>
              <a:rPr lang="ru-RU" sz="1100" b="1">
                <a:solidFill>
                  <a:srgbClr val="FFDEA1"/>
                </a:solidFill>
                <a:latin typeface="Bellota"/>
                <a:ea typeface="Bellota"/>
                <a:cs typeface="Bellota"/>
              </a:rPr>
              <a:t>ДЕЙСТВИЯ ИМЕЮТ ПОСЛЕДСТВИЯ</a:t>
            </a:r>
            <a:endParaRPr sz="1100">
              <a:latin typeface="Bellota"/>
              <a:cs typeface="Bellota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1000">
                <a:solidFill>
                  <a:srgbClr val="F8E5B8"/>
                </a:solidFill>
                <a:latin typeface="Bellota"/>
                <a:ea typeface="Bellota"/>
                <a:cs typeface="Bellota"/>
              </a:rPr>
              <a:t>Точность приготовления кофе влияет на очки и концовку.</a:t>
            </a:r>
            <a:endParaRPr sz="1000">
              <a:latin typeface="Bellota"/>
              <a:cs typeface="Bellota"/>
            </a:endParaRPr>
          </a:p>
        </p:txBody>
      </p:sp>
      <p:sp>
        <p:nvSpPr>
          <p:cNvPr id="234878835" name=""/>
          <p:cNvSpPr/>
          <p:nvPr/>
        </p:nvSpPr>
        <p:spPr bwMode="auto">
          <a:xfrm rot="0" flipH="0" flipV="0">
            <a:off x="7682824" y="4700379"/>
            <a:ext cx="1387335" cy="421030"/>
          </a:xfrm>
          <a:prstGeom prst="rect">
            <a:avLst/>
          </a:prstGeom>
          <a:solidFill>
            <a:srgbClr val="24131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solidFill>
                <a:schemeClr val="tx1"/>
              </a:solidFill>
              <a:latin typeface="Bellota"/>
              <a:cs typeface="Bellot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250" advClick="1">
        <p:fade thruBlk="0"/>
      </p:transition>
    </mc:Choice>
    <mc:Fallback>
      <p:transition spd="fast" advClick="1">
        <p:fade thruBlk="0"/>
      </p:transition>
    </mc:Fallback>
  </mc:AlternateContent>
  <p:timing>
    <p:bldLst>
      <p:bldP spid="6913247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3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41588" name="Title"/>
          <p:cNvSpPr txBox="1"/>
          <p:nvPr/>
        </p:nvSpPr>
        <p:spPr bwMode="auto">
          <a:xfrm>
            <a:off x="440000" y="800000"/>
            <a:ext cx="4900000" cy="4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2600" b="1">
                <a:solidFill>
                  <a:srgbClr val="FFDEA1"/>
                </a:solidFill>
                <a:latin typeface="Bellota"/>
                <a:ea typeface="Bellota"/>
                <a:cs typeface="Bellota"/>
              </a:rPr>
              <a:t>Что должно быть создано?</a:t>
            </a:r>
            <a:endParaRPr sz="2600">
              <a:latin typeface="Bellota"/>
              <a:cs typeface="Bellota"/>
            </a:endParaRPr>
          </a:p>
        </p:txBody>
      </p:sp>
      <p:sp>
        <p:nvSpPr>
          <p:cNvPr id="575708362" name="Tasks header"/>
          <p:cNvSpPr txBox="1"/>
          <p:nvPr/>
        </p:nvSpPr>
        <p:spPr bwMode="auto">
          <a:xfrm flipH="0" flipV="0">
            <a:off x="439999" y="2407445"/>
            <a:ext cx="2742608" cy="2099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1600" b="1">
                <a:solidFill>
                  <a:srgbClr val="D2A45C"/>
                </a:solidFill>
                <a:latin typeface="Bellota"/>
                <a:ea typeface="Bellota"/>
                <a:cs typeface="Bellota"/>
              </a:rPr>
              <a:t>ЗАДАЧИ РАЗРАБОТКИ</a:t>
            </a:r>
            <a:endParaRPr sz="1600">
              <a:latin typeface="Bellota"/>
              <a:cs typeface="Bellota"/>
            </a:endParaRPr>
          </a:p>
        </p:txBody>
      </p:sp>
      <p:sp>
        <p:nvSpPr>
          <p:cNvPr id="216498655" name="Task 01"/>
          <p:cNvSpPr/>
          <p:nvPr/>
        </p:nvSpPr>
        <p:spPr bwMode="auto">
          <a:xfrm flipH="0" flipV="0">
            <a:off x="425422" y="2790978"/>
            <a:ext cx="4802119" cy="332146"/>
          </a:xfrm>
          <a:prstGeom prst="roundRect">
            <a:avLst>
              <a:gd name="adj" fmla="val 16667"/>
            </a:avLst>
          </a:prstGeom>
          <a:solidFill>
            <a:srgbClr val="351A21"/>
          </a:solidFill>
          <a:ln w="9525">
            <a:solidFill>
              <a:srgbClr val="FFDEA1"/>
            </a:solidFill>
            <a:prstDash val="solid"/>
          </a:ln>
        </p:spPr>
        <p:txBody>
          <a:bodyPr anchor="ctr"/>
          <a:p>
            <a:pPr algn="ctr">
              <a:defRPr/>
            </a:pPr>
            <a:endParaRPr sz="2600">
              <a:latin typeface="Bellota"/>
              <a:cs typeface="Bellota"/>
            </a:endParaRPr>
          </a:p>
        </p:txBody>
      </p:sp>
      <p:sp>
        <p:nvSpPr>
          <p:cNvPr id="395347740" name="Task number 01"/>
          <p:cNvSpPr txBox="1"/>
          <p:nvPr/>
        </p:nvSpPr>
        <p:spPr bwMode="auto">
          <a:xfrm flipH="0" flipV="0">
            <a:off x="595422" y="2857978"/>
            <a:ext cx="405241" cy="1515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1600" b="1">
                <a:solidFill>
                  <a:srgbClr val="FFDEA1"/>
                </a:solidFill>
                <a:latin typeface="Bellota"/>
                <a:ea typeface="Bellota"/>
                <a:cs typeface="Bellota"/>
              </a:rPr>
              <a:t>01</a:t>
            </a:r>
            <a:endParaRPr sz="1600">
              <a:latin typeface="Bellota"/>
              <a:cs typeface="Bellota"/>
            </a:endParaRPr>
          </a:p>
        </p:txBody>
      </p:sp>
      <p:sp>
        <p:nvSpPr>
          <p:cNvPr id="1263449039" name="Task divider 01"/>
          <p:cNvSpPr/>
          <p:nvPr/>
        </p:nvSpPr>
        <p:spPr bwMode="auto">
          <a:xfrm flipH="0" flipV="0">
            <a:off x="1085421" y="2847978"/>
            <a:ext cx="45720" cy="198122"/>
          </a:xfrm>
          <a:prstGeom prst="rect">
            <a:avLst/>
          </a:prstGeom>
          <a:solidFill>
            <a:srgbClr val="FFDEA1"/>
          </a:solidFill>
          <a:ln>
            <a:noFill/>
          </a:ln>
        </p:spPr>
        <p:txBody>
          <a:bodyPr anchor="ctr"/>
          <a:p>
            <a:pPr algn="ctr">
              <a:defRPr/>
            </a:pPr>
            <a:endParaRPr sz="2600">
              <a:latin typeface="Bellota"/>
              <a:cs typeface="Bellota"/>
            </a:endParaRPr>
          </a:p>
        </p:txBody>
      </p:sp>
      <p:sp>
        <p:nvSpPr>
          <p:cNvPr id="1518213773" name="Task text 01"/>
          <p:cNvSpPr txBox="1"/>
          <p:nvPr/>
        </p:nvSpPr>
        <p:spPr bwMode="auto">
          <a:xfrm flipH="0" flipV="0">
            <a:off x="1275422" y="2851977"/>
            <a:ext cx="3586393" cy="17481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1200" b="1">
                <a:solidFill>
                  <a:srgbClr val="F8E5B8"/>
                </a:solidFill>
                <a:latin typeface="Bellota"/>
                <a:ea typeface="Bellota"/>
                <a:cs typeface="Bellota"/>
              </a:rPr>
              <a:t>Проанализировать аналоги и механики</a:t>
            </a:r>
            <a:endParaRPr sz="1200">
              <a:latin typeface="Bellota"/>
              <a:cs typeface="Bellota"/>
            </a:endParaRPr>
          </a:p>
        </p:txBody>
      </p:sp>
      <p:sp>
        <p:nvSpPr>
          <p:cNvPr id="750114390" name="Task 02"/>
          <p:cNvSpPr/>
          <p:nvPr/>
        </p:nvSpPr>
        <p:spPr bwMode="auto">
          <a:xfrm flipH="0" flipV="0">
            <a:off x="425422" y="3185488"/>
            <a:ext cx="4802119" cy="332146"/>
          </a:xfrm>
          <a:prstGeom prst="roundRect">
            <a:avLst>
              <a:gd name="adj" fmla="val 16667"/>
            </a:avLst>
          </a:prstGeom>
          <a:solidFill>
            <a:srgbClr val="351A21"/>
          </a:solidFill>
          <a:ln w="9525">
            <a:solidFill>
              <a:srgbClr val="FFDEA1"/>
            </a:solidFill>
            <a:prstDash val="solid"/>
          </a:ln>
        </p:spPr>
        <p:txBody>
          <a:bodyPr anchor="ctr"/>
          <a:p>
            <a:pPr algn="ctr">
              <a:defRPr/>
            </a:pPr>
            <a:endParaRPr sz="2600">
              <a:latin typeface="Bellota"/>
              <a:cs typeface="Bellota"/>
            </a:endParaRPr>
          </a:p>
        </p:txBody>
      </p:sp>
      <p:sp>
        <p:nvSpPr>
          <p:cNvPr id="854312329" name="Task number 02"/>
          <p:cNvSpPr txBox="1"/>
          <p:nvPr/>
        </p:nvSpPr>
        <p:spPr bwMode="auto">
          <a:xfrm flipH="0" flipV="0">
            <a:off x="595422" y="3252489"/>
            <a:ext cx="405241" cy="1515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1600" b="1">
                <a:solidFill>
                  <a:srgbClr val="FFDEA1"/>
                </a:solidFill>
                <a:latin typeface="Bellota"/>
                <a:ea typeface="Bellota"/>
                <a:cs typeface="Bellota"/>
              </a:rPr>
              <a:t>02</a:t>
            </a:r>
            <a:endParaRPr sz="1600">
              <a:latin typeface="Bellota"/>
              <a:cs typeface="Bellota"/>
            </a:endParaRPr>
          </a:p>
        </p:txBody>
      </p:sp>
      <p:sp>
        <p:nvSpPr>
          <p:cNvPr id="1121605787" name="Task divider 02"/>
          <p:cNvSpPr/>
          <p:nvPr/>
        </p:nvSpPr>
        <p:spPr bwMode="auto">
          <a:xfrm flipH="0" flipV="0">
            <a:off x="1085421" y="3242489"/>
            <a:ext cx="45720" cy="198122"/>
          </a:xfrm>
          <a:prstGeom prst="rect">
            <a:avLst/>
          </a:prstGeom>
          <a:solidFill>
            <a:srgbClr val="FFDEA1"/>
          </a:solidFill>
          <a:ln>
            <a:noFill/>
          </a:ln>
        </p:spPr>
        <p:txBody>
          <a:bodyPr anchor="ctr"/>
          <a:p>
            <a:pPr algn="ctr">
              <a:defRPr/>
            </a:pPr>
            <a:endParaRPr sz="2600">
              <a:latin typeface="Bellota"/>
              <a:cs typeface="Bellota"/>
            </a:endParaRPr>
          </a:p>
        </p:txBody>
      </p:sp>
      <p:sp>
        <p:nvSpPr>
          <p:cNvPr id="241828054" name="Task text 02"/>
          <p:cNvSpPr txBox="1"/>
          <p:nvPr/>
        </p:nvSpPr>
        <p:spPr bwMode="auto">
          <a:xfrm flipH="0" flipV="0">
            <a:off x="1275422" y="3246489"/>
            <a:ext cx="3586393" cy="17481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1200" b="1">
                <a:solidFill>
                  <a:srgbClr val="F8E5B8"/>
                </a:solidFill>
                <a:latin typeface="Bellota"/>
                <a:ea typeface="Bellota"/>
                <a:cs typeface="Bellota"/>
              </a:rPr>
              <a:t>Сформировать требования к прототипу</a:t>
            </a:r>
            <a:endParaRPr sz="1200">
              <a:latin typeface="Bellota"/>
              <a:cs typeface="Bellota"/>
            </a:endParaRPr>
          </a:p>
        </p:txBody>
      </p:sp>
      <p:sp>
        <p:nvSpPr>
          <p:cNvPr id="1684028939" name="Task 03"/>
          <p:cNvSpPr/>
          <p:nvPr/>
        </p:nvSpPr>
        <p:spPr bwMode="auto">
          <a:xfrm flipH="0" flipV="0">
            <a:off x="425422" y="3579999"/>
            <a:ext cx="4802119" cy="332146"/>
          </a:xfrm>
          <a:prstGeom prst="roundRect">
            <a:avLst>
              <a:gd name="adj" fmla="val 16667"/>
            </a:avLst>
          </a:prstGeom>
          <a:solidFill>
            <a:srgbClr val="351A21"/>
          </a:solidFill>
          <a:ln w="9525">
            <a:solidFill>
              <a:srgbClr val="FFDEA1"/>
            </a:solidFill>
            <a:prstDash val="solid"/>
          </a:ln>
        </p:spPr>
        <p:txBody>
          <a:bodyPr anchor="ctr"/>
          <a:p>
            <a:pPr algn="ctr">
              <a:defRPr/>
            </a:pPr>
            <a:endParaRPr sz="2600">
              <a:latin typeface="Bellota"/>
              <a:cs typeface="Bellota"/>
            </a:endParaRPr>
          </a:p>
        </p:txBody>
      </p:sp>
      <p:sp>
        <p:nvSpPr>
          <p:cNvPr id="1146328464" name="Task number 03"/>
          <p:cNvSpPr txBox="1"/>
          <p:nvPr/>
        </p:nvSpPr>
        <p:spPr bwMode="auto">
          <a:xfrm flipH="0" flipV="0">
            <a:off x="595422" y="3646999"/>
            <a:ext cx="405241" cy="1515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1600" b="1">
                <a:solidFill>
                  <a:srgbClr val="FFDEA1"/>
                </a:solidFill>
                <a:latin typeface="Bellota"/>
                <a:ea typeface="Bellota"/>
                <a:cs typeface="Bellota"/>
              </a:rPr>
              <a:t>03</a:t>
            </a:r>
            <a:endParaRPr sz="1600">
              <a:latin typeface="Bellota"/>
              <a:cs typeface="Bellota"/>
            </a:endParaRPr>
          </a:p>
        </p:txBody>
      </p:sp>
      <p:sp>
        <p:nvSpPr>
          <p:cNvPr id="907903798" name="Task divider 03"/>
          <p:cNvSpPr/>
          <p:nvPr/>
        </p:nvSpPr>
        <p:spPr bwMode="auto">
          <a:xfrm flipH="0" flipV="0">
            <a:off x="1085421" y="3636999"/>
            <a:ext cx="45720" cy="198122"/>
          </a:xfrm>
          <a:prstGeom prst="rect">
            <a:avLst/>
          </a:prstGeom>
          <a:solidFill>
            <a:srgbClr val="FFDEA1"/>
          </a:solidFill>
          <a:ln>
            <a:noFill/>
          </a:ln>
        </p:spPr>
        <p:txBody>
          <a:bodyPr anchor="ctr"/>
          <a:p>
            <a:pPr algn="ctr">
              <a:defRPr/>
            </a:pPr>
            <a:endParaRPr sz="2600">
              <a:latin typeface="Bellota"/>
              <a:cs typeface="Bellota"/>
            </a:endParaRPr>
          </a:p>
        </p:txBody>
      </p:sp>
      <p:sp>
        <p:nvSpPr>
          <p:cNvPr id="922109463" name="Task text 03"/>
          <p:cNvSpPr txBox="1"/>
          <p:nvPr/>
        </p:nvSpPr>
        <p:spPr bwMode="auto">
          <a:xfrm flipH="0" flipV="0">
            <a:off x="1275422" y="3640999"/>
            <a:ext cx="3897675" cy="17481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1200" b="1">
                <a:solidFill>
                  <a:srgbClr val="F8E5B8"/>
                </a:solidFill>
                <a:latin typeface="Bellota"/>
                <a:ea typeface="Bellota"/>
                <a:cs typeface="Bellota"/>
              </a:rPr>
              <a:t>Спроектировать архитектуру и состояния</a:t>
            </a:r>
            <a:endParaRPr sz="1200">
              <a:latin typeface="Bellota"/>
              <a:cs typeface="Bellota"/>
            </a:endParaRPr>
          </a:p>
        </p:txBody>
      </p:sp>
      <p:sp>
        <p:nvSpPr>
          <p:cNvPr id="843772545" name="Task 04"/>
          <p:cNvSpPr/>
          <p:nvPr/>
        </p:nvSpPr>
        <p:spPr bwMode="auto">
          <a:xfrm flipH="0" flipV="0">
            <a:off x="425422" y="3974510"/>
            <a:ext cx="4802119" cy="332146"/>
          </a:xfrm>
          <a:prstGeom prst="roundRect">
            <a:avLst>
              <a:gd name="adj" fmla="val 16667"/>
            </a:avLst>
          </a:prstGeom>
          <a:solidFill>
            <a:srgbClr val="351A21"/>
          </a:solidFill>
          <a:ln w="9525">
            <a:solidFill>
              <a:srgbClr val="FFDEA1"/>
            </a:solidFill>
            <a:prstDash val="solid"/>
          </a:ln>
        </p:spPr>
        <p:txBody>
          <a:bodyPr anchor="ctr"/>
          <a:p>
            <a:pPr algn="ctr">
              <a:defRPr/>
            </a:pPr>
            <a:endParaRPr sz="2600">
              <a:latin typeface="Bellota"/>
              <a:cs typeface="Bellota"/>
            </a:endParaRPr>
          </a:p>
        </p:txBody>
      </p:sp>
      <p:sp>
        <p:nvSpPr>
          <p:cNvPr id="1196383561" name="Task number 04"/>
          <p:cNvSpPr txBox="1"/>
          <p:nvPr/>
        </p:nvSpPr>
        <p:spPr bwMode="auto">
          <a:xfrm flipH="0" flipV="0">
            <a:off x="595422" y="4041510"/>
            <a:ext cx="405241" cy="1515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1600" b="1">
                <a:solidFill>
                  <a:srgbClr val="FFDEA1"/>
                </a:solidFill>
                <a:latin typeface="Bellota"/>
                <a:ea typeface="Bellota"/>
                <a:cs typeface="Bellota"/>
              </a:rPr>
              <a:t>04</a:t>
            </a:r>
            <a:endParaRPr sz="1600">
              <a:latin typeface="Bellota"/>
              <a:cs typeface="Bellota"/>
            </a:endParaRPr>
          </a:p>
        </p:txBody>
      </p:sp>
      <p:sp>
        <p:nvSpPr>
          <p:cNvPr id="1623092574" name="Task divider 04"/>
          <p:cNvSpPr/>
          <p:nvPr/>
        </p:nvSpPr>
        <p:spPr bwMode="auto">
          <a:xfrm flipH="0" flipV="0">
            <a:off x="1085421" y="4031509"/>
            <a:ext cx="45720" cy="198122"/>
          </a:xfrm>
          <a:prstGeom prst="rect">
            <a:avLst/>
          </a:prstGeom>
          <a:solidFill>
            <a:srgbClr val="FFDEA1"/>
          </a:solidFill>
          <a:ln>
            <a:noFill/>
          </a:ln>
        </p:spPr>
        <p:txBody>
          <a:bodyPr anchor="ctr"/>
          <a:p>
            <a:pPr algn="ctr">
              <a:defRPr/>
            </a:pPr>
            <a:endParaRPr sz="2600">
              <a:latin typeface="Bellota"/>
              <a:cs typeface="Bellota"/>
            </a:endParaRPr>
          </a:p>
        </p:txBody>
      </p:sp>
      <p:sp>
        <p:nvSpPr>
          <p:cNvPr id="758241792" name="Task text 04"/>
          <p:cNvSpPr txBox="1"/>
          <p:nvPr/>
        </p:nvSpPr>
        <p:spPr bwMode="auto">
          <a:xfrm flipH="0" flipV="0">
            <a:off x="1275422" y="4035510"/>
            <a:ext cx="3586393" cy="17481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1200" b="1">
                <a:solidFill>
                  <a:srgbClr val="F8E5B8"/>
                </a:solidFill>
                <a:latin typeface="Bellota"/>
                <a:ea typeface="Bellota"/>
                <a:cs typeface="Bellota"/>
              </a:rPr>
              <a:t>Реализовать модули игры</a:t>
            </a:r>
            <a:endParaRPr sz="1200">
              <a:latin typeface="Bellota"/>
              <a:cs typeface="Bellota"/>
            </a:endParaRPr>
          </a:p>
        </p:txBody>
      </p:sp>
      <p:sp>
        <p:nvSpPr>
          <p:cNvPr id="1668296907" name="Task 05"/>
          <p:cNvSpPr/>
          <p:nvPr/>
        </p:nvSpPr>
        <p:spPr bwMode="auto">
          <a:xfrm flipH="0" flipV="0">
            <a:off x="425422" y="4369021"/>
            <a:ext cx="4802119" cy="332146"/>
          </a:xfrm>
          <a:prstGeom prst="roundRect">
            <a:avLst>
              <a:gd name="adj" fmla="val 16667"/>
            </a:avLst>
          </a:prstGeom>
          <a:solidFill>
            <a:srgbClr val="351A21"/>
          </a:solidFill>
          <a:ln w="9525">
            <a:solidFill>
              <a:srgbClr val="FFDEA1"/>
            </a:solidFill>
            <a:prstDash val="solid"/>
          </a:ln>
        </p:spPr>
        <p:txBody>
          <a:bodyPr anchor="ctr"/>
          <a:p>
            <a:pPr algn="ctr">
              <a:defRPr/>
            </a:pPr>
            <a:endParaRPr sz="2600">
              <a:latin typeface="Bellota"/>
              <a:cs typeface="Bellota"/>
            </a:endParaRPr>
          </a:p>
        </p:txBody>
      </p:sp>
      <p:sp>
        <p:nvSpPr>
          <p:cNvPr id="742102069" name="Task number 05"/>
          <p:cNvSpPr txBox="1"/>
          <p:nvPr/>
        </p:nvSpPr>
        <p:spPr bwMode="auto">
          <a:xfrm flipH="0" flipV="0">
            <a:off x="595422" y="4436021"/>
            <a:ext cx="405241" cy="1515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1600" b="1">
                <a:solidFill>
                  <a:srgbClr val="FFDEA1"/>
                </a:solidFill>
                <a:latin typeface="Bellota"/>
                <a:ea typeface="Bellota"/>
                <a:cs typeface="Bellota"/>
              </a:rPr>
              <a:t>05</a:t>
            </a:r>
            <a:endParaRPr sz="1600">
              <a:latin typeface="Bellota"/>
              <a:cs typeface="Bellota"/>
            </a:endParaRPr>
          </a:p>
        </p:txBody>
      </p:sp>
      <p:sp>
        <p:nvSpPr>
          <p:cNvPr id="2135395873" name="Task divider 05"/>
          <p:cNvSpPr/>
          <p:nvPr/>
        </p:nvSpPr>
        <p:spPr bwMode="auto">
          <a:xfrm flipH="0" flipV="0">
            <a:off x="1085421" y="4426021"/>
            <a:ext cx="45720" cy="198122"/>
          </a:xfrm>
          <a:prstGeom prst="rect">
            <a:avLst/>
          </a:prstGeom>
          <a:solidFill>
            <a:srgbClr val="FFDEA1"/>
          </a:solidFill>
          <a:ln>
            <a:noFill/>
          </a:ln>
        </p:spPr>
        <p:txBody>
          <a:bodyPr anchor="ctr"/>
          <a:p>
            <a:pPr algn="ctr">
              <a:defRPr/>
            </a:pPr>
            <a:endParaRPr sz="2600">
              <a:latin typeface="Bellota"/>
              <a:cs typeface="Bellota"/>
            </a:endParaRPr>
          </a:p>
        </p:txBody>
      </p:sp>
      <p:sp>
        <p:nvSpPr>
          <p:cNvPr id="626501848" name="Task text 05"/>
          <p:cNvSpPr txBox="1"/>
          <p:nvPr/>
        </p:nvSpPr>
        <p:spPr bwMode="auto">
          <a:xfrm flipH="0" flipV="0">
            <a:off x="1275422" y="4430021"/>
            <a:ext cx="3897675" cy="17481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1200" b="1">
                <a:solidFill>
                  <a:srgbClr val="F8E5B8"/>
                </a:solidFill>
                <a:latin typeface="Bellota"/>
                <a:ea typeface="Bellota"/>
                <a:cs typeface="Bellota"/>
              </a:rPr>
              <a:t>Определить дальнейшее развитие</a:t>
            </a:r>
            <a:endParaRPr sz="1200">
              <a:latin typeface="Bellota"/>
              <a:cs typeface="Bellota"/>
            </a:endParaRPr>
          </a:p>
        </p:txBody>
      </p:sp>
      <p:sp>
        <p:nvSpPr>
          <p:cNvPr id="1995282463" name="Visual background"/>
          <p:cNvSpPr/>
          <p:nvPr/>
        </p:nvSpPr>
        <p:spPr bwMode="auto">
          <a:xfrm>
            <a:off x="5450000" y="320000"/>
            <a:ext cx="3300000" cy="4490000"/>
          </a:xfrm>
          <a:prstGeom prst="roundRect">
            <a:avLst>
              <a:gd name="adj" fmla="val 16667"/>
            </a:avLst>
          </a:prstGeom>
          <a:solidFill>
            <a:srgbClr val="351A21"/>
          </a:solidFill>
          <a:ln w="19050">
            <a:solidFill>
              <a:srgbClr val="FFDEA1"/>
            </a:solidFill>
            <a:prstDash val="solid"/>
          </a:ln>
        </p:spPr>
      </p:sp>
      <p:sp>
        <p:nvSpPr>
          <p:cNvPr id="6811764" name="Visual header"/>
          <p:cNvSpPr txBox="1"/>
          <p:nvPr/>
        </p:nvSpPr>
        <p:spPr bwMode="auto">
          <a:xfrm>
            <a:off x="5739999" y="500978"/>
            <a:ext cx="2700000" cy="1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1200" b="1">
                <a:solidFill>
                  <a:srgbClr val="FFDEA1"/>
                </a:solidFill>
                <a:latin typeface="Bellota"/>
                <a:ea typeface="Bellota"/>
                <a:cs typeface="Bellota"/>
              </a:rPr>
              <a:t>ОДИН ИГРОВОЙ ЦИКЛ</a:t>
            </a:r>
            <a:endParaRPr sz="1200">
              <a:latin typeface="Bellota"/>
              <a:cs typeface="Bellota"/>
            </a:endParaRPr>
          </a:p>
        </p:txBody>
      </p:sp>
      <p:pic>
        <p:nvPicPr>
          <p:cNvPr id="938071514" name="Dialogue screenshot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679999" y="810624"/>
            <a:ext cx="2790000" cy="1569375"/>
          </a:xfrm>
          <a:prstGeom prst="rect">
            <a:avLst/>
          </a:prstGeom>
          <a:ln w="19050">
            <a:solidFill>
              <a:srgbClr val="FFDEA1"/>
            </a:solidFill>
          </a:ln>
        </p:spPr>
      </p:pic>
      <p:sp>
        <p:nvSpPr>
          <p:cNvPr id="1315106540" name="Dialogue label text"/>
          <p:cNvSpPr txBox="1"/>
          <p:nvPr/>
        </p:nvSpPr>
        <p:spPr bwMode="auto">
          <a:xfrm>
            <a:off x="6390000" y="2444999"/>
            <a:ext cx="1370000" cy="1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900" b="1">
                <a:solidFill>
                  <a:srgbClr val="FFDEA1"/>
                </a:solidFill>
                <a:latin typeface="Bellota"/>
                <a:ea typeface="Bellota"/>
                <a:cs typeface="Bellota"/>
              </a:rPr>
              <a:t>01  /  ДИАЛОГИ</a:t>
            </a:r>
            <a:endParaRPr sz="900">
              <a:latin typeface="Bellota"/>
              <a:cs typeface="Bellota"/>
            </a:endParaRPr>
          </a:p>
        </p:txBody>
      </p:sp>
      <p:pic>
        <p:nvPicPr>
          <p:cNvPr id="208419222" name="Rhythm screenshot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5683970" y="2858666"/>
            <a:ext cx="2790000" cy="1569375"/>
          </a:xfrm>
          <a:prstGeom prst="rect">
            <a:avLst/>
          </a:prstGeom>
          <a:ln w="19050">
            <a:solidFill>
              <a:srgbClr val="FFDEA1"/>
            </a:solidFill>
          </a:ln>
        </p:spPr>
      </p:pic>
      <p:sp>
        <p:nvSpPr>
          <p:cNvPr id="1859254462" name="Rhythm label text"/>
          <p:cNvSpPr txBox="1"/>
          <p:nvPr/>
        </p:nvSpPr>
        <p:spPr bwMode="auto">
          <a:xfrm>
            <a:off x="6289999" y="4504144"/>
            <a:ext cx="1570000" cy="1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900" b="1">
                <a:solidFill>
                  <a:srgbClr val="FFDEA1"/>
                </a:solidFill>
                <a:latin typeface="Bellota"/>
                <a:ea typeface="Bellota"/>
                <a:cs typeface="Bellota"/>
              </a:rPr>
              <a:t>02  /  РИТМ-СЦЕНА</a:t>
            </a:r>
            <a:endParaRPr sz="900">
              <a:latin typeface="Bellota"/>
              <a:cs typeface="Bellota"/>
            </a:endParaRPr>
          </a:p>
        </p:txBody>
      </p:sp>
      <p:sp>
        <p:nvSpPr>
          <p:cNvPr id="1900061881" name=""/>
          <p:cNvSpPr/>
          <p:nvPr/>
        </p:nvSpPr>
        <p:spPr bwMode="auto">
          <a:xfrm rot="0" flipH="0" flipV="0">
            <a:off x="7972717" y="4829998"/>
            <a:ext cx="1111249" cy="291407"/>
          </a:xfrm>
          <a:prstGeom prst="rect">
            <a:avLst/>
          </a:prstGeom>
          <a:solidFill>
            <a:srgbClr val="24131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solidFill>
                <a:schemeClr val="tx1"/>
              </a:solidFill>
              <a:latin typeface="Bellota"/>
              <a:cs typeface="Bellota"/>
            </a:endParaRPr>
          </a:p>
        </p:txBody>
      </p:sp>
      <p:sp>
        <p:nvSpPr>
          <p:cNvPr id="1838595870" name="Eyebrow marker"/>
          <p:cNvSpPr/>
          <p:nvPr/>
        </p:nvSpPr>
        <p:spPr bwMode="auto">
          <a:xfrm>
            <a:off x="647064" y="327444"/>
            <a:ext cx="119999" cy="329999"/>
          </a:xfrm>
          <a:prstGeom prst="rect">
            <a:avLst/>
          </a:prstGeom>
          <a:solidFill>
            <a:srgbClr val="FFDEA1"/>
          </a:solidFill>
          <a:ln>
            <a:noFill/>
          </a:ln>
        </p:spPr>
        <p:txBody>
          <a:bodyPr anchor="ctr"/>
          <a:p>
            <a:pPr algn="ctr">
              <a:defRPr/>
            </a:pPr>
            <a:endParaRPr>
              <a:latin typeface="Bellota"/>
              <a:cs typeface="Bellota"/>
            </a:endParaRPr>
          </a:p>
        </p:txBody>
      </p:sp>
      <p:sp>
        <p:nvSpPr>
          <p:cNvPr id="261064750" name="Eyebrow"/>
          <p:cNvSpPr txBox="1"/>
          <p:nvPr/>
        </p:nvSpPr>
        <p:spPr bwMode="auto">
          <a:xfrm>
            <a:off x="867064" y="387443"/>
            <a:ext cx="4199999" cy="2099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1600" b="1">
                <a:solidFill>
                  <a:srgbClr val="D2A45C"/>
                </a:solidFill>
                <a:latin typeface="Bellota"/>
                <a:ea typeface="Bellota"/>
                <a:cs typeface="Bellota"/>
              </a:rPr>
              <a:t>ЦЕЛЬ И ЗАДАЧИ</a:t>
            </a:r>
            <a:endParaRPr sz="1600">
              <a:latin typeface="Bellota"/>
              <a:cs typeface="Bellota"/>
            </a:endParaRPr>
          </a:p>
        </p:txBody>
      </p:sp>
      <p:sp>
        <p:nvSpPr>
          <p:cNvPr id="1199513648" name="Problem panel"/>
          <p:cNvSpPr/>
          <p:nvPr/>
        </p:nvSpPr>
        <p:spPr bwMode="auto">
          <a:xfrm flipH="0" flipV="0">
            <a:off x="439999" y="1327228"/>
            <a:ext cx="4802119" cy="872771"/>
          </a:xfrm>
          <a:prstGeom prst="roundRect">
            <a:avLst>
              <a:gd name="adj" fmla="val 16667"/>
            </a:avLst>
          </a:prstGeom>
          <a:solidFill>
            <a:srgbClr val="FFDEA1"/>
          </a:solidFill>
          <a:ln>
            <a:noFill/>
          </a:ln>
        </p:spPr>
        <p:txBody>
          <a:bodyPr anchor="ctr"/>
          <a:p>
            <a:pPr algn="ctr">
              <a:defRPr/>
            </a:pPr>
            <a:endParaRPr>
              <a:latin typeface="Bellota"/>
              <a:cs typeface="Bellota"/>
            </a:endParaRPr>
          </a:p>
        </p:txBody>
      </p:sp>
      <p:sp>
        <p:nvSpPr>
          <p:cNvPr id="602759752" name="Problem text"/>
          <p:cNvSpPr txBox="1"/>
          <p:nvPr/>
        </p:nvSpPr>
        <p:spPr bwMode="auto">
          <a:xfrm flipH="0" flipV="0">
            <a:off x="582119" y="1454021"/>
            <a:ext cx="4590978" cy="4699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499"/>
              </a:spcAft>
              <a:buNone/>
              <a:defRPr/>
            </a:pPr>
            <a:r>
              <a:rPr lang="ru-RU" sz="1200" b="1" i="0" u="none" strike="noStrike" cap="none" spc="0">
                <a:solidFill>
                  <a:srgbClr val="241318"/>
                </a:solidFill>
                <a:latin typeface="Bellota"/>
                <a:ea typeface="Bellota"/>
                <a:cs typeface="Bellota"/>
              </a:rPr>
              <a:t>ЦЕЛЬ ПРОЕКТА</a:t>
            </a:r>
            <a:endParaRPr sz="1200">
              <a:latin typeface="Bellota"/>
              <a:cs typeface="Bellota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349"/>
              </a:spcAft>
              <a:buNone/>
              <a:defRPr/>
            </a:pPr>
            <a:r>
              <a:rPr lang="ru-RU" sz="1200" b="1" i="0" u="none" strike="noStrike" cap="none" spc="0">
                <a:solidFill>
                  <a:srgbClr val="241318"/>
                </a:solidFill>
                <a:latin typeface="Bellota"/>
                <a:ea typeface="Bellota"/>
                <a:cs typeface="Bellota"/>
              </a:rPr>
              <a:t>Создать функциональный прототип «Cuppa», </a:t>
            </a:r>
            <a:r>
              <a:rPr lang="ru-RU" sz="1200" b="0" i="0" u="none" strike="noStrike" cap="none" spc="0">
                <a:solidFill>
                  <a:srgbClr val="241318"/>
                </a:solidFill>
                <a:latin typeface="Bellota"/>
                <a:ea typeface="Bellota"/>
                <a:cs typeface="Bellota"/>
              </a:rPr>
              <a:t>где результат ритм сцен влияет на развитие  концовки визуальной новеллы.</a:t>
            </a:r>
            <a:endParaRPr sz="1200">
              <a:latin typeface="Bellota"/>
              <a:cs typeface="Bellota"/>
            </a:endParaRPr>
          </a:p>
          <a:p>
            <a:pPr>
              <a:defRPr/>
            </a:pPr>
            <a:endParaRPr/>
          </a:p>
        </p:txBody>
      </p:sp>
      <p:cxnSp>
        <p:nvCxnSpPr>
          <p:cNvPr id="810694844" name=""/>
          <p:cNvCxnSpPr/>
          <p:nvPr/>
        </p:nvCxnSpPr>
        <p:spPr bwMode="auto">
          <a:xfrm flipH="1" flipV="0">
            <a:off x="7099999" y="2599656"/>
            <a:ext cx="0" cy="191320"/>
          </a:xfrm>
          <a:prstGeom prst="line">
            <a:avLst/>
          </a:prstGeom>
          <a:ln w="38100" cap="flat" cmpd="sng" algn="ctr">
            <a:solidFill>
              <a:srgbClr val="FFDEA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250" advClick="1">
        <p:fade thruBlk="0"/>
      </p:transition>
    </mc:Choice>
    <mc:Fallback>
      <p:transition spd="fast" advClick="1">
        <p:fade thruBlk="0"/>
      </p:transition>
    </mc:Fallback>
  </mc:AlternateContent>
  <p:timing>
    <p:bldLst>
      <p:bldP spid="1674158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4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7709686" name="Title"/>
          <p:cNvSpPr txBox="1"/>
          <p:nvPr/>
        </p:nvSpPr>
        <p:spPr bwMode="auto">
          <a:xfrm flipH="0" flipV="0">
            <a:off x="336467" y="799999"/>
            <a:ext cx="5419999" cy="4799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lnSpc>
                <a:spcPct val="95000"/>
              </a:lnSpc>
              <a:spcAft>
                <a:spcPts val="0"/>
              </a:spcAft>
              <a:buNone/>
              <a:defRPr/>
            </a:pPr>
            <a:r>
              <a:rPr lang="ru-RU" sz="2500" b="1">
                <a:solidFill>
                  <a:srgbClr val="FFDEA1"/>
                </a:solidFill>
                <a:latin typeface="Bellota"/>
                <a:ea typeface="Bellota"/>
                <a:cs typeface="Bellota"/>
              </a:rPr>
              <a:t>Инструменты для 2D-прототипа</a:t>
            </a:r>
            <a:endParaRPr lang="ru-RU" sz="2500"/>
          </a:p>
        </p:txBody>
      </p:sp>
      <p:sp>
        <p:nvSpPr>
          <p:cNvPr id="1154456440" name="Engine panel"/>
          <p:cNvSpPr/>
          <p:nvPr/>
        </p:nvSpPr>
        <p:spPr bwMode="auto">
          <a:xfrm>
            <a:off x="405488" y="1513532"/>
            <a:ext cx="4810000" cy="940000"/>
          </a:xfrm>
          <a:prstGeom prst="roundRect">
            <a:avLst>
              <a:gd name="adj" fmla="val 16667"/>
            </a:avLst>
          </a:prstGeom>
          <a:solidFill>
            <a:srgbClr val="FFDEA1"/>
          </a:solidFill>
          <a:ln>
            <a:noFill/>
          </a:ln>
        </p:spPr>
      </p:sp>
      <p:sp>
        <p:nvSpPr>
          <p:cNvPr id="1854208092" name="Engine label"/>
          <p:cNvSpPr txBox="1"/>
          <p:nvPr/>
        </p:nvSpPr>
        <p:spPr bwMode="auto">
          <a:xfrm>
            <a:off x="655489" y="1683532"/>
            <a:ext cx="2200000" cy="1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lnSpc>
                <a:spcPct val="100000"/>
              </a:lnSpc>
              <a:spcAft>
                <a:spcPts val="0"/>
              </a:spcAft>
              <a:buNone/>
              <a:defRPr/>
            </a:pPr>
            <a:r>
              <a:rPr lang="ru-RU" sz="1200" b="1">
                <a:solidFill>
                  <a:srgbClr val="351A21"/>
                </a:solidFill>
                <a:latin typeface="Bellota"/>
                <a:ea typeface="Bellota"/>
                <a:cs typeface="Bellota"/>
              </a:rPr>
              <a:t>ОСНОВНОЙ СТЕК</a:t>
            </a:r>
            <a:endParaRPr sz="1200" b="1"/>
          </a:p>
        </p:txBody>
      </p:sp>
      <p:sp>
        <p:nvSpPr>
          <p:cNvPr id="1242719196" name="Engine name"/>
          <p:cNvSpPr txBox="1"/>
          <p:nvPr/>
        </p:nvSpPr>
        <p:spPr bwMode="auto">
          <a:xfrm>
            <a:off x="655489" y="1889021"/>
            <a:ext cx="245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lnSpc>
                <a:spcPct val="100000"/>
              </a:lnSpc>
              <a:spcAft>
                <a:spcPts val="0"/>
              </a:spcAft>
              <a:buNone/>
              <a:defRPr/>
            </a:pPr>
            <a:r>
              <a:rPr lang="ru-RU" sz="2500" b="1">
                <a:solidFill>
                  <a:srgbClr val="241318"/>
                </a:solidFill>
                <a:latin typeface="Bellota"/>
                <a:ea typeface="Bellota"/>
                <a:cs typeface="Bellota"/>
              </a:rPr>
              <a:t>Godot 4.6</a:t>
            </a:r>
            <a:endParaRPr lang="ru-RU" sz="2500"/>
          </a:p>
        </p:txBody>
      </p:sp>
      <p:sp>
        <p:nvSpPr>
          <p:cNvPr id="1015219541" name="Engine divider"/>
          <p:cNvSpPr/>
          <p:nvPr/>
        </p:nvSpPr>
        <p:spPr bwMode="auto">
          <a:xfrm>
            <a:off x="3146467" y="1753532"/>
            <a:ext cx="18000" cy="500000"/>
          </a:xfrm>
          <a:prstGeom prst="rect">
            <a:avLst/>
          </a:prstGeom>
          <a:solidFill>
            <a:srgbClr val="C9954B"/>
          </a:solidFill>
          <a:ln>
            <a:noFill/>
          </a:ln>
        </p:spPr>
      </p:sp>
      <p:sp>
        <p:nvSpPr>
          <p:cNvPr id="1518816269" name="Language name"/>
          <p:cNvSpPr txBox="1"/>
          <p:nvPr/>
        </p:nvSpPr>
        <p:spPr bwMode="auto">
          <a:xfrm>
            <a:off x="3475488" y="1794509"/>
            <a:ext cx="145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lnSpc>
                <a:spcPct val="100000"/>
              </a:lnSpc>
              <a:spcAft>
                <a:spcPts val="0"/>
              </a:spcAft>
              <a:buNone/>
              <a:defRPr/>
            </a:pPr>
            <a:r>
              <a:rPr lang="ru-RU" sz="2000" b="1">
                <a:solidFill>
                  <a:srgbClr val="241318"/>
                </a:solidFill>
                <a:latin typeface="Bellota"/>
                <a:ea typeface="Bellota"/>
                <a:cs typeface="Bellota"/>
              </a:rPr>
              <a:t>GDScript</a:t>
            </a:r>
            <a:endParaRPr lang="ru-RU" sz="2000"/>
          </a:p>
          <a:p>
            <a:pPr marL="0" indent="0" algn="l">
              <a:lnSpc>
                <a:spcPct val="100000"/>
              </a:lnSpc>
              <a:spcAft>
                <a:spcPts val="0"/>
              </a:spcAft>
              <a:buNone/>
              <a:defRPr/>
            </a:pPr>
            <a:r>
              <a:rPr lang="ru-RU" sz="1000">
                <a:solidFill>
                  <a:srgbClr val="351A21"/>
                </a:solidFill>
                <a:latin typeface="Bellota"/>
                <a:ea typeface="Bellota"/>
                <a:cs typeface="Bellota"/>
              </a:rPr>
              <a:t>сценарная логика</a:t>
            </a:r>
            <a:endParaRPr lang="ru-RU" sz="1000"/>
          </a:p>
        </p:txBody>
      </p:sp>
      <p:sp>
        <p:nvSpPr>
          <p:cNvPr id="1938450935" name="Reasons title"/>
          <p:cNvSpPr txBox="1"/>
          <p:nvPr/>
        </p:nvSpPr>
        <p:spPr bwMode="auto">
          <a:xfrm>
            <a:off x="405488" y="2733531"/>
            <a:ext cx="2200000" cy="1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lnSpc>
                <a:spcPct val="100000"/>
              </a:lnSpc>
              <a:spcAft>
                <a:spcPts val="0"/>
              </a:spcAft>
              <a:buNone/>
              <a:defRPr/>
            </a:pPr>
            <a:r>
              <a:rPr lang="ru-RU" sz="1600" b="1">
                <a:solidFill>
                  <a:srgbClr val="D2A45C"/>
                </a:solidFill>
                <a:latin typeface="Bellota"/>
                <a:ea typeface="Bellota"/>
                <a:cs typeface="Bellota"/>
              </a:rPr>
              <a:t>ПОЧЕМУ </a:t>
            </a:r>
            <a:r>
              <a:rPr lang="ru-RU" sz="1600" b="1">
                <a:solidFill>
                  <a:srgbClr val="D2A45C"/>
                </a:solidFill>
                <a:latin typeface="Bellota"/>
                <a:ea typeface="Bellota"/>
                <a:cs typeface="Bellota"/>
              </a:rPr>
              <a:t>GODOT</a:t>
            </a:r>
            <a:endParaRPr sz="1600"/>
          </a:p>
        </p:txBody>
      </p:sp>
      <p:sp>
        <p:nvSpPr>
          <p:cNvPr id="1832746033" name="Reason 01"/>
          <p:cNvSpPr/>
          <p:nvPr/>
        </p:nvSpPr>
        <p:spPr bwMode="auto">
          <a:xfrm>
            <a:off x="370978" y="3088043"/>
            <a:ext cx="2260000" cy="390000"/>
          </a:xfrm>
          <a:prstGeom prst="roundRect">
            <a:avLst>
              <a:gd name="adj" fmla="val 16667"/>
            </a:avLst>
          </a:prstGeom>
          <a:solidFill>
            <a:srgbClr val="351A21"/>
          </a:solidFill>
          <a:ln w="12700">
            <a:solidFill>
              <a:srgbClr val="FFDEA1"/>
            </a:solidFill>
            <a:prstDash val="solid"/>
          </a:ln>
        </p:spPr>
        <p:txBody>
          <a:bodyPr anchor="ctr"/>
          <a:p>
            <a:pPr algn="ctr">
              <a:defRPr/>
            </a:pPr>
            <a:endParaRPr sz="2400"/>
          </a:p>
        </p:txBody>
      </p:sp>
      <p:sp>
        <p:nvSpPr>
          <p:cNvPr id="375266622" name="Reason number 01"/>
          <p:cNvSpPr txBox="1"/>
          <p:nvPr/>
        </p:nvSpPr>
        <p:spPr bwMode="auto">
          <a:xfrm>
            <a:off x="471956" y="3198043"/>
            <a:ext cx="340000" cy="1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l">
              <a:lnSpc>
                <a:spcPct val="100000"/>
              </a:lnSpc>
              <a:spcAft>
                <a:spcPts val="0"/>
              </a:spcAft>
              <a:buNone/>
              <a:defRPr/>
            </a:pPr>
            <a:r>
              <a:rPr lang="ru-RU" sz="1400" b="1">
                <a:solidFill>
                  <a:srgbClr val="FFDEA1"/>
                </a:solidFill>
                <a:latin typeface="Bellota"/>
                <a:ea typeface="Bellota"/>
                <a:cs typeface="Bellota"/>
              </a:rPr>
              <a:t>01</a:t>
            </a:r>
            <a:endParaRPr lang="ru-RU" sz="1400"/>
          </a:p>
        </p:txBody>
      </p:sp>
      <p:sp>
        <p:nvSpPr>
          <p:cNvPr id="781612290" name="Reason divider 01"/>
          <p:cNvSpPr/>
          <p:nvPr/>
        </p:nvSpPr>
        <p:spPr bwMode="auto">
          <a:xfrm>
            <a:off x="773912" y="3173043"/>
            <a:ext cx="14000" cy="220000"/>
          </a:xfrm>
          <a:prstGeom prst="rect">
            <a:avLst/>
          </a:prstGeom>
          <a:solidFill>
            <a:srgbClr val="FFDEA1"/>
          </a:solidFill>
          <a:ln>
            <a:noFill/>
          </a:ln>
        </p:spPr>
        <p:txBody>
          <a:bodyPr anchor="ctr"/>
          <a:p>
            <a:pPr algn="ctr">
              <a:defRPr/>
            </a:pPr>
            <a:endParaRPr sz="2400"/>
          </a:p>
        </p:txBody>
      </p:sp>
      <p:sp>
        <p:nvSpPr>
          <p:cNvPr id="481906138" name="Reason text 01"/>
          <p:cNvSpPr txBox="1"/>
          <p:nvPr/>
        </p:nvSpPr>
        <p:spPr bwMode="auto">
          <a:xfrm flipH="0" flipV="0">
            <a:off x="832552" y="3166043"/>
            <a:ext cx="1908914" cy="2399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l">
              <a:lnSpc>
                <a:spcPct val="100000"/>
              </a:lnSpc>
              <a:spcAft>
                <a:spcPts val="0"/>
              </a:spcAft>
              <a:buNone/>
              <a:defRPr/>
            </a:pPr>
            <a:r>
              <a:rPr lang="ru-RU" sz="1100" b="1">
                <a:solidFill>
                  <a:srgbClr val="F8E5B8"/>
                </a:solidFill>
                <a:latin typeface="Bellota"/>
                <a:ea typeface="Bellota"/>
                <a:cs typeface="Bellota"/>
              </a:rPr>
              <a:t>Стабильная разработка</a:t>
            </a:r>
            <a:endParaRPr lang="ru-RU" sz="1100"/>
          </a:p>
          <a:p>
            <a:pPr marL="0" indent="0" algn="l">
              <a:lnSpc>
                <a:spcPct val="100000"/>
              </a:lnSpc>
              <a:spcAft>
                <a:spcPts val="0"/>
              </a:spcAft>
              <a:buNone/>
              <a:defRPr/>
            </a:pPr>
            <a:r>
              <a:rPr lang="ru-RU" sz="1100">
                <a:solidFill>
                  <a:srgbClr val="F8E5B8"/>
                </a:solidFill>
                <a:latin typeface="Bellota"/>
                <a:ea typeface="Bellota"/>
                <a:cs typeface="Bellota"/>
              </a:rPr>
              <a:t>в среде Linux</a:t>
            </a:r>
            <a:endParaRPr lang="ru-RU" sz="1100"/>
          </a:p>
        </p:txBody>
      </p:sp>
      <p:sp>
        <p:nvSpPr>
          <p:cNvPr id="1134370300" name="Reason 02"/>
          <p:cNvSpPr/>
          <p:nvPr/>
        </p:nvSpPr>
        <p:spPr bwMode="auto">
          <a:xfrm>
            <a:off x="2820978" y="3088043"/>
            <a:ext cx="2260000" cy="390000"/>
          </a:xfrm>
          <a:prstGeom prst="roundRect">
            <a:avLst>
              <a:gd name="adj" fmla="val 16667"/>
            </a:avLst>
          </a:prstGeom>
          <a:solidFill>
            <a:srgbClr val="351A21"/>
          </a:solidFill>
          <a:ln w="12700">
            <a:solidFill>
              <a:srgbClr val="FFDEA1"/>
            </a:solidFill>
            <a:prstDash val="solid"/>
          </a:ln>
        </p:spPr>
        <p:txBody>
          <a:bodyPr anchor="ctr"/>
          <a:p>
            <a:pPr algn="ctr">
              <a:defRPr/>
            </a:pPr>
            <a:endParaRPr sz="2400"/>
          </a:p>
        </p:txBody>
      </p:sp>
      <p:sp>
        <p:nvSpPr>
          <p:cNvPr id="371349500" name="Reason number 02"/>
          <p:cNvSpPr txBox="1"/>
          <p:nvPr/>
        </p:nvSpPr>
        <p:spPr bwMode="auto">
          <a:xfrm>
            <a:off x="2887445" y="3198043"/>
            <a:ext cx="340000" cy="1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l">
              <a:lnSpc>
                <a:spcPct val="100000"/>
              </a:lnSpc>
              <a:spcAft>
                <a:spcPts val="0"/>
              </a:spcAft>
              <a:buNone/>
              <a:defRPr/>
            </a:pPr>
            <a:r>
              <a:rPr lang="ru-RU" sz="1400" b="1">
                <a:solidFill>
                  <a:srgbClr val="FFDEA1"/>
                </a:solidFill>
                <a:latin typeface="Bellota"/>
                <a:ea typeface="Bellota"/>
                <a:cs typeface="Bellota"/>
              </a:rPr>
              <a:t>02</a:t>
            </a:r>
            <a:endParaRPr lang="ru-RU" sz="1400"/>
          </a:p>
        </p:txBody>
      </p:sp>
      <p:sp>
        <p:nvSpPr>
          <p:cNvPr id="819351173" name="Reason divider 02"/>
          <p:cNvSpPr/>
          <p:nvPr/>
        </p:nvSpPr>
        <p:spPr bwMode="auto">
          <a:xfrm>
            <a:off x="3189402" y="3173043"/>
            <a:ext cx="14000" cy="220000"/>
          </a:xfrm>
          <a:prstGeom prst="rect">
            <a:avLst/>
          </a:prstGeom>
          <a:solidFill>
            <a:srgbClr val="FFDEA1"/>
          </a:solidFill>
          <a:ln>
            <a:noFill/>
          </a:ln>
        </p:spPr>
        <p:txBody>
          <a:bodyPr anchor="ctr"/>
          <a:p>
            <a:pPr algn="ctr">
              <a:defRPr/>
            </a:pPr>
            <a:endParaRPr sz="2400"/>
          </a:p>
        </p:txBody>
      </p:sp>
      <p:sp>
        <p:nvSpPr>
          <p:cNvPr id="1442536969" name="Reason text 02"/>
          <p:cNvSpPr txBox="1"/>
          <p:nvPr/>
        </p:nvSpPr>
        <p:spPr bwMode="auto">
          <a:xfrm flipH="0" flipV="0">
            <a:off x="3313749" y="3166043"/>
            <a:ext cx="1617228" cy="2399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l">
              <a:lnSpc>
                <a:spcPct val="100000"/>
              </a:lnSpc>
              <a:spcAft>
                <a:spcPts val="0"/>
              </a:spcAft>
              <a:buNone/>
              <a:defRPr/>
            </a:pPr>
            <a:r>
              <a:rPr lang="ru-RU" sz="1100" b="1">
                <a:solidFill>
                  <a:srgbClr val="F8E5B8"/>
                </a:solidFill>
                <a:latin typeface="Bellota"/>
                <a:ea typeface="Bellota"/>
                <a:cs typeface="Bellota"/>
              </a:rPr>
              <a:t>Быстрая установка</a:t>
            </a:r>
            <a:endParaRPr lang="ru-RU" sz="1100"/>
          </a:p>
          <a:p>
            <a:pPr marL="0" indent="0" algn="l">
              <a:lnSpc>
                <a:spcPct val="100000"/>
              </a:lnSpc>
              <a:spcAft>
                <a:spcPts val="0"/>
              </a:spcAft>
              <a:buNone/>
              <a:defRPr/>
            </a:pPr>
            <a:r>
              <a:rPr lang="ru-RU" sz="1100">
                <a:solidFill>
                  <a:srgbClr val="F8E5B8"/>
                </a:solidFill>
                <a:latin typeface="Bellota"/>
                <a:ea typeface="Bellota"/>
                <a:cs typeface="Bellota"/>
              </a:rPr>
              <a:t>и небольшой размер</a:t>
            </a:r>
            <a:endParaRPr lang="ru-RU" sz="1100"/>
          </a:p>
        </p:txBody>
      </p:sp>
      <p:sp>
        <p:nvSpPr>
          <p:cNvPr id="990016949" name="Reason 03"/>
          <p:cNvSpPr/>
          <p:nvPr/>
        </p:nvSpPr>
        <p:spPr bwMode="auto">
          <a:xfrm>
            <a:off x="370978" y="3608043"/>
            <a:ext cx="2260000" cy="390000"/>
          </a:xfrm>
          <a:prstGeom prst="roundRect">
            <a:avLst>
              <a:gd name="adj" fmla="val 16667"/>
            </a:avLst>
          </a:prstGeom>
          <a:solidFill>
            <a:srgbClr val="351A21"/>
          </a:solidFill>
          <a:ln w="12700">
            <a:solidFill>
              <a:srgbClr val="FFDEA1"/>
            </a:solidFill>
            <a:prstDash val="solid"/>
          </a:ln>
        </p:spPr>
        <p:txBody>
          <a:bodyPr anchor="ctr"/>
          <a:p>
            <a:pPr algn="ctr">
              <a:defRPr/>
            </a:pPr>
            <a:endParaRPr sz="2400"/>
          </a:p>
        </p:txBody>
      </p:sp>
      <p:sp>
        <p:nvSpPr>
          <p:cNvPr id="1319597369" name="Reason number 03"/>
          <p:cNvSpPr txBox="1"/>
          <p:nvPr/>
        </p:nvSpPr>
        <p:spPr bwMode="auto">
          <a:xfrm>
            <a:off x="471956" y="3718043"/>
            <a:ext cx="340000" cy="1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l">
              <a:lnSpc>
                <a:spcPct val="100000"/>
              </a:lnSpc>
              <a:spcAft>
                <a:spcPts val="0"/>
              </a:spcAft>
              <a:buNone/>
              <a:defRPr/>
            </a:pPr>
            <a:r>
              <a:rPr lang="ru-RU" sz="1400" b="1">
                <a:solidFill>
                  <a:srgbClr val="FFDEA1"/>
                </a:solidFill>
                <a:latin typeface="Bellota"/>
                <a:ea typeface="Bellota"/>
                <a:cs typeface="Bellota"/>
              </a:rPr>
              <a:t>03</a:t>
            </a:r>
            <a:endParaRPr lang="ru-RU" sz="1400"/>
          </a:p>
        </p:txBody>
      </p:sp>
      <p:sp>
        <p:nvSpPr>
          <p:cNvPr id="852410990" name="Reason divider 03"/>
          <p:cNvSpPr/>
          <p:nvPr/>
        </p:nvSpPr>
        <p:spPr bwMode="auto">
          <a:xfrm>
            <a:off x="773912" y="3693043"/>
            <a:ext cx="14000" cy="220000"/>
          </a:xfrm>
          <a:prstGeom prst="rect">
            <a:avLst/>
          </a:prstGeom>
          <a:solidFill>
            <a:srgbClr val="FFDEA1"/>
          </a:solidFill>
          <a:ln>
            <a:noFill/>
          </a:ln>
        </p:spPr>
        <p:txBody>
          <a:bodyPr anchor="ctr"/>
          <a:p>
            <a:pPr algn="ctr">
              <a:defRPr/>
            </a:pPr>
            <a:endParaRPr sz="2400"/>
          </a:p>
        </p:txBody>
      </p:sp>
      <p:sp>
        <p:nvSpPr>
          <p:cNvPr id="1732218575" name="Reason text 03"/>
          <p:cNvSpPr txBox="1"/>
          <p:nvPr/>
        </p:nvSpPr>
        <p:spPr bwMode="auto">
          <a:xfrm flipH="0" flipV="0">
            <a:off x="832552" y="3686043"/>
            <a:ext cx="1908914" cy="2399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l">
              <a:lnSpc>
                <a:spcPct val="100000"/>
              </a:lnSpc>
              <a:spcAft>
                <a:spcPts val="0"/>
              </a:spcAft>
              <a:buNone/>
              <a:defRPr/>
            </a:pPr>
            <a:r>
              <a:rPr lang="ru-RU" sz="1100" b="1">
                <a:solidFill>
                  <a:srgbClr val="F8E5B8"/>
                </a:solidFill>
                <a:latin typeface="Bellota"/>
                <a:ea typeface="Bellota"/>
                <a:cs typeface="Bellota"/>
              </a:rPr>
              <a:t>Встроенные инструменты</a:t>
            </a:r>
            <a:endParaRPr lang="ru-RU" sz="1100"/>
          </a:p>
          <a:p>
            <a:pPr marL="0" indent="0" algn="l">
              <a:lnSpc>
                <a:spcPct val="100000"/>
              </a:lnSpc>
              <a:spcAft>
                <a:spcPts val="0"/>
              </a:spcAft>
              <a:buNone/>
              <a:defRPr/>
            </a:pPr>
            <a:r>
              <a:rPr lang="ru-RU" sz="1100">
                <a:solidFill>
                  <a:srgbClr val="F8E5B8"/>
                </a:solidFill>
                <a:latin typeface="Bellota"/>
                <a:ea typeface="Bellota"/>
                <a:cs typeface="Bellota"/>
              </a:rPr>
              <a:t>редактора</a:t>
            </a:r>
            <a:endParaRPr lang="ru-RU" sz="1100"/>
          </a:p>
        </p:txBody>
      </p:sp>
      <p:sp>
        <p:nvSpPr>
          <p:cNvPr id="910616879" name="Reason 04"/>
          <p:cNvSpPr/>
          <p:nvPr/>
        </p:nvSpPr>
        <p:spPr bwMode="auto">
          <a:xfrm>
            <a:off x="2820978" y="3608043"/>
            <a:ext cx="2260000" cy="390000"/>
          </a:xfrm>
          <a:prstGeom prst="roundRect">
            <a:avLst>
              <a:gd name="adj" fmla="val 16667"/>
            </a:avLst>
          </a:prstGeom>
          <a:solidFill>
            <a:srgbClr val="351A21"/>
          </a:solidFill>
          <a:ln w="12700">
            <a:solidFill>
              <a:srgbClr val="FFDEA1"/>
            </a:solidFill>
            <a:prstDash val="solid"/>
          </a:ln>
        </p:spPr>
        <p:txBody>
          <a:bodyPr anchor="ctr"/>
          <a:p>
            <a:pPr algn="ctr">
              <a:defRPr/>
            </a:pPr>
            <a:endParaRPr sz="2400"/>
          </a:p>
        </p:txBody>
      </p:sp>
      <p:sp>
        <p:nvSpPr>
          <p:cNvPr id="1156476246" name="Reason number 04"/>
          <p:cNvSpPr txBox="1"/>
          <p:nvPr/>
        </p:nvSpPr>
        <p:spPr bwMode="auto">
          <a:xfrm>
            <a:off x="2921956" y="3718043"/>
            <a:ext cx="340000" cy="1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l">
              <a:lnSpc>
                <a:spcPct val="100000"/>
              </a:lnSpc>
              <a:spcAft>
                <a:spcPts val="0"/>
              </a:spcAft>
              <a:buNone/>
              <a:defRPr/>
            </a:pPr>
            <a:r>
              <a:rPr lang="ru-RU" sz="1400" b="1">
                <a:solidFill>
                  <a:srgbClr val="FFDEA1"/>
                </a:solidFill>
                <a:latin typeface="Bellota"/>
                <a:ea typeface="Bellota"/>
                <a:cs typeface="Bellota"/>
              </a:rPr>
              <a:t>04</a:t>
            </a:r>
            <a:endParaRPr lang="ru-RU" sz="1400"/>
          </a:p>
        </p:txBody>
      </p:sp>
      <p:sp>
        <p:nvSpPr>
          <p:cNvPr id="1164264765" name="Reason divider 04"/>
          <p:cNvSpPr/>
          <p:nvPr/>
        </p:nvSpPr>
        <p:spPr bwMode="auto">
          <a:xfrm>
            <a:off x="3223913" y="3693043"/>
            <a:ext cx="14000" cy="220000"/>
          </a:xfrm>
          <a:prstGeom prst="rect">
            <a:avLst/>
          </a:prstGeom>
          <a:solidFill>
            <a:srgbClr val="FFDEA1"/>
          </a:solidFill>
          <a:ln>
            <a:noFill/>
          </a:ln>
        </p:spPr>
        <p:txBody>
          <a:bodyPr anchor="ctr"/>
          <a:p>
            <a:pPr algn="ctr">
              <a:defRPr/>
            </a:pPr>
            <a:endParaRPr sz="2400"/>
          </a:p>
        </p:txBody>
      </p:sp>
      <p:sp>
        <p:nvSpPr>
          <p:cNvPr id="420274330" name="Reason text 04"/>
          <p:cNvSpPr txBox="1"/>
          <p:nvPr/>
        </p:nvSpPr>
        <p:spPr bwMode="auto">
          <a:xfrm flipH="0" flipV="0">
            <a:off x="3313749" y="3686043"/>
            <a:ext cx="1617228" cy="2399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l">
              <a:lnSpc>
                <a:spcPct val="100000"/>
              </a:lnSpc>
              <a:spcAft>
                <a:spcPts val="0"/>
              </a:spcAft>
              <a:buNone/>
              <a:defRPr/>
            </a:pPr>
            <a:r>
              <a:rPr lang="ru-RU" sz="1100" b="1">
                <a:solidFill>
                  <a:srgbClr val="F8E5B8"/>
                </a:solidFill>
                <a:latin typeface="Bellota"/>
                <a:ea typeface="Bellota"/>
                <a:cs typeface="Bellota"/>
              </a:rPr>
              <a:t>Удобная структура</a:t>
            </a:r>
            <a:endParaRPr lang="ru-RU" sz="1100"/>
          </a:p>
          <a:p>
            <a:pPr marL="0" indent="0" algn="l">
              <a:lnSpc>
                <a:spcPct val="100000"/>
              </a:lnSpc>
              <a:spcAft>
                <a:spcPts val="0"/>
              </a:spcAft>
              <a:buNone/>
              <a:defRPr/>
            </a:pPr>
            <a:r>
              <a:rPr lang="ru-RU" sz="1100">
                <a:solidFill>
                  <a:srgbClr val="F8E5B8"/>
                </a:solidFill>
                <a:latin typeface="Bellota"/>
                <a:ea typeface="Bellota"/>
                <a:cs typeface="Bellota"/>
              </a:rPr>
              <a:t>сцен и узлов</a:t>
            </a:r>
            <a:endParaRPr lang="ru-RU" sz="1100"/>
          </a:p>
        </p:txBody>
      </p:sp>
      <p:sp>
        <p:nvSpPr>
          <p:cNvPr id="1108947708" name="Modules panel"/>
          <p:cNvSpPr/>
          <p:nvPr/>
        </p:nvSpPr>
        <p:spPr bwMode="auto">
          <a:xfrm>
            <a:off x="5580000" y="320000"/>
            <a:ext cx="3100000" cy="4490000"/>
          </a:xfrm>
          <a:prstGeom prst="roundRect">
            <a:avLst>
              <a:gd name="adj" fmla="val 16667"/>
            </a:avLst>
          </a:prstGeom>
          <a:solidFill>
            <a:srgbClr val="351A21"/>
          </a:solidFill>
          <a:ln w="12700">
            <a:solidFill>
              <a:srgbClr val="FFDEA1"/>
            </a:solidFill>
            <a:prstDash val="solid"/>
          </a:ln>
        </p:spPr>
      </p:sp>
      <p:sp>
        <p:nvSpPr>
          <p:cNvPr id="781227470" name="Modules title"/>
          <p:cNvSpPr txBox="1"/>
          <p:nvPr/>
        </p:nvSpPr>
        <p:spPr bwMode="auto">
          <a:xfrm>
            <a:off x="5860000" y="590000"/>
            <a:ext cx="2540000" cy="1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ctr">
              <a:lnSpc>
                <a:spcPct val="100000"/>
              </a:lnSpc>
              <a:spcAft>
                <a:spcPts val="0"/>
              </a:spcAft>
              <a:buNone/>
              <a:defRPr/>
            </a:pPr>
            <a:r>
              <a:rPr lang="ru-RU" sz="1200" b="1">
                <a:solidFill>
                  <a:srgbClr val="FFDEA1"/>
                </a:solidFill>
                <a:latin typeface="Bellota"/>
                <a:ea typeface="Bellota"/>
                <a:cs typeface="Bellota"/>
              </a:rPr>
              <a:t>МОДУЛЬНАЯ </a:t>
            </a:r>
            <a:r>
              <a:rPr lang="ru-RU" sz="1200" b="1">
                <a:solidFill>
                  <a:srgbClr val="FFDEA1"/>
                </a:solidFill>
                <a:latin typeface="Bellota"/>
                <a:ea typeface="Bellota"/>
                <a:cs typeface="Bellota"/>
              </a:rPr>
              <a:t>ОРГАНИЗАЦИЯ</a:t>
            </a:r>
            <a:endParaRPr sz="1200"/>
          </a:p>
        </p:txBody>
      </p:sp>
      <p:sp>
        <p:nvSpPr>
          <p:cNvPr id="1333549827" name="Modules subtitle"/>
          <p:cNvSpPr txBox="1"/>
          <p:nvPr/>
        </p:nvSpPr>
        <p:spPr bwMode="auto">
          <a:xfrm>
            <a:off x="5860000" y="850000"/>
            <a:ext cx="2540000" cy="2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ctr">
              <a:lnSpc>
                <a:spcPct val="100000"/>
              </a:lnSpc>
              <a:spcAft>
                <a:spcPts val="0"/>
              </a:spcAft>
              <a:buNone/>
              <a:defRPr/>
            </a:pPr>
            <a:r>
              <a:rPr lang="ru-RU" sz="1100">
                <a:solidFill>
                  <a:srgbClr val="F8E5B8"/>
                </a:solidFill>
                <a:latin typeface="Bellota"/>
                <a:ea typeface="Bellota"/>
                <a:cs typeface="Bellota"/>
              </a:rPr>
              <a:t>Проект разделён по зонам ответственности</a:t>
            </a:r>
            <a:endParaRPr lang="ru-RU" sz="1100"/>
          </a:p>
        </p:txBody>
      </p:sp>
      <p:sp>
        <p:nvSpPr>
          <p:cNvPr id="725395609" name="Module MENU"/>
          <p:cNvSpPr/>
          <p:nvPr/>
        </p:nvSpPr>
        <p:spPr bwMode="auto">
          <a:xfrm>
            <a:off x="5860000" y="1280000"/>
            <a:ext cx="2540000" cy="680000"/>
          </a:xfrm>
          <a:prstGeom prst="roundRect">
            <a:avLst>
              <a:gd name="adj" fmla="val 16667"/>
            </a:avLst>
          </a:prstGeom>
          <a:solidFill>
            <a:srgbClr val="241318"/>
          </a:solidFill>
          <a:ln w="12700">
            <a:solidFill>
              <a:srgbClr val="FFDEA1"/>
            </a:solidFill>
            <a:prstDash val="solid"/>
          </a:ln>
        </p:spPr>
      </p:sp>
      <p:sp>
        <p:nvSpPr>
          <p:cNvPr id="1732599595" name="Module number box MENU"/>
          <p:cNvSpPr/>
          <p:nvPr/>
        </p:nvSpPr>
        <p:spPr bwMode="auto">
          <a:xfrm>
            <a:off x="6035982" y="1449999"/>
            <a:ext cx="430000" cy="340000"/>
          </a:xfrm>
          <a:prstGeom prst="roundRect">
            <a:avLst>
              <a:gd name="adj" fmla="val 16667"/>
            </a:avLst>
          </a:prstGeom>
          <a:solidFill>
            <a:srgbClr val="FFDEA1"/>
          </a:solidFill>
          <a:ln>
            <a:noFill/>
          </a:ln>
        </p:spPr>
      </p:sp>
      <p:sp>
        <p:nvSpPr>
          <p:cNvPr id="321044234" name="Module number MENU"/>
          <p:cNvSpPr txBox="1"/>
          <p:nvPr/>
        </p:nvSpPr>
        <p:spPr bwMode="auto">
          <a:xfrm>
            <a:off x="6035982" y="1559017"/>
            <a:ext cx="430000" cy="1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ctr">
              <a:lnSpc>
                <a:spcPct val="100000"/>
              </a:lnSpc>
              <a:spcAft>
                <a:spcPts val="0"/>
              </a:spcAft>
              <a:buNone/>
              <a:defRPr/>
            </a:pPr>
            <a:r>
              <a:rPr lang="ru-RU" sz="1200" b="1">
                <a:solidFill>
                  <a:srgbClr val="241318"/>
                </a:solidFill>
                <a:latin typeface="Bellota"/>
                <a:ea typeface="Bellota"/>
                <a:cs typeface="Bellota"/>
              </a:rPr>
              <a:t>01</a:t>
            </a:r>
            <a:endParaRPr lang="ru-RU" sz="1200"/>
          </a:p>
        </p:txBody>
      </p:sp>
      <p:sp>
        <p:nvSpPr>
          <p:cNvPr id="5136867" name="Module title MENU"/>
          <p:cNvSpPr txBox="1"/>
          <p:nvPr/>
        </p:nvSpPr>
        <p:spPr bwMode="auto">
          <a:xfrm>
            <a:off x="6700000" y="1425000"/>
            <a:ext cx="1450000" cy="1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lnSpc>
                <a:spcPct val="100000"/>
              </a:lnSpc>
              <a:spcAft>
                <a:spcPts val="0"/>
              </a:spcAft>
              <a:buNone/>
              <a:defRPr/>
            </a:pPr>
            <a:r>
              <a:rPr lang="ru-RU" sz="1400" b="1">
                <a:solidFill>
                  <a:srgbClr val="FFDEA1"/>
                </a:solidFill>
                <a:latin typeface="Bellota"/>
                <a:ea typeface="Bellota"/>
                <a:cs typeface="Bellota"/>
              </a:rPr>
              <a:t>Меню</a:t>
            </a:r>
            <a:endParaRPr lang="ru-RU" sz="1400"/>
          </a:p>
        </p:txBody>
      </p:sp>
      <p:sp>
        <p:nvSpPr>
          <p:cNvPr id="1858193266" name="Module detail MENU"/>
          <p:cNvSpPr txBox="1"/>
          <p:nvPr/>
        </p:nvSpPr>
        <p:spPr bwMode="auto">
          <a:xfrm>
            <a:off x="6700000" y="1640000"/>
            <a:ext cx="1450000" cy="1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lnSpc>
                <a:spcPct val="95000"/>
              </a:lnSpc>
              <a:spcAft>
                <a:spcPts val="0"/>
              </a:spcAft>
              <a:buNone/>
              <a:defRPr/>
            </a:pPr>
            <a:r>
              <a:rPr lang="ru-RU" sz="800">
                <a:solidFill>
                  <a:srgbClr val="F8E5B8"/>
                </a:solidFill>
                <a:latin typeface="Bellota"/>
                <a:ea typeface="Bellota"/>
                <a:cs typeface="Bellota"/>
              </a:rPr>
              <a:t>главное меню  •  настройки  •  пауза</a:t>
            </a:r>
            <a:endParaRPr lang="ru-RU" sz="800"/>
          </a:p>
        </p:txBody>
      </p:sp>
      <p:sp>
        <p:nvSpPr>
          <p:cNvPr id="1201042932" name="Module NOVEL"/>
          <p:cNvSpPr/>
          <p:nvPr/>
        </p:nvSpPr>
        <p:spPr bwMode="auto">
          <a:xfrm>
            <a:off x="5860000" y="2210000"/>
            <a:ext cx="2540000" cy="680000"/>
          </a:xfrm>
          <a:prstGeom prst="roundRect">
            <a:avLst>
              <a:gd name="adj" fmla="val 16667"/>
            </a:avLst>
          </a:prstGeom>
          <a:solidFill>
            <a:srgbClr val="241318"/>
          </a:solidFill>
          <a:ln w="12700">
            <a:solidFill>
              <a:srgbClr val="FFDEA1"/>
            </a:solidFill>
            <a:prstDash val="solid"/>
          </a:ln>
        </p:spPr>
        <p:txBody>
          <a:bodyPr anchor="ctr"/>
          <a:p>
            <a:pPr algn="ctr">
              <a:defRPr/>
            </a:pPr>
            <a:endParaRPr sz="2000"/>
          </a:p>
        </p:txBody>
      </p:sp>
      <p:sp>
        <p:nvSpPr>
          <p:cNvPr id="1974395364" name="Module number box NOVEL"/>
          <p:cNvSpPr/>
          <p:nvPr/>
        </p:nvSpPr>
        <p:spPr bwMode="auto">
          <a:xfrm>
            <a:off x="6035982" y="2379999"/>
            <a:ext cx="430000" cy="340000"/>
          </a:xfrm>
          <a:prstGeom prst="roundRect">
            <a:avLst>
              <a:gd name="adj" fmla="val 16667"/>
            </a:avLst>
          </a:prstGeom>
          <a:solidFill>
            <a:srgbClr val="FFDEA1"/>
          </a:solidFill>
          <a:ln>
            <a:noFill/>
          </a:ln>
        </p:spPr>
        <p:txBody>
          <a:bodyPr anchor="ctr"/>
          <a:p>
            <a:pPr algn="ctr">
              <a:defRPr/>
            </a:pPr>
            <a:endParaRPr sz="2000"/>
          </a:p>
        </p:txBody>
      </p:sp>
      <p:sp>
        <p:nvSpPr>
          <p:cNvPr id="729362061" name="Module number NOVEL"/>
          <p:cNvSpPr txBox="1"/>
          <p:nvPr/>
        </p:nvSpPr>
        <p:spPr bwMode="auto">
          <a:xfrm>
            <a:off x="6035982" y="2489017"/>
            <a:ext cx="430000" cy="1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ctr">
              <a:lnSpc>
                <a:spcPct val="100000"/>
              </a:lnSpc>
              <a:spcAft>
                <a:spcPts val="0"/>
              </a:spcAft>
              <a:buNone/>
              <a:defRPr/>
            </a:pPr>
            <a:r>
              <a:rPr lang="ru-RU" sz="1200" b="1">
                <a:solidFill>
                  <a:srgbClr val="241318"/>
                </a:solidFill>
                <a:latin typeface="Bellota"/>
                <a:ea typeface="Bellota"/>
                <a:cs typeface="Bellota"/>
              </a:rPr>
              <a:t>02</a:t>
            </a:r>
            <a:endParaRPr lang="ru-RU" sz="1200"/>
          </a:p>
        </p:txBody>
      </p:sp>
      <p:sp>
        <p:nvSpPr>
          <p:cNvPr id="1064876386" name="Module title NOVEL"/>
          <p:cNvSpPr txBox="1"/>
          <p:nvPr/>
        </p:nvSpPr>
        <p:spPr bwMode="auto">
          <a:xfrm>
            <a:off x="6700000" y="2355000"/>
            <a:ext cx="1450000" cy="1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lnSpc>
                <a:spcPct val="100000"/>
              </a:lnSpc>
              <a:spcAft>
                <a:spcPts val="0"/>
              </a:spcAft>
              <a:buNone/>
              <a:defRPr/>
            </a:pPr>
            <a:r>
              <a:rPr lang="ru-RU" sz="1400" b="1">
                <a:solidFill>
                  <a:srgbClr val="FFDEA1"/>
                </a:solidFill>
                <a:latin typeface="Bellota"/>
                <a:ea typeface="Bellota"/>
                <a:cs typeface="Bellota"/>
              </a:rPr>
              <a:t>Новелла</a:t>
            </a:r>
            <a:endParaRPr lang="ru-RU" sz="1400"/>
          </a:p>
        </p:txBody>
      </p:sp>
      <p:sp>
        <p:nvSpPr>
          <p:cNvPr id="484056016" name="Module detail NOVEL"/>
          <p:cNvSpPr txBox="1"/>
          <p:nvPr/>
        </p:nvSpPr>
        <p:spPr bwMode="auto">
          <a:xfrm flipH="0" flipV="0">
            <a:off x="6699999" y="2569999"/>
            <a:ext cx="1553428" cy="1499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lnSpc>
                <a:spcPct val="95000"/>
              </a:lnSpc>
              <a:spcAft>
                <a:spcPts val="0"/>
              </a:spcAft>
              <a:buNone/>
              <a:defRPr/>
            </a:pPr>
            <a:r>
              <a:rPr lang="ru-RU" sz="800">
                <a:solidFill>
                  <a:srgbClr val="F8E5B8"/>
                </a:solidFill>
                <a:latin typeface="Bellota"/>
                <a:ea typeface="Bellota"/>
                <a:cs typeface="Bellota"/>
              </a:rPr>
              <a:t>пролог  •  диалоги  •  концовки</a:t>
            </a:r>
            <a:endParaRPr lang="ru-RU" sz="800"/>
          </a:p>
        </p:txBody>
      </p:sp>
      <p:sp>
        <p:nvSpPr>
          <p:cNvPr id="1817503259" name="Module RHYTHMGAME"/>
          <p:cNvSpPr/>
          <p:nvPr/>
        </p:nvSpPr>
        <p:spPr bwMode="auto">
          <a:xfrm>
            <a:off x="5860000" y="3140000"/>
            <a:ext cx="2540000" cy="680000"/>
          </a:xfrm>
          <a:prstGeom prst="roundRect">
            <a:avLst>
              <a:gd name="adj" fmla="val 16667"/>
            </a:avLst>
          </a:prstGeom>
          <a:solidFill>
            <a:srgbClr val="241318"/>
          </a:solidFill>
          <a:ln w="12700">
            <a:solidFill>
              <a:srgbClr val="FFDEA1"/>
            </a:solidFill>
            <a:prstDash val="solid"/>
          </a:ln>
        </p:spPr>
        <p:txBody>
          <a:bodyPr anchor="ctr"/>
          <a:p>
            <a:pPr algn="ctr">
              <a:defRPr/>
            </a:pPr>
            <a:endParaRPr sz="2000"/>
          </a:p>
        </p:txBody>
      </p:sp>
      <p:sp>
        <p:nvSpPr>
          <p:cNvPr id="941443797" name="Module number box RHYTHMGAME"/>
          <p:cNvSpPr/>
          <p:nvPr/>
        </p:nvSpPr>
        <p:spPr bwMode="auto">
          <a:xfrm>
            <a:off x="6035982" y="3309999"/>
            <a:ext cx="430000" cy="340000"/>
          </a:xfrm>
          <a:prstGeom prst="roundRect">
            <a:avLst>
              <a:gd name="adj" fmla="val 16667"/>
            </a:avLst>
          </a:prstGeom>
          <a:solidFill>
            <a:srgbClr val="FFDEA1"/>
          </a:solidFill>
          <a:ln>
            <a:noFill/>
          </a:ln>
        </p:spPr>
        <p:txBody>
          <a:bodyPr anchor="ctr"/>
          <a:p>
            <a:pPr algn="ctr">
              <a:defRPr/>
            </a:pPr>
            <a:endParaRPr sz="2000"/>
          </a:p>
        </p:txBody>
      </p:sp>
      <p:sp>
        <p:nvSpPr>
          <p:cNvPr id="1587319372" name="Module number RHYTHMGAME"/>
          <p:cNvSpPr txBox="1"/>
          <p:nvPr/>
        </p:nvSpPr>
        <p:spPr bwMode="auto">
          <a:xfrm>
            <a:off x="6035982" y="3419017"/>
            <a:ext cx="430000" cy="1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ctr">
              <a:lnSpc>
                <a:spcPct val="100000"/>
              </a:lnSpc>
              <a:spcAft>
                <a:spcPts val="0"/>
              </a:spcAft>
              <a:buNone/>
              <a:defRPr/>
            </a:pPr>
            <a:r>
              <a:rPr lang="ru-RU" sz="1200" b="1">
                <a:solidFill>
                  <a:srgbClr val="241318"/>
                </a:solidFill>
                <a:latin typeface="Bellota"/>
                <a:ea typeface="Bellota"/>
                <a:cs typeface="Bellota"/>
              </a:rPr>
              <a:t>03</a:t>
            </a:r>
            <a:endParaRPr lang="ru-RU" sz="1200"/>
          </a:p>
        </p:txBody>
      </p:sp>
      <p:sp>
        <p:nvSpPr>
          <p:cNvPr id="936645031" name="Module title RHYTHMGAME"/>
          <p:cNvSpPr txBox="1"/>
          <p:nvPr/>
        </p:nvSpPr>
        <p:spPr bwMode="auto">
          <a:xfrm>
            <a:off x="6700000" y="3285000"/>
            <a:ext cx="1450000" cy="1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lnSpc>
                <a:spcPct val="100000"/>
              </a:lnSpc>
              <a:spcAft>
                <a:spcPts val="0"/>
              </a:spcAft>
              <a:buNone/>
              <a:defRPr/>
            </a:pPr>
            <a:r>
              <a:rPr lang="ru-RU" sz="1400" b="1">
                <a:solidFill>
                  <a:srgbClr val="FFDEA1"/>
                </a:solidFill>
                <a:latin typeface="Bellota"/>
                <a:ea typeface="Bellota"/>
                <a:cs typeface="Bellota"/>
              </a:rPr>
              <a:t>Ритм-игра</a:t>
            </a:r>
            <a:endParaRPr lang="ru-RU" sz="1400"/>
          </a:p>
        </p:txBody>
      </p:sp>
      <p:sp>
        <p:nvSpPr>
          <p:cNvPr id="1395374444" name="Module detail RHYTHMGAME"/>
          <p:cNvSpPr txBox="1"/>
          <p:nvPr/>
        </p:nvSpPr>
        <p:spPr bwMode="auto">
          <a:xfrm>
            <a:off x="6700000" y="3500000"/>
            <a:ext cx="1450000" cy="1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lnSpc>
                <a:spcPct val="95000"/>
              </a:lnSpc>
              <a:spcAft>
                <a:spcPts val="0"/>
              </a:spcAft>
              <a:buNone/>
              <a:defRPr/>
            </a:pPr>
            <a:r>
              <a:rPr lang="ru-RU" sz="800">
                <a:solidFill>
                  <a:srgbClr val="F8E5B8"/>
                </a:solidFill>
                <a:latin typeface="Bellota"/>
                <a:ea typeface="Bellota"/>
                <a:cs typeface="Bellota"/>
              </a:rPr>
              <a:t>карты нот  •  раунд  •  система оценки</a:t>
            </a:r>
            <a:endParaRPr lang="ru-RU" sz="800"/>
          </a:p>
        </p:txBody>
      </p:sp>
      <p:sp>
        <p:nvSpPr>
          <p:cNvPr id="1988238090" name="Modules note"/>
          <p:cNvSpPr txBox="1"/>
          <p:nvPr/>
        </p:nvSpPr>
        <p:spPr bwMode="auto">
          <a:xfrm flipH="0" flipV="0">
            <a:off x="5756467" y="4201964"/>
            <a:ext cx="2728282" cy="2399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ctr">
              <a:lnSpc>
                <a:spcPct val="100000"/>
              </a:lnSpc>
              <a:spcAft>
                <a:spcPts val="0"/>
              </a:spcAft>
              <a:buNone/>
              <a:defRPr/>
            </a:pPr>
            <a:r>
              <a:rPr lang="ru-RU" sz="1000">
                <a:solidFill>
                  <a:srgbClr val="FFDEA1"/>
                </a:solidFill>
                <a:latin typeface="Bellota"/>
                <a:ea typeface="Bellota"/>
                <a:cs typeface="Bellota"/>
              </a:rPr>
              <a:t>Сцены и скрипты остаются разделёнными,</a:t>
            </a:r>
            <a:endParaRPr sz="1000">
              <a:solidFill>
                <a:srgbClr val="FFDEA1"/>
              </a:solidFill>
            </a:endParaRPr>
          </a:p>
          <a:p>
            <a:pPr marL="0" indent="0" algn="ctr">
              <a:lnSpc>
                <a:spcPct val="100000"/>
              </a:lnSpc>
              <a:spcAft>
                <a:spcPts val="0"/>
              </a:spcAft>
              <a:buNone/>
              <a:defRPr/>
            </a:pPr>
            <a:r>
              <a:rPr lang="ru-RU" sz="1000">
                <a:solidFill>
                  <a:srgbClr val="FFDEA1"/>
                </a:solidFill>
                <a:latin typeface="Bellota"/>
                <a:ea typeface="Bellota"/>
                <a:cs typeface="Bellota"/>
              </a:rPr>
              <a:t>но работают как единый игровой цикл.</a:t>
            </a:r>
            <a:endParaRPr sz="1000">
              <a:solidFill>
                <a:srgbClr val="FFDEA1"/>
              </a:solidFill>
            </a:endParaRPr>
          </a:p>
        </p:txBody>
      </p:sp>
      <p:sp>
        <p:nvSpPr>
          <p:cNvPr id="776261585" name="Eyebrow marker"/>
          <p:cNvSpPr/>
          <p:nvPr/>
        </p:nvSpPr>
        <p:spPr bwMode="auto">
          <a:xfrm>
            <a:off x="647064" y="327443"/>
            <a:ext cx="119997" cy="329998"/>
          </a:xfrm>
          <a:prstGeom prst="rect">
            <a:avLst/>
          </a:prstGeom>
          <a:solidFill>
            <a:srgbClr val="FFDEA1"/>
          </a:solidFill>
          <a:ln>
            <a:noFill/>
          </a:ln>
        </p:spPr>
        <p:txBody>
          <a:bodyPr anchor="ctr"/>
          <a:p>
            <a:pPr algn="ctr">
              <a:defRPr/>
            </a:pPr>
            <a:endParaRPr>
              <a:latin typeface="Bellota"/>
              <a:cs typeface="Bellota"/>
            </a:endParaRPr>
          </a:p>
        </p:txBody>
      </p:sp>
      <p:sp>
        <p:nvSpPr>
          <p:cNvPr id="1507479248" name="Eyebrow"/>
          <p:cNvSpPr txBox="1"/>
          <p:nvPr/>
        </p:nvSpPr>
        <p:spPr bwMode="auto">
          <a:xfrm>
            <a:off x="867063" y="387442"/>
            <a:ext cx="4199998" cy="2099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1600" b="1">
                <a:solidFill>
                  <a:srgbClr val="D2A45C"/>
                </a:solidFill>
                <a:latin typeface="Bellota"/>
                <a:ea typeface="Bellota"/>
                <a:cs typeface="Bellota"/>
              </a:rPr>
              <a:t>ВЫБОР ТЕХНОЛОГИЙ</a:t>
            </a:r>
            <a:endParaRPr sz="1600">
              <a:latin typeface="Bellota"/>
              <a:cs typeface="Bellota"/>
            </a:endParaRPr>
          </a:p>
        </p:txBody>
      </p:sp>
      <p:sp>
        <p:nvSpPr>
          <p:cNvPr id="1612666696" name=""/>
          <p:cNvSpPr/>
          <p:nvPr/>
        </p:nvSpPr>
        <p:spPr bwMode="auto">
          <a:xfrm rot="0" flipH="0" flipV="0">
            <a:off x="7682823" y="4857750"/>
            <a:ext cx="1387334" cy="263658"/>
          </a:xfrm>
          <a:prstGeom prst="rect">
            <a:avLst/>
          </a:prstGeom>
          <a:solidFill>
            <a:srgbClr val="24131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solidFill>
                <a:schemeClr val="tx1"/>
              </a:solidFill>
              <a:latin typeface="Bellota"/>
              <a:cs typeface="Bellot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250" advClick="1">
        <p:fade thruBlk="0"/>
      </p:transition>
    </mc:Choice>
    <mc:Fallback>
      <p:transition spd="fast" advClick="1">
        <p:fade thruBlk="0"/>
      </p:transition>
    </mc:Fallback>
  </mc:AlternateContent>
  <p:timing>
    <p:bldLst>
      <p:bldP spid="139770968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5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6010165" name="Flow panel"/>
          <p:cNvSpPr/>
          <p:nvPr/>
        </p:nvSpPr>
        <p:spPr bwMode="auto">
          <a:xfrm>
            <a:off x="439999" y="819891"/>
            <a:ext cx="8260000" cy="690000"/>
          </a:xfrm>
          <a:prstGeom prst="roundRect">
            <a:avLst>
              <a:gd name="adj" fmla="val 16667"/>
            </a:avLst>
          </a:prstGeom>
          <a:solidFill>
            <a:srgbClr val="351A21"/>
          </a:solidFill>
          <a:ln w="12700">
            <a:solidFill>
              <a:srgbClr val="FFDEA1"/>
            </a:solidFill>
            <a:prstDash val="solid"/>
          </a:ln>
        </p:spPr>
        <p:txBody>
          <a:bodyPr anchor="ctr"/>
          <a:p>
            <a:pPr algn="ctr">
              <a:defRPr/>
            </a:pPr>
            <a:endParaRPr sz="2400"/>
          </a:p>
        </p:txBody>
      </p:sp>
      <p:sp>
        <p:nvSpPr>
          <p:cNvPr id="145010022" name="Flow label"/>
          <p:cNvSpPr txBox="1"/>
          <p:nvPr/>
        </p:nvSpPr>
        <p:spPr bwMode="auto">
          <a:xfrm flipH="0" flipV="0">
            <a:off x="669999" y="915380"/>
            <a:ext cx="2089999" cy="1399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lnSpc>
                <a:spcPct val="100000"/>
              </a:lnSpc>
              <a:spcAft>
                <a:spcPts val="0"/>
              </a:spcAft>
              <a:buNone/>
              <a:defRPr/>
            </a:pPr>
            <a:r>
              <a:rPr lang="ru-RU" sz="1200" b="1">
                <a:solidFill>
                  <a:srgbClr val="FFDEA1"/>
                </a:solidFill>
                <a:latin typeface="Bellota"/>
                <a:ea typeface="Bellota"/>
                <a:cs typeface="Bellota"/>
              </a:rPr>
              <a:t>ИГРОВОЙ </a:t>
            </a:r>
            <a:r>
              <a:rPr lang="ru-RU" sz="1200" b="1">
                <a:solidFill>
                  <a:srgbClr val="FFDEA1"/>
                </a:solidFill>
                <a:latin typeface="Bellota"/>
                <a:ea typeface="Bellota"/>
                <a:cs typeface="Bellota"/>
              </a:rPr>
              <a:t>ЦИКЛ</a:t>
            </a:r>
            <a:endParaRPr sz="1200">
              <a:solidFill>
                <a:srgbClr val="FFDEA1"/>
              </a:solidFill>
            </a:endParaRPr>
          </a:p>
        </p:txBody>
      </p:sp>
      <p:sp>
        <p:nvSpPr>
          <p:cNvPr id="286944085" name="Flow node 01"/>
          <p:cNvSpPr/>
          <p:nvPr/>
        </p:nvSpPr>
        <p:spPr bwMode="auto">
          <a:xfrm flipH="0" flipV="0">
            <a:off x="724016" y="1159890"/>
            <a:ext cx="1039999" cy="229999"/>
          </a:xfrm>
          <a:prstGeom prst="roundRect">
            <a:avLst>
              <a:gd name="adj" fmla="val 16667"/>
            </a:avLst>
          </a:prstGeom>
          <a:solidFill>
            <a:srgbClr val="241318"/>
          </a:solidFill>
          <a:ln w="9525">
            <a:solidFill>
              <a:srgbClr val="FFDEA1"/>
            </a:solidFill>
          </a:ln>
        </p:spPr>
        <p:txBody>
          <a:bodyPr anchor="ctr"/>
          <a:p>
            <a:pPr algn="ctr">
              <a:defRPr/>
            </a:pPr>
            <a:endParaRPr sz="2400"/>
          </a:p>
        </p:txBody>
      </p:sp>
      <p:sp>
        <p:nvSpPr>
          <p:cNvPr id="1531438122" name="Flow text 01"/>
          <p:cNvSpPr txBox="1"/>
          <p:nvPr/>
        </p:nvSpPr>
        <p:spPr bwMode="auto">
          <a:xfrm>
            <a:off x="724017" y="1209891"/>
            <a:ext cx="1040000" cy="1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ctr">
              <a:lnSpc>
                <a:spcPct val="100000"/>
              </a:lnSpc>
              <a:spcAft>
                <a:spcPts val="0"/>
              </a:spcAft>
              <a:buNone/>
              <a:defRPr/>
            </a:pPr>
            <a:r>
              <a:rPr lang="ru-RU" sz="900" b="1">
                <a:solidFill>
                  <a:srgbClr val="FFDEA1"/>
                </a:solidFill>
                <a:latin typeface="Bellota"/>
                <a:ea typeface="Bellota"/>
                <a:cs typeface="Bellota"/>
              </a:rPr>
              <a:t>МЕНЮ</a:t>
            </a:r>
            <a:endParaRPr lang="ru-RU" sz="900"/>
          </a:p>
        </p:txBody>
      </p:sp>
      <p:sp>
        <p:nvSpPr>
          <p:cNvPr id="2073991834" name="Flow node 02"/>
          <p:cNvSpPr/>
          <p:nvPr/>
        </p:nvSpPr>
        <p:spPr bwMode="auto">
          <a:xfrm>
            <a:off x="2034017" y="1159891"/>
            <a:ext cx="1040000" cy="230000"/>
          </a:xfrm>
          <a:prstGeom prst="roundRect">
            <a:avLst>
              <a:gd name="adj" fmla="val 16667"/>
            </a:avLst>
          </a:prstGeom>
          <a:solidFill>
            <a:srgbClr val="241318"/>
          </a:solidFill>
          <a:ln w="9525">
            <a:solidFill>
              <a:srgbClr val="FFDEA1"/>
            </a:solidFill>
          </a:ln>
        </p:spPr>
        <p:txBody>
          <a:bodyPr anchor="ctr"/>
          <a:p>
            <a:pPr algn="ctr">
              <a:defRPr/>
            </a:pPr>
            <a:endParaRPr sz="2400"/>
          </a:p>
        </p:txBody>
      </p:sp>
      <p:sp>
        <p:nvSpPr>
          <p:cNvPr id="1415135228" name="Flow text 02"/>
          <p:cNvSpPr txBox="1"/>
          <p:nvPr/>
        </p:nvSpPr>
        <p:spPr bwMode="auto">
          <a:xfrm>
            <a:off x="2034017" y="1209891"/>
            <a:ext cx="1040000" cy="1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ctr">
              <a:lnSpc>
                <a:spcPct val="100000"/>
              </a:lnSpc>
              <a:spcAft>
                <a:spcPts val="0"/>
              </a:spcAft>
              <a:buNone/>
              <a:defRPr/>
            </a:pPr>
            <a:r>
              <a:rPr lang="ru-RU" sz="900" b="1">
                <a:solidFill>
                  <a:srgbClr val="FFDEA1"/>
                </a:solidFill>
                <a:latin typeface="Bellota"/>
                <a:ea typeface="Bellota"/>
                <a:cs typeface="Bellota"/>
              </a:rPr>
              <a:t>ПРОЛОГ</a:t>
            </a:r>
            <a:endParaRPr lang="ru-RU" sz="900"/>
          </a:p>
        </p:txBody>
      </p:sp>
      <p:sp>
        <p:nvSpPr>
          <p:cNvPr id="1750120902" name="Flow node 03"/>
          <p:cNvSpPr/>
          <p:nvPr/>
        </p:nvSpPr>
        <p:spPr bwMode="auto">
          <a:xfrm>
            <a:off x="3344017" y="1159891"/>
            <a:ext cx="1040000" cy="230000"/>
          </a:xfrm>
          <a:prstGeom prst="roundRect">
            <a:avLst>
              <a:gd name="adj" fmla="val 16667"/>
            </a:avLst>
          </a:prstGeom>
          <a:solidFill>
            <a:srgbClr val="241318"/>
          </a:solidFill>
          <a:ln w="9525">
            <a:solidFill>
              <a:srgbClr val="FFDEA1"/>
            </a:solidFill>
          </a:ln>
        </p:spPr>
        <p:txBody>
          <a:bodyPr anchor="ctr"/>
          <a:p>
            <a:pPr algn="ctr">
              <a:defRPr/>
            </a:pPr>
            <a:endParaRPr sz="2400"/>
          </a:p>
        </p:txBody>
      </p:sp>
      <p:sp>
        <p:nvSpPr>
          <p:cNvPr id="500099162" name="Flow text 03"/>
          <p:cNvSpPr txBox="1"/>
          <p:nvPr/>
        </p:nvSpPr>
        <p:spPr bwMode="auto">
          <a:xfrm>
            <a:off x="3344017" y="1209891"/>
            <a:ext cx="1040000" cy="1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ctr">
              <a:lnSpc>
                <a:spcPct val="100000"/>
              </a:lnSpc>
              <a:spcAft>
                <a:spcPts val="0"/>
              </a:spcAft>
              <a:buNone/>
              <a:defRPr/>
            </a:pPr>
            <a:r>
              <a:rPr lang="ru-RU" sz="900" b="1">
                <a:solidFill>
                  <a:srgbClr val="FFDEA1"/>
                </a:solidFill>
                <a:latin typeface="Bellota"/>
                <a:ea typeface="Bellota"/>
                <a:cs typeface="Bellota"/>
              </a:rPr>
              <a:t>НОВЕЛЛА</a:t>
            </a:r>
            <a:endParaRPr lang="ru-RU" sz="900"/>
          </a:p>
        </p:txBody>
      </p:sp>
      <p:sp>
        <p:nvSpPr>
          <p:cNvPr id="704637757" name="Flow node 04"/>
          <p:cNvSpPr/>
          <p:nvPr/>
        </p:nvSpPr>
        <p:spPr bwMode="auto">
          <a:xfrm>
            <a:off x="4654017" y="1159891"/>
            <a:ext cx="1040000" cy="230000"/>
          </a:xfrm>
          <a:prstGeom prst="roundRect">
            <a:avLst>
              <a:gd name="adj" fmla="val 16667"/>
            </a:avLst>
          </a:prstGeom>
          <a:solidFill>
            <a:srgbClr val="241318"/>
          </a:solidFill>
          <a:ln w="9525">
            <a:solidFill>
              <a:srgbClr val="FFDEA1"/>
            </a:solidFill>
          </a:ln>
        </p:spPr>
        <p:txBody>
          <a:bodyPr anchor="ctr"/>
          <a:p>
            <a:pPr algn="ctr">
              <a:defRPr/>
            </a:pPr>
            <a:endParaRPr sz="2400"/>
          </a:p>
        </p:txBody>
      </p:sp>
      <p:sp>
        <p:nvSpPr>
          <p:cNvPr id="1235993334" name="Flow text 04"/>
          <p:cNvSpPr txBox="1"/>
          <p:nvPr/>
        </p:nvSpPr>
        <p:spPr bwMode="auto">
          <a:xfrm>
            <a:off x="4654017" y="1209891"/>
            <a:ext cx="1040000" cy="1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ctr">
              <a:lnSpc>
                <a:spcPct val="100000"/>
              </a:lnSpc>
              <a:spcAft>
                <a:spcPts val="0"/>
              </a:spcAft>
              <a:buNone/>
              <a:defRPr/>
            </a:pPr>
            <a:r>
              <a:rPr lang="ru-RU" sz="900" b="1">
                <a:solidFill>
                  <a:srgbClr val="FFDEA1"/>
                </a:solidFill>
                <a:latin typeface="Bellota"/>
                <a:ea typeface="Bellota"/>
                <a:cs typeface="Bellota"/>
              </a:rPr>
              <a:t>РИТМ-СЦЕНА</a:t>
            </a:r>
            <a:endParaRPr lang="ru-RU" sz="900"/>
          </a:p>
        </p:txBody>
      </p:sp>
      <p:sp>
        <p:nvSpPr>
          <p:cNvPr id="1923569027" name="Flow node 05"/>
          <p:cNvSpPr/>
          <p:nvPr/>
        </p:nvSpPr>
        <p:spPr bwMode="auto">
          <a:xfrm>
            <a:off x="5964017" y="1159891"/>
            <a:ext cx="1040000" cy="230000"/>
          </a:xfrm>
          <a:prstGeom prst="roundRect">
            <a:avLst>
              <a:gd name="adj" fmla="val 16667"/>
            </a:avLst>
          </a:prstGeom>
          <a:solidFill>
            <a:srgbClr val="241318"/>
          </a:solidFill>
          <a:ln w="9525">
            <a:solidFill>
              <a:srgbClr val="FFDEA1"/>
            </a:solidFill>
          </a:ln>
        </p:spPr>
        <p:txBody>
          <a:bodyPr anchor="ctr"/>
          <a:p>
            <a:pPr algn="ctr">
              <a:defRPr/>
            </a:pPr>
            <a:endParaRPr sz="2400"/>
          </a:p>
        </p:txBody>
      </p:sp>
      <p:sp>
        <p:nvSpPr>
          <p:cNvPr id="1855030367" name="Flow text 05"/>
          <p:cNvSpPr txBox="1"/>
          <p:nvPr/>
        </p:nvSpPr>
        <p:spPr bwMode="auto">
          <a:xfrm>
            <a:off x="5964017" y="1209891"/>
            <a:ext cx="1040000" cy="1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ctr">
              <a:lnSpc>
                <a:spcPct val="100000"/>
              </a:lnSpc>
              <a:spcAft>
                <a:spcPts val="0"/>
              </a:spcAft>
              <a:buNone/>
              <a:defRPr/>
            </a:pPr>
            <a:r>
              <a:rPr lang="ru-RU" sz="900" b="1">
                <a:solidFill>
                  <a:srgbClr val="FFDEA1"/>
                </a:solidFill>
                <a:latin typeface="Bellota"/>
                <a:ea typeface="Bellota"/>
                <a:cs typeface="Bellota"/>
              </a:rPr>
              <a:t>РЕЗУЛЬТАТ</a:t>
            </a:r>
            <a:endParaRPr lang="ru-RU" sz="900"/>
          </a:p>
        </p:txBody>
      </p:sp>
      <p:sp>
        <p:nvSpPr>
          <p:cNvPr id="195618808" name="Flow node 06"/>
          <p:cNvSpPr/>
          <p:nvPr/>
        </p:nvSpPr>
        <p:spPr bwMode="auto">
          <a:xfrm>
            <a:off x="7274017" y="1159891"/>
            <a:ext cx="1040000" cy="230000"/>
          </a:xfrm>
          <a:prstGeom prst="roundRect">
            <a:avLst>
              <a:gd name="adj" fmla="val 16667"/>
            </a:avLst>
          </a:prstGeom>
          <a:solidFill>
            <a:srgbClr val="241318"/>
          </a:solidFill>
          <a:ln w="9525">
            <a:solidFill>
              <a:srgbClr val="FFDEA1"/>
            </a:solidFill>
          </a:ln>
        </p:spPr>
        <p:txBody>
          <a:bodyPr anchor="ctr"/>
          <a:p>
            <a:pPr algn="ctr">
              <a:defRPr/>
            </a:pPr>
            <a:endParaRPr sz="2400"/>
          </a:p>
        </p:txBody>
      </p:sp>
      <p:sp>
        <p:nvSpPr>
          <p:cNvPr id="906300352" name="Flow text 06"/>
          <p:cNvSpPr txBox="1"/>
          <p:nvPr/>
        </p:nvSpPr>
        <p:spPr bwMode="auto">
          <a:xfrm>
            <a:off x="7274017" y="1209891"/>
            <a:ext cx="1040000" cy="1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marL="0" indent="0" algn="ctr">
              <a:lnSpc>
                <a:spcPct val="100000"/>
              </a:lnSpc>
              <a:spcAft>
                <a:spcPts val="0"/>
              </a:spcAft>
              <a:buNone/>
              <a:defRPr/>
            </a:pPr>
            <a:r>
              <a:rPr lang="ru-RU" sz="900" b="1">
                <a:solidFill>
                  <a:srgbClr val="FFDEA1"/>
                </a:solidFill>
                <a:latin typeface="Bellota"/>
                <a:ea typeface="Bellota"/>
                <a:cs typeface="Bellota"/>
              </a:rPr>
              <a:t>КОНЦОВКА</a:t>
            </a:r>
            <a:endParaRPr lang="ru-RU" sz="900"/>
          </a:p>
        </p:txBody>
      </p:sp>
      <p:sp>
        <p:nvSpPr>
          <p:cNvPr id="1838977181" name="Modules heading"/>
          <p:cNvSpPr txBox="1"/>
          <p:nvPr/>
        </p:nvSpPr>
        <p:spPr bwMode="auto">
          <a:xfrm flipH="0" flipV="0">
            <a:off x="3261349" y="1657837"/>
            <a:ext cx="2481228" cy="1699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ctr">
              <a:lnSpc>
                <a:spcPct val="100000"/>
              </a:lnSpc>
              <a:spcAft>
                <a:spcPts val="0"/>
              </a:spcAft>
              <a:buNone/>
              <a:defRPr/>
            </a:pPr>
            <a:r>
              <a:rPr lang="ru-RU" sz="1200" b="1">
                <a:solidFill>
                  <a:srgbClr val="FFDEA1"/>
                </a:solidFill>
                <a:latin typeface="Bellota"/>
                <a:ea typeface="Bellota"/>
                <a:cs typeface="Bellota"/>
              </a:rPr>
              <a:t>ВЗАИМОСВЯЗЬ МОДУЛЕЙ</a:t>
            </a:r>
            <a:endParaRPr lang="ru-RU" sz="1200"/>
          </a:p>
        </p:txBody>
      </p:sp>
      <p:pic>
        <p:nvPicPr>
          <p:cNvPr id="480222948" name="Modules diagram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521098" y="1885782"/>
            <a:ext cx="4265839" cy="3089918"/>
          </a:xfrm>
          <a:prstGeom prst="rect">
            <a:avLst/>
          </a:prstGeom>
        </p:spPr>
      </p:pic>
      <p:sp>
        <p:nvSpPr>
          <p:cNvPr id="1326716797" name="Eyebrow marker"/>
          <p:cNvSpPr/>
          <p:nvPr/>
        </p:nvSpPr>
        <p:spPr bwMode="auto">
          <a:xfrm>
            <a:off x="647064" y="327442"/>
            <a:ext cx="119997" cy="329997"/>
          </a:xfrm>
          <a:prstGeom prst="rect">
            <a:avLst/>
          </a:prstGeom>
          <a:solidFill>
            <a:srgbClr val="FFDEA1"/>
          </a:solidFill>
          <a:ln>
            <a:noFill/>
          </a:ln>
        </p:spPr>
        <p:txBody>
          <a:bodyPr anchor="ctr"/>
          <a:p>
            <a:pPr algn="ctr">
              <a:defRPr/>
            </a:pPr>
            <a:endParaRPr>
              <a:latin typeface="Bellota"/>
              <a:cs typeface="Bellota"/>
            </a:endParaRPr>
          </a:p>
        </p:txBody>
      </p:sp>
      <p:sp>
        <p:nvSpPr>
          <p:cNvPr id="465058210" name="Eyebrow"/>
          <p:cNvSpPr txBox="1"/>
          <p:nvPr/>
        </p:nvSpPr>
        <p:spPr bwMode="auto">
          <a:xfrm>
            <a:off x="867062" y="387441"/>
            <a:ext cx="4199997" cy="20999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1600" b="1">
                <a:solidFill>
                  <a:srgbClr val="D2A45C"/>
                </a:solidFill>
                <a:latin typeface="Bellota"/>
                <a:ea typeface="Bellota"/>
                <a:cs typeface="Bellota"/>
              </a:rPr>
              <a:t>АРХИТЕКТУРА ПРОЕКТА</a:t>
            </a:r>
            <a:endParaRPr sz="1600">
              <a:latin typeface="Bellota"/>
              <a:cs typeface="Bellota"/>
            </a:endParaRPr>
          </a:p>
        </p:txBody>
      </p:sp>
      <p:sp>
        <p:nvSpPr>
          <p:cNvPr id="332233883" name=""/>
          <p:cNvSpPr/>
          <p:nvPr/>
        </p:nvSpPr>
        <p:spPr bwMode="auto">
          <a:xfrm rot="0" flipH="0" flipV="0">
            <a:off x="7972716" y="4829997"/>
            <a:ext cx="1111249" cy="291407"/>
          </a:xfrm>
          <a:prstGeom prst="rect">
            <a:avLst/>
          </a:prstGeom>
          <a:solidFill>
            <a:srgbClr val="24131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solidFill>
                <a:schemeClr val="tx1"/>
              </a:solidFill>
              <a:latin typeface="Bellota"/>
              <a:cs typeface="Bellota"/>
            </a:endParaRPr>
          </a:p>
        </p:txBody>
      </p:sp>
      <p:cxnSp>
        <p:nvCxnSpPr>
          <p:cNvPr id="1137377598" name=""/>
          <p:cNvCxnSpPr/>
          <p:nvPr/>
        </p:nvCxnSpPr>
        <p:spPr bwMode="auto">
          <a:xfrm flipH="0" flipV="0">
            <a:off x="1831657" y="1265464"/>
            <a:ext cx="136071" cy="0"/>
          </a:xfrm>
          <a:prstGeom prst="line">
            <a:avLst/>
          </a:prstGeom>
          <a:ln w="19050" cap="flat" cmpd="sng" algn="ctr">
            <a:solidFill>
              <a:srgbClr val="FFDEA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2317611" name=""/>
          <p:cNvCxnSpPr/>
          <p:nvPr/>
        </p:nvCxnSpPr>
        <p:spPr bwMode="auto">
          <a:xfrm flipH="0" flipV="0">
            <a:off x="3146666" y="1253777"/>
            <a:ext cx="136071" cy="0"/>
          </a:xfrm>
          <a:prstGeom prst="line">
            <a:avLst/>
          </a:prstGeom>
          <a:ln w="19050" cap="flat" cmpd="sng" algn="ctr">
            <a:solidFill>
              <a:srgbClr val="FFDEA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3697857" name=""/>
          <p:cNvCxnSpPr/>
          <p:nvPr/>
        </p:nvCxnSpPr>
        <p:spPr bwMode="auto">
          <a:xfrm flipH="0" flipV="0">
            <a:off x="4433928" y="1265464"/>
            <a:ext cx="136071" cy="0"/>
          </a:xfrm>
          <a:prstGeom prst="line">
            <a:avLst/>
          </a:prstGeom>
          <a:ln w="19050" cap="flat" cmpd="sng" algn="ctr">
            <a:solidFill>
              <a:srgbClr val="FFDEA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446089" name=""/>
          <p:cNvCxnSpPr/>
          <p:nvPr/>
        </p:nvCxnSpPr>
        <p:spPr bwMode="auto">
          <a:xfrm flipH="0" flipV="0">
            <a:off x="5741949" y="1265464"/>
            <a:ext cx="136071" cy="0"/>
          </a:xfrm>
          <a:prstGeom prst="line">
            <a:avLst/>
          </a:prstGeom>
          <a:ln w="19050" cap="flat" cmpd="sng" algn="ctr">
            <a:solidFill>
              <a:srgbClr val="FFDEA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6094531" name=""/>
          <p:cNvCxnSpPr/>
          <p:nvPr/>
        </p:nvCxnSpPr>
        <p:spPr bwMode="auto">
          <a:xfrm flipH="0" flipV="0">
            <a:off x="7053037" y="1274891"/>
            <a:ext cx="136071" cy="0"/>
          </a:xfrm>
          <a:prstGeom prst="line">
            <a:avLst/>
          </a:prstGeom>
          <a:ln w="19050" cap="flat" cmpd="sng" algn="ctr">
            <a:solidFill>
              <a:srgbClr val="FFDEA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250" advClick="1">
        <p:fade thruBlk="0"/>
      </p:transition>
    </mc:Choice>
    <mc:Fallback>
      <p:transition spd="fast" advClick="1">
        <p:fade thruBlk="0"/>
      </p:transition>
    </mc:Fallback>
  </mc:AlternateContent>
  <p:timing>
    <p:bldLst>
      <p:bldP spid="1838977181" grpId="0" animBg="1"/>
      <p:bldP spid="48022294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5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4635318" name="Modules heading"/>
          <p:cNvSpPr txBox="1"/>
          <p:nvPr/>
        </p:nvSpPr>
        <p:spPr bwMode="auto">
          <a:xfrm flipH="0" flipV="0">
            <a:off x="3026441" y="4917387"/>
            <a:ext cx="3091117" cy="1699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ctr">
              <a:lnSpc>
                <a:spcPct val="100000"/>
              </a:lnSpc>
              <a:spcAft>
                <a:spcPts val="0"/>
              </a:spcAft>
              <a:buNone/>
              <a:defRPr/>
            </a:pPr>
            <a:r>
              <a:rPr lang="ru-RU" sz="1200" b="1">
                <a:solidFill>
                  <a:srgbClr val="FFDEA1"/>
                </a:solidFill>
                <a:latin typeface="Bellota"/>
                <a:ea typeface="Bellota"/>
                <a:cs typeface="Bellota"/>
              </a:rPr>
              <a:t>ДИАГРАММА СОСТОЯНИЙ ИГРЫ</a:t>
            </a:r>
            <a:endParaRPr lang="ru-RU" sz="1200"/>
          </a:p>
        </p:txBody>
      </p:sp>
      <p:sp>
        <p:nvSpPr>
          <p:cNvPr id="1697182364" name="Eyebrow marker"/>
          <p:cNvSpPr/>
          <p:nvPr/>
        </p:nvSpPr>
        <p:spPr bwMode="auto">
          <a:xfrm>
            <a:off x="647064" y="327442"/>
            <a:ext cx="119997" cy="329997"/>
          </a:xfrm>
          <a:prstGeom prst="rect">
            <a:avLst/>
          </a:prstGeom>
          <a:solidFill>
            <a:srgbClr val="FFDEA1"/>
          </a:solidFill>
          <a:ln>
            <a:noFill/>
          </a:ln>
        </p:spPr>
        <p:txBody>
          <a:bodyPr anchor="ctr"/>
          <a:p>
            <a:pPr algn="ctr">
              <a:defRPr/>
            </a:pPr>
            <a:endParaRPr>
              <a:latin typeface="Bellota"/>
              <a:cs typeface="Bellota"/>
            </a:endParaRPr>
          </a:p>
        </p:txBody>
      </p:sp>
      <p:sp>
        <p:nvSpPr>
          <p:cNvPr id="849551329" name="Eyebrow"/>
          <p:cNvSpPr txBox="1"/>
          <p:nvPr/>
        </p:nvSpPr>
        <p:spPr bwMode="auto">
          <a:xfrm>
            <a:off x="867062" y="387441"/>
            <a:ext cx="4199997" cy="20999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1600" b="1">
                <a:solidFill>
                  <a:srgbClr val="D2A45C"/>
                </a:solidFill>
                <a:latin typeface="Bellota"/>
                <a:ea typeface="Bellota"/>
                <a:cs typeface="Bellota"/>
              </a:rPr>
              <a:t>АРХИТЕКТУРА ПРОЕКТА</a:t>
            </a:r>
            <a:endParaRPr sz="1600">
              <a:latin typeface="Bellota"/>
              <a:cs typeface="Bellota"/>
            </a:endParaRPr>
          </a:p>
        </p:txBody>
      </p:sp>
      <p:sp>
        <p:nvSpPr>
          <p:cNvPr id="144580817" name=""/>
          <p:cNvSpPr/>
          <p:nvPr/>
        </p:nvSpPr>
        <p:spPr bwMode="auto">
          <a:xfrm rot="0" flipH="0" flipV="0">
            <a:off x="7972716" y="4829997"/>
            <a:ext cx="1111249" cy="291407"/>
          </a:xfrm>
          <a:prstGeom prst="rect">
            <a:avLst/>
          </a:prstGeom>
          <a:solidFill>
            <a:srgbClr val="24131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solidFill>
                <a:schemeClr val="tx1"/>
              </a:solidFill>
              <a:latin typeface="Bellota"/>
              <a:cs typeface="Bellota"/>
            </a:endParaRPr>
          </a:p>
        </p:txBody>
      </p:sp>
      <p:pic>
        <p:nvPicPr>
          <p:cNvPr id="1029564364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893314" y="669041"/>
            <a:ext cx="3357370" cy="420460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250" advClick="1">
        <p:fade thruBlk="0"/>
      </p:transition>
    </mc:Choice>
    <mc:Fallback>
      <p:transition spd="fast" advClick="1">
        <p:fade thruBlk="0"/>
      </p:transition>
    </mc:Fallback>
  </mc:AlternateContent>
  <p:timing>
    <p:bldLst>
      <p:bldP spid="804635318" grpId="0" animBg="1"/>
      <p:bldP spid="102956436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95631848" name="Stage 1 image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521208" y="803357"/>
            <a:ext cx="3156125" cy="1775320"/>
          </a:xfrm>
          <a:prstGeom prst="rect">
            <a:avLst/>
          </a:prstGeom>
          <a:ln w="19050">
            <a:solidFill>
              <a:srgbClr val="FFDEA1"/>
            </a:solidFill>
            <a:prstDash val="solid"/>
          </a:ln>
        </p:spPr>
      </p:pic>
      <p:sp>
        <p:nvSpPr>
          <p:cNvPr id="135608015" name="Stage 1 title"/>
          <p:cNvSpPr txBox="1"/>
          <p:nvPr/>
        </p:nvSpPr>
        <p:spPr bwMode="auto">
          <a:xfrm>
            <a:off x="658368" y="2625807"/>
            <a:ext cx="3328416" cy="192024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/>
          <a:lstStyle/>
          <a:p>
            <a:pPr algn="l">
              <a:defRPr/>
            </a:pPr>
            <a:r>
              <a:rPr lang="ru-RU" sz="1100" b="1">
                <a:solidFill>
                  <a:srgbClr val="FFDEA1"/>
                </a:solidFill>
                <a:latin typeface="Bellota"/>
                <a:ea typeface="Bellota"/>
                <a:cs typeface="Bellota"/>
              </a:rPr>
              <a:t>МЕХАНИЧЕСКИЙ ПРОТОТИП</a:t>
            </a:r>
            <a:endParaRPr lang="ru-RU" sz="1100"/>
          </a:p>
        </p:txBody>
      </p:sp>
      <p:sp>
        <p:nvSpPr>
          <p:cNvPr id="1597090911" name="Stage 1 subtitle"/>
          <p:cNvSpPr txBox="1"/>
          <p:nvPr/>
        </p:nvSpPr>
        <p:spPr bwMode="auto">
          <a:xfrm>
            <a:off x="658368" y="2806180"/>
            <a:ext cx="3328416" cy="17373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/>
          <a:lstStyle/>
          <a:p>
            <a:pPr algn="l">
              <a:defRPr/>
            </a:pPr>
            <a:r>
              <a:rPr lang="ru-RU" sz="900" b="0">
                <a:solidFill>
                  <a:srgbClr val="F8E5B8"/>
                </a:solidFill>
                <a:latin typeface="Bellota"/>
                <a:ea typeface="Bellota"/>
                <a:cs typeface="Bellota"/>
              </a:rPr>
              <a:t>Проверка базового ввода и состояний</a:t>
            </a:r>
            <a:endParaRPr lang="ru-RU" sz="900"/>
          </a:p>
        </p:txBody>
      </p:sp>
      <p:pic>
        <p:nvPicPr>
          <p:cNvPr id="1552465199" name="Stage 2 image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5189909" y="803357"/>
            <a:ext cx="3156125" cy="1775320"/>
          </a:xfrm>
          <a:prstGeom prst="rect">
            <a:avLst/>
          </a:prstGeom>
          <a:ln w="19050">
            <a:solidFill>
              <a:srgbClr val="FFDEA1"/>
            </a:solidFill>
            <a:prstDash val="solid"/>
          </a:ln>
        </p:spPr>
      </p:pic>
      <p:sp>
        <p:nvSpPr>
          <p:cNvPr id="1340190929" name="Stage 2 title"/>
          <p:cNvSpPr txBox="1"/>
          <p:nvPr/>
        </p:nvSpPr>
        <p:spPr bwMode="auto">
          <a:xfrm>
            <a:off x="5348058" y="2625807"/>
            <a:ext cx="3328416" cy="192024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/>
          <a:lstStyle/>
          <a:p>
            <a:pPr algn="l">
              <a:defRPr/>
            </a:pPr>
            <a:r>
              <a:rPr lang="ru-RU" sz="1100" b="1">
                <a:solidFill>
                  <a:srgbClr val="FFDEA1"/>
                </a:solidFill>
                <a:latin typeface="Bellota"/>
                <a:ea typeface="Bellota"/>
                <a:cs typeface="Bellota"/>
              </a:rPr>
              <a:t>ПЕРВАЯ ИГРОВАЯ СЦЕНА</a:t>
            </a:r>
            <a:endParaRPr lang="ru-RU" sz="1100"/>
          </a:p>
        </p:txBody>
      </p:sp>
      <p:sp>
        <p:nvSpPr>
          <p:cNvPr id="257020329" name="Stage 2 subtitle"/>
          <p:cNvSpPr txBox="1"/>
          <p:nvPr/>
        </p:nvSpPr>
        <p:spPr bwMode="auto">
          <a:xfrm>
            <a:off x="5348058" y="2806180"/>
            <a:ext cx="3328416" cy="17373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/>
          <a:lstStyle/>
          <a:p>
            <a:pPr algn="l">
              <a:defRPr/>
            </a:pPr>
            <a:r>
              <a:rPr lang="ru-RU" sz="900" b="0">
                <a:solidFill>
                  <a:srgbClr val="F8E5B8"/>
                </a:solidFill>
                <a:latin typeface="Bellota"/>
                <a:ea typeface="Bellota"/>
                <a:cs typeface="Bellota"/>
              </a:rPr>
              <a:t>Ноты, дорожки и счёт прохождения</a:t>
            </a:r>
            <a:endParaRPr lang="ru-RU" sz="900"/>
          </a:p>
        </p:txBody>
      </p:sp>
      <p:pic>
        <p:nvPicPr>
          <p:cNvPr id="1000161488" name="Stage 3 image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5175504" y="3052908"/>
            <a:ext cx="3156125" cy="1775320"/>
          </a:xfrm>
          <a:prstGeom prst="rect">
            <a:avLst/>
          </a:prstGeom>
          <a:ln w="19050">
            <a:solidFill>
              <a:srgbClr val="FFDEA1"/>
            </a:solidFill>
            <a:prstDash val="solid"/>
          </a:ln>
        </p:spPr>
      </p:pic>
      <p:sp>
        <p:nvSpPr>
          <p:cNvPr id="1475115929" name="Stage 3 title"/>
          <p:cNvSpPr txBox="1"/>
          <p:nvPr/>
        </p:nvSpPr>
        <p:spPr bwMode="auto">
          <a:xfrm>
            <a:off x="5175504" y="4891752"/>
            <a:ext cx="3328416" cy="192024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/>
          <a:lstStyle/>
          <a:p>
            <a:pPr algn="l">
              <a:defRPr/>
            </a:pPr>
            <a:r>
              <a:rPr lang="ru-RU" sz="1100" b="1">
                <a:solidFill>
                  <a:srgbClr val="FFDEA1"/>
                </a:solidFill>
                <a:latin typeface="Bellota"/>
                <a:ea typeface="Bellota"/>
                <a:cs typeface="Bellota"/>
              </a:rPr>
              <a:t>АТМОСФЕРНАЯ ПЕРЕРАБОТКА</a:t>
            </a:r>
            <a:endParaRPr lang="ru-RU" sz="1100"/>
          </a:p>
        </p:txBody>
      </p:sp>
      <p:sp>
        <p:nvSpPr>
          <p:cNvPr id="1746691375" name="Stage 3 subtitle"/>
          <p:cNvSpPr txBox="1"/>
          <p:nvPr/>
        </p:nvSpPr>
        <p:spPr bwMode="auto">
          <a:xfrm>
            <a:off x="5175504" y="5555278"/>
            <a:ext cx="3328416" cy="17373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/>
          <a:lstStyle/>
          <a:p>
            <a:pPr algn="l">
              <a:defRPr/>
            </a:pPr>
            <a:r>
              <a:rPr lang="ru-RU" sz="900" b="0">
                <a:solidFill>
                  <a:srgbClr val="F8E5B8"/>
                </a:solidFill>
                <a:latin typeface="Bellota"/>
                <a:ea typeface="Bellota"/>
                <a:cs typeface="Bellota"/>
              </a:rPr>
              <a:t>Цельный стиль кофейни и читаемость</a:t>
            </a:r>
            <a:endParaRPr lang="ru-RU" sz="900"/>
          </a:p>
        </p:txBody>
      </p:sp>
      <p:pic>
        <p:nvPicPr>
          <p:cNvPr id="1976412064" name="Stage 4 image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flipH="0" flipV="0">
            <a:off x="530352" y="3039662"/>
            <a:ext cx="3177777" cy="1787499"/>
          </a:xfrm>
          <a:prstGeom prst="rect">
            <a:avLst/>
          </a:prstGeom>
          <a:ln w="19050">
            <a:solidFill>
              <a:srgbClr val="FFDEA1"/>
            </a:solidFill>
            <a:prstDash val="solid"/>
          </a:ln>
        </p:spPr>
      </p:pic>
      <p:sp>
        <p:nvSpPr>
          <p:cNvPr id="255944321" name="Stage 4 title"/>
          <p:cNvSpPr txBox="1"/>
          <p:nvPr/>
        </p:nvSpPr>
        <p:spPr bwMode="auto">
          <a:xfrm>
            <a:off x="658368" y="4891752"/>
            <a:ext cx="3328416" cy="192024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/>
          <a:lstStyle/>
          <a:p>
            <a:pPr algn="l">
              <a:defRPr/>
            </a:pPr>
            <a:r>
              <a:rPr lang="ru-RU" sz="1100" b="1">
                <a:solidFill>
                  <a:srgbClr val="FFDEA1"/>
                </a:solidFill>
                <a:latin typeface="Bellota"/>
                <a:ea typeface="Bellota"/>
                <a:cs typeface="Bellota"/>
              </a:rPr>
              <a:t>КОНЦЕПТ ИТОГОВОГО ВАРИАНТА</a:t>
            </a:r>
            <a:endParaRPr lang="ru-RU" sz="1100"/>
          </a:p>
        </p:txBody>
      </p:sp>
      <p:sp>
        <p:nvSpPr>
          <p:cNvPr id="1981951562" name="Stage 4 subtitle"/>
          <p:cNvSpPr txBox="1"/>
          <p:nvPr/>
        </p:nvSpPr>
        <p:spPr bwMode="auto">
          <a:xfrm>
            <a:off x="658368" y="5555278"/>
            <a:ext cx="3328416" cy="17373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/>
          <a:lstStyle/>
          <a:p>
            <a:pPr algn="l">
              <a:defRPr/>
            </a:pPr>
            <a:r>
              <a:rPr lang="ru-RU" sz="900" b="0">
                <a:solidFill>
                  <a:srgbClr val="F8E5B8"/>
                </a:solidFill>
                <a:latin typeface="Bellota"/>
                <a:ea typeface="Bellota"/>
                <a:cs typeface="Bellota"/>
              </a:rPr>
              <a:t>Поиск формы комбо и оценок попадания</a:t>
            </a:r>
            <a:endParaRPr lang="ru-RU" sz="900"/>
          </a:p>
        </p:txBody>
      </p:sp>
      <p:sp>
        <p:nvSpPr>
          <p:cNvPr id="1275109910" name="Footer"/>
          <p:cNvSpPr txBox="1"/>
          <p:nvPr/>
        </p:nvSpPr>
        <p:spPr bwMode="auto">
          <a:xfrm>
            <a:off x="429768" y="6473952"/>
            <a:ext cx="8046720" cy="15544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/>
          <a:lstStyle/>
          <a:p>
            <a:pPr algn="l">
              <a:defRPr/>
            </a:pPr>
            <a:r>
              <a:rPr lang="ru-RU" sz="850" b="1">
                <a:solidFill>
                  <a:srgbClr val="D2A45C"/>
                </a:solidFill>
                <a:latin typeface="Bellota"/>
                <a:ea typeface="Bellota"/>
                <a:cs typeface="Bellota"/>
              </a:rPr>
              <a:t>CUPPA • ЭВОЛЮЦИЯ ИНТЕРФЕЙСА И ВИЗУАЛЬНОГО РЕШЕНИЯ</a:t>
            </a:r>
            <a:endParaRPr lang="ru-RU" sz="850"/>
          </a:p>
        </p:txBody>
      </p:sp>
      <p:sp>
        <p:nvSpPr>
          <p:cNvPr id="68095454" name="Eyebrow marker"/>
          <p:cNvSpPr/>
          <p:nvPr/>
        </p:nvSpPr>
        <p:spPr bwMode="auto">
          <a:xfrm>
            <a:off x="647064" y="327441"/>
            <a:ext cx="119997" cy="329996"/>
          </a:xfrm>
          <a:prstGeom prst="rect">
            <a:avLst/>
          </a:prstGeom>
          <a:solidFill>
            <a:srgbClr val="FFDEA1"/>
          </a:solidFill>
          <a:ln>
            <a:noFill/>
          </a:ln>
        </p:spPr>
        <p:txBody>
          <a:bodyPr anchor="ctr"/>
          <a:p>
            <a:pPr algn="ctr">
              <a:defRPr/>
            </a:pPr>
            <a:endParaRPr>
              <a:latin typeface="Bellota"/>
              <a:cs typeface="Bellota"/>
            </a:endParaRPr>
          </a:p>
        </p:txBody>
      </p:sp>
      <p:sp>
        <p:nvSpPr>
          <p:cNvPr id="1903866604" name="Eyebrow"/>
          <p:cNvSpPr txBox="1"/>
          <p:nvPr/>
        </p:nvSpPr>
        <p:spPr bwMode="auto">
          <a:xfrm>
            <a:off x="867061" y="387441"/>
            <a:ext cx="4199996" cy="20999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1600" b="1">
                <a:solidFill>
                  <a:srgbClr val="D2A45C"/>
                </a:solidFill>
                <a:latin typeface="Bellota"/>
                <a:ea typeface="Bellota"/>
                <a:cs typeface="Bellota"/>
              </a:rPr>
              <a:t>ЭВОЛЮЦИЯ ПРОЕКТА</a:t>
            </a:r>
            <a:endParaRPr sz="1600">
              <a:latin typeface="Bellota"/>
              <a:cs typeface="Bellota"/>
            </a:endParaRPr>
          </a:p>
        </p:txBody>
      </p:sp>
      <p:sp>
        <p:nvSpPr>
          <p:cNvPr id="503849778" name=""/>
          <p:cNvSpPr/>
          <p:nvPr/>
        </p:nvSpPr>
        <p:spPr bwMode="auto">
          <a:xfrm rot="0" flipH="0" flipV="0">
            <a:off x="7682823" y="4857750"/>
            <a:ext cx="1387333" cy="263657"/>
          </a:xfrm>
          <a:prstGeom prst="rect">
            <a:avLst/>
          </a:prstGeom>
          <a:solidFill>
            <a:srgbClr val="24131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solidFill>
                <a:schemeClr val="tx1"/>
              </a:solidFill>
              <a:latin typeface="Bellota"/>
              <a:cs typeface="Bellota"/>
            </a:endParaRPr>
          </a:p>
        </p:txBody>
      </p:sp>
      <p:cxnSp>
        <p:nvCxnSpPr>
          <p:cNvPr id="431552781" name=""/>
          <p:cNvCxnSpPr/>
          <p:nvPr/>
        </p:nvCxnSpPr>
        <p:spPr bwMode="auto">
          <a:xfrm flipH="0" flipV="1">
            <a:off x="3852119" y="1691018"/>
            <a:ext cx="1007717" cy="0"/>
          </a:xfrm>
          <a:prstGeom prst="line">
            <a:avLst/>
          </a:prstGeom>
          <a:ln w="57150" cap="flat" cmpd="sng" algn="ctr">
            <a:solidFill>
              <a:srgbClr val="FFDEA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3142653" name=""/>
          <p:cNvCxnSpPr/>
          <p:nvPr/>
        </p:nvCxnSpPr>
        <p:spPr bwMode="auto">
          <a:xfrm rot="10799999" flipH="0" flipV="1">
            <a:off x="3986783" y="3776026"/>
            <a:ext cx="1007716" cy="0"/>
          </a:xfrm>
          <a:prstGeom prst="line">
            <a:avLst/>
          </a:prstGeom>
          <a:ln w="57150" cap="flat" cmpd="sng" algn="ctr">
            <a:solidFill>
              <a:srgbClr val="FFDEA1"/>
            </a:solidFill>
            <a:prstDash val="solid"/>
            <a:miter lim="800000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250" advClick="1">
        <p:fade thruBlk="0"/>
      </p:transition>
    </mc:Choice>
    <mc:Fallback>
      <p:transition spd="fast" advClick="1">
        <p:fade thruBlk="0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56318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60"/>
                                        <p:tgtEl>
                                          <p:spTgt spid="3956318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8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2465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60"/>
                                        <p:tgtEl>
                                          <p:spTgt spid="15524651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16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01614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60"/>
                                        <p:tgtEl>
                                          <p:spTgt spid="10001614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24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64120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60"/>
                                        <p:tgtEl>
                                          <p:spTgt spid="19764120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5631848" grpId="0" animBg="1"/>
      <p:bldP spid="1552465199" grpId="0" animBg="1"/>
      <p:bldP spid="1000161488" grpId="0" animBg="1"/>
      <p:bldP spid="197641206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0966476" name="Title"/>
          <p:cNvSpPr txBox="1"/>
          <p:nvPr/>
        </p:nvSpPr>
        <p:spPr bwMode="auto">
          <a:xfrm>
            <a:off x="420624" y="658368"/>
            <a:ext cx="8138160" cy="3931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/>
          <a:lstStyle/>
          <a:p>
            <a:pPr algn="l">
              <a:defRPr/>
            </a:pPr>
            <a:r>
              <a:rPr lang="ru-RU" sz="2450" b="1">
                <a:solidFill>
                  <a:srgbClr val="FFDEA1"/>
                </a:solidFill>
                <a:latin typeface="Bellota"/>
                <a:ea typeface="Bellota"/>
                <a:cs typeface="Bellota"/>
              </a:rPr>
              <a:t>Результаты, сложности и перспективы</a:t>
            </a:r>
            <a:endParaRPr lang="ru-RU" sz="2450"/>
          </a:p>
        </p:txBody>
      </p:sp>
      <p:sp>
        <p:nvSpPr>
          <p:cNvPr id="1598019512" name="Metric endings bg"/>
          <p:cNvSpPr/>
          <p:nvPr/>
        </p:nvSpPr>
        <p:spPr bwMode="auto">
          <a:xfrm flipH="0" flipV="0">
            <a:off x="448055" y="1152442"/>
            <a:ext cx="1298448" cy="297014"/>
          </a:xfrm>
          <a:prstGeom prst="roundRect">
            <a:avLst>
              <a:gd name="adj" fmla="val 16667"/>
            </a:avLst>
          </a:prstGeom>
          <a:solidFill>
            <a:srgbClr val="351A21"/>
          </a:solidFill>
          <a:ln w="12700">
            <a:solidFill>
              <a:srgbClr val="FFDEA1"/>
            </a:solidFill>
            <a:prstDash val="solid"/>
          </a:ln>
        </p:spPr>
        <p:txBody>
          <a:bodyPr anchor="ctr"/>
          <a:p>
            <a:pPr algn="ctr">
              <a:defRPr/>
            </a:pPr>
            <a:endParaRPr sz="2000"/>
          </a:p>
        </p:txBody>
      </p:sp>
      <p:sp>
        <p:nvSpPr>
          <p:cNvPr id="1624405655" name="Metric endings"/>
          <p:cNvSpPr txBox="1"/>
          <p:nvPr/>
        </p:nvSpPr>
        <p:spPr bwMode="auto">
          <a:xfrm>
            <a:off x="493776" y="1225594"/>
            <a:ext cx="1207008" cy="1645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/>
          <a:lstStyle/>
          <a:p>
            <a:pPr algn="ctr">
              <a:defRPr/>
            </a:pPr>
            <a:r>
              <a:rPr lang="ru-RU" sz="1000" b="1">
                <a:solidFill>
                  <a:srgbClr val="FFDEA1"/>
                </a:solidFill>
                <a:latin typeface="Bellota"/>
                <a:ea typeface="Bellota"/>
                <a:cs typeface="Bellota"/>
              </a:rPr>
              <a:t>2 КОНЦОВКИ</a:t>
            </a:r>
            <a:endParaRPr lang="ru-RU" sz="1000"/>
          </a:p>
        </p:txBody>
      </p:sp>
      <p:sp>
        <p:nvSpPr>
          <p:cNvPr id="1875296662" name="Metric music bg"/>
          <p:cNvSpPr/>
          <p:nvPr/>
        </p:nvSpPr>
        <p:spPr bwMode="auto">
          <a:xfrm flipH="0" flipV="0">
            <a:off x="1847086" y="1152442"/>
            <a:ext cx="1444752" cy="297014"/>
          </a:xfrm>
          <a:prstGeom prst="roundRect">
            <a:avLst>
              <a:gd name="adj" fmla="val 16667"/>
            </a:avLst>
          </a:prstGeom>
          <a:solidFill>
            <a:srgbClr val="351A21"/>
          </a:solidFill>
          <a:ln w="12700">
            <a:solidFill>
              <a:srgbClr val="FFDEA1"/>
            </a:solidFill>
            <a:prstDash val="solid"/>
          </a:ln>
        </p:spPr>
        <p:txBody>
          <a:bodyPr anchor="ctr"/>
          <a:p>
            <a:pPr algn="ctr">
              <a:defRPr/>
            </a:pPr>
            <a:endParaRPr sz="2000"/>
          </a:p>
        </p:txBody>
      </p:sp>
      <p:sp>
        <p:nvSpPr>
          <p:cNvPr id="513985263" name="Metric music"/>
          <p:cNvSpPr txBox="1"/>
          <p:nvPr/>
        </p:nvSpPr>
        <p:spPr bwMode="auto">
          <a:xfrm>
            <a:off x="1892808" y="1225594"/>
            <a:ext cx="1353312" cy="1645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/>
          <a:lstStyle/>
          <a:p>
            <a:pPr algn="ctr">
              <a:defRPr/>
            </a:pPr>
            <a:r>
              <a:rPr lang="ru-RU" sz="1000" b="1">
                <a:solidFill>
                  <a:srgbClr val="FFDEA1"/>
                </a:solidFill>
                <a:latin typeface="Bellota"/>
                <a:ea typeface="Bellota"/>
                <a:cs typeface="Bellota"/>
              </a:rPr>
              <a:t>3 КОМПОЗИЦИИ</a:t>
            </a:r>
            <a:endParaRPr lang="ru-RU" sz="1000"/>
          </a:p>
        </p:txBody>
      </p:sp>
      <p:sp>
        <p:nvSpPr>
          <p:cNvPr id="836499067" name="Metric platforms bg"/>
          <p:cNvSpPr/>
          <p:nvPr/>
        </p:nvSpPr>
        <p:spPr bwMode="auto">
          <a:xfrm flipH="0" flipV="0">
            <a:off x="3392424" y="1152442"/>
            <a:ext cx="1645920" cy="297014"/>
          </a:xfrm>
          <a:prstGeom prst="roundRect">
            <a:avLst>
              <a:gd name="adj" fmla="val 16667"/>
            </a:avLst>
          </a:prstGeom>
          <a:solidFill>
            <a:srgbClr val="351A21"/>
          </a:solidFill>
          <a:ln w="12700">
            <a:solidFill>
              <a:srgbClr val="FFDEA1"/>
            </a:solidFill>
            <a:prstDash val="solid"/>
          </a:ln>
        </p:spPr>
        <p:txBody>
          <a:bodyPr anchor="ctr"/>
          <a:p>
            <a:pPr algn="ctr">
              <a:defRPr/>
            </a:pPr>
            <a:endParaRPr sz="2000"/>
          </a:p>
        </p:txBody>
      </p:sp>
      <p:sp>
        <p:nvSpPr>
          <p:cNvPr id="1044027138" name="Metric platforms"/>
          <p:cNvSpPr txBox="1"/>
          <p:nvPr/>
        </p:nvSpPr>
        <p:spPr bwMode="auto">
          <a:xfrm>
            <a:off x="3438144" y="1225594"/>
            <a:ext cx="1554480" cy="1645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/>
          <a:lstStyle/>
          <a:p>
            <a:pPr algn="ctr">
              <a:defRPr/>
            </a:pPr>
            <a:r>
              <a:rPr lang="ru-RU" sz="1000" b="1">
                <a:solidFill>
                  <a:srgbClr val="FFDEA1"/>
                </a:solidFill>
                <a:latin typeface="Bellota"/>
                <a:ea typeface="Bellota"/>
                <a:cs typeface="Bellota"/>
              </a:rPr>
              <a:t>LINUX + WINDOWS</a:t>
            </a:r>
            <a:endParaRPr lang="ru-RU" sz="1000"/>
          </a:p>
        </p:txBody>
      </p:sp>
      <p:sp>
        <p:nvSpPr>
          <p:cNvPr id="1178773351" name="Results panel"/>
          <p:cNvSpPr/>
          <p:nvPr/>
        </p:nvSpPr>
        <p:spPr bwMode="auto">
          <a:xfrm flipH="0" flipV="0">
            <a:off x="429768" y="1624981"/>
            <a:ext cx="2606040" cy="3088363"/>
          </a:xfrm>
          <a:prstGeom prst="roundRect">
            <a:avLst>
              <a:gd name="adj" fmla="val 16667"/>
            </a:avLst>
          </a:prstGeom>
          <a:solidFill>
            <a:srgbClr val="351A21"/>
          </a:solidFill>
          <a:ln w="12700">
            <a:solidFill>
              <a:srgbClr val="FFDEA1"/>
            </a:solidFill>
            <a:prstDash val="solid"/>
          </a:ln>
        </p:spPr>
        <p:txBody>
          <a:bodyPr anchor="ctr"/>
          <a:p>
            <a:pPr algn="ctr">
              <a:defRPr/>
            </a:pPr>
            <a:endParaRPr sz="2000"/>
          </a:p>
        </p:txBody>
      </p:sp>
      <p:sp>
        <p:nvSpPr>
          <p:cNvPr id="1088911677" name="Results number bg"/>
          <p:cNvSpPr/>
          <p:nvPr/>
        </p:nvSpPr>
        <p:spPr bwMode="auto">
          <a:xfrm flipH="0" flipV="0">
            <a:off x="630935" y="1853581"/>
            <a:ext cx="512064" cy="409491"/>
          </a:xfrm>
          <a:prstGeom prst="roundRect">
            <a:avLst>
              <a:gd name="adj" fmla="val 16667"/>
            </a:avLst>
          </a:prstGeom>
          <a:solidFill>
            <a:srgbClr val="2B161C"/>
          </a:solidFill>
          <a:ln w="12700">
            <a:solidFill>
              <a:srgbClr val="FFDEA1"/>
            </a:solidFill>
            <a:prstDash val="solid"/>
          </a:ln>
        </p:spPr>
        <p:txBody>
          <a:bodyPr anchor="ctr"/>
          <a:p>
            <a:pPr algn="ctr">
              <a:defRPr/>
            </a:pPr>
            <a:endParaRPr sz="2000"/>
          </a:p>
        </p:txBody>
      </p:sp>
      <p:sp>
        <p:nvSpPr>
          <p:cNvPr id="1934986598" name="Results number"/>
          <p:cNvSpPr txBox="1"/>
          <p:nvPr/>
        </p:nvSpPr>
        <p:spPr bwMode="auto">
          <a:xfrm>
            <a:off x="630936" y="1954164"/>
            <a:ext cx="512064" cy="237744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/>
          <a:lstStyle/>
          <a:p>
            <a:pPr algn="ctr">
              <a:defRPr/>
            </a:pPr>
            <a:r>
              <a:rPr lang="ru-RU" sz="1600" b="1">
                <a:solidFill>
                  <a:srgbClr val="FFDEA1"/>
                </a:solidFill>
                <a:latin typeface="Bellota"/>
                <a:ea typeface="Bellota"/>
                <a:cs typeface="Bellota"/>
              </a:rPr>
              <a:t>01</a:t>
            </a:r>
            <a:endParaRPr lang="ru-RU" sz="1600"/>
          </a:p>
        </p:txBody>
      </p:sp>
      <p:sp>
        <p:nvSpPr>
          <p:cNvPr id="1247342229" name="Results title"/>
          <p:cNvSpPr txBox="1"/>
          <p:nvPr/>
        </p:nvSpPr>
        <p:spPr bwMode="auto">
          <a:xfrm>
            <a:off x="1271015" y="1935877"/>
            <a:ext cx="1536192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/>
          <a:lstStyle/>
          <a:p>
            <a:pPr algn="l">
              <a:defRPr/>
            </a:pPr>
            <a:r>
              <a:rPr lang="ru-RU" sz="1400" b="1">
                <a:solidFill>
                  <a:srgbClr val="FFDEA1"/>
                </a:solidFill>
                <a:latin typeface="Bellota"/>
                <a:ea typeface="Bellota"/>
                <a:cs typeface="Bellota"/>
              </a:rPr>
              <a:t>РЕАЛИЗОВАНО</a:t>
            </a:r>
            <a:endParaRPr lang="ru-RU" sz="1400"/>
          </a:p>
        </p:txBody>
      </p:sp>
      <p:sp>
        <p:nvSpPr>
          <p:cNvPr id="1451215560" name="Results lead"/>
          <p:cNvSpPr txBox="1"/>
          <p:nvPr/>
        </p:nvSpPr>
        <p:spPr bwMode="auto">
          <a:xfrm>
            <a:off x="649224" y="2375971"/>
            <a:ext cx="2148840" cy="43891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/>
          <a:lstStyle/>
          <a:p>
            <a:pPr algn="l">
              <a:defRPr/>
            </a:pPr>
            <a:r>
              <a:rPr lang="ru-RU" sz="1100" b="1">
                <a:solidFill>
                  <a:srgbClr val="D2A45C"/>
                </a:solidFill>
                <a:latin typeface="Bellota"/>
                <a:ea typeface="Bellota"/>
                <a:cs typeface="Bellota"/>
              </a:rPr>
              <a:t>Единый игровой цикл</a:t>
            </a:r>
            <a:endParaRPr lang="ru-RU" sz="1100"/>
          </a:p>
        </p:txBody>
      </p:sp>
      <p:sp>
        <p:nvSpPr>
          <p:cNvPr id="566904988" name="Results bullet 0"/>
          <p:cNvSpPr/>
          <p:nvPr/>
        </p:nvSpPr>
        <p:spPr bwMode="auto">
          <a:xfrm>
            <a:off x="685800" y="2766512"/>
            <a:ext cx="91440" cy="91440"/>
          </a:xfrm>
          <a:prstGeom prst="ellipse">
            <a:avLst/>
          </a:prstGeom>
          <a:solidFill>
            <a:srgbClr val="D2A45C"/>
          </a:solidFill>
          <a:ln>
            <a:noFill/>
          </a:ln>
        </p:spPr>
        <p:txBody>
          <a:bodyPr anchor="ctr"/>
          <a:p>
            <a:pPr algn="ctr">
              <a:defRPr/>
            </a:pPr>
            <a:endParaRPr sz="2000"/>
          </a:p>
        </p:txBody>
      </p:sp>
      <p:sp>
        <p:nvSpPr>
          <p:cNvPr id="1540821806" name="Results item 0"/>
          <p:cNvSpPr txBox="1"/>
          <p:nvPr/>
        </p:nvSpPr>
        <p:spPr bwMode="auto">
          <a:xfrm>
            <a:off x="877824" y="2675072"/>
            <a:ext cx="1920240" cy="38404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/>
          <a:lstStyle/>
          <a:p>
            <a:pPr algn="l">
              <a:defRPr/>
            </a:pPr>
            <a:r>
              <a:rPr lang="ru-RU" sz="1100" b="0">
                <a:solidFill>
                  <a:srgbClr val="F8E5B8"/>
                </a:solidFill>
                <a:latin typeface="Bellota"/>
                <a:ea typeface="Bellota"/>
                <a:cs typeface="Bellota"/>
              </a:rPr>
              <a:t>Новелла и ритм-сцена</a:t>
            </a:r>
            <a:endParaRPr lang="ru-RU" sz="1100"/>
          </a:p>
        </p:txBody>
      </p:sp>
      <p:sp>
        <p:nvSpPr>
          <p:cNvPr id="1947032958" name="Results bullet 1"/>
          <p:cNvSpPr/>
          <p:nvPr/>
        </p:nvSpPr>
        <p:spPr bwMode="auto">
          <a:xfrm>
            <a:off x="685800" y="3260288"/>
            <a:ext cx="91440" cy="91440"/>
          </a:xfrm>
          <a:prstGeom prst="ellipse">
            <a:avLst/>
          </a:prstGeom>
          <a:solidFill>
            <a:srgbClr val="D2A45C"/>
          </a:solidFill>
          <a:ln>
            <a:noFill/>
          </a:ln>
        </p:spPr>
        <p:txBody>
          <a:bodyPr anchor="ctr"/>
          <a:p>
            <a:pPr algn="ctr">
              <a:defRPr/>
            </a:pPr>
            <a:endParaRPr sz="2000"/>
          </a:p>
        </p:txBody>
      </p:sp>
      <p:sp>
        <p:nvSpPr>
          <p:cNvPr id="101596537" name="Results item 1"/>
          <p:cNvSpPr txBox="1"/>
          <p:nvPr/>
        </p:nvSpPr>
        <p:spPr bwMode="auto">
          <a:xfrm>
            <a:off x="877824" y="3168848"/>
            <a:ext cx="1920240" cy="38404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/>
          <a:lstStyle/>
          <a:p>
            <a:pPr algn="l">
              <a:defRPr/>
            </a:pPr>
            <a:r>
              <a:rPr lang="ru-RU" sz="1100" b="0">
                <a:solidFill>
                  <a:srgbClr val="F8E5B8"/>
                </a:solidFill>
                <a:latin typeface="Bellota"/>
                <a:ea typeface="Bellota"/>
                <a:cs typeface="Bellota"/>
              </a:rPr>
              <a:t>Обычные и длинные ноты</a:t>
            </a:r>
            <a:endParaRPr lang="ru-RU" sz="1100"/>
          </a:p>
        </p:txBody>
      </p:sp>
      <p:sp>
        <p:nvSpPr>
          <p:cNvPr id="1083799620" name="Results bullet 2"/>
          <p:cNvSpPr/>
          <p:nvPr/>
        </p:nvSpPr>
        <p:spPr bwMode="auto">
          <a:xfrm>
            <a:off x="685800" y="3754064"/>
            <a:ext cx="91440" cy="91440"/>
          </a:xfrm>
          <a:prstGeom prst="ellipse">
            <a:avLst/>
          </a:prstGeom>
          <a:solidFill>
            <a:srgbClr val="D2A45C"/>
          </a:solidFill>
          <a:ln>
            <a:noFill/>
          </a:ln>
        </p:spPr>
        <p:txBody>
          <a:bodyPr anchor="ctr"/>
          <a:p>
            <a:pPr algn="ctr">
              <a:defRPr/>
            </a:pPr>
            <a:endParaRPr sz="2000"/>
          </a:p>
        </p:txBody>
      </p:sp>
      <p:sp>
        <p:nvSpPr>
          <p:cNvPr id="550190177" name="Results item 2"/>
          <p:cNvSpPr txBox="1"/>
          <p:nvPr/>
        </p:nvSpPr>
        <p:spPr bwMode="auto">
          <a:xfrm>
            <a:off x="877824" y="3662624"/>
            <a:ext cx="1920240" cy="38404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/>
          <a:lstStyle/>
          <a:p>
            <a:pPr algn="l">
              <a:defRPr/>
            </a:pPr>
            <a:r>
              <a:rPr lang="ru-RU" sz="1100" b="0">
                <a:solidFill>
                  <a:srgbClr val="F8E5B8"/>
                </a:solidFill>
                <a:latin typeface="Bellota"/>
                <a:ea typeface="Bellota"/>
                <a:cs typeface="Bellota"/>
              </a:rPr>
              <a:t>Оценка точности и финалы</a:t>
            </a:r>
            <a:endParaRPr lang="ru-RU" sz="1100"/>
          </a:p>
        </p:txBody>
      </p:sp>
      <p:sp>
        <p:nvSpPr>
          <p:cNvPr id="82687811" name="Results bullet 3"/>
          <p:cNvSpPr/>
          <p:nvPr/>
        </p:nvSpPr>
        <p:spPr bwMode="auto">
          <a:xfrm>
            <a:off x="685800" y="4247840"/>
            <a:ext cx="91440" cy="91440"/>
          </a:xfrm>
          <a:prstGeom prst="ellipse">
            <a:avLst/>
          </a:prstGeom>
          <a:solidFill>
            <a:srgbClr val="D2A45C"/>
          </a:solidFill>
          <a:ln>
            <a:noFill/>
          </a:ln>
        </p:spPr>
        <p:txBody>
          <a:bodyPr anchor="ctr"/>
          <a:p>
            <a:pPr algn="ctr">
              <a:defRPr/>
            </a:pPr>
            <a:endParaRPr sz="2000"/>
          </a:p>
        </p:txBody>
      </p:sp>
      <p:sp>
        <p:nvSpPr>
          <p:cNvPr id="1774737137" name="Results item 3"/>
          <p:cNvSpPr txBox="1"/>
          <p:nvPr/>
        </p:nvSpPr>
        <p:spPr bwMode="auto">
          <a:xfrm>
            <a:off x="877824" y="4156399"/>
            <a:ext cx="1920240" cy="38404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/>
          <a:lstStyle/>
          <a:p>
            <a:pPr algn="l">
              <a:defRPr/>
            </a:pPr>
            <a:r>
              <a:rPr lang="ru-RU" sz="1100" b="0">
                <a:solidFill>
                  <a:srgbClr val="F8E5B8"/>
                </a:solidFill>
                <a:latin typeface="Bellota"/>
                <a:ea typeface="Bellota"/>
                <a:cs typeface="Bellota"/>
              </a:rPr>
              <a:t>Меню, пауза, настройки</a:t>
            </a:r>
            <a:endParaRPr lang="ru-RU" sz="1100"/>
          </a:p>
        </p:txBody>
      </p:sp>
      <p:sp>
        <p:nvSpPr>
          <p:cNvPr id="1950917287" name="Challenges panel"/>
          <p:cNvSpPr/>
          <p:nvPr/>
        </p:nvSpPr>
        <p:spPr bwMode="auto">
          <a:xfrm flipH="0" flipV="0">
            <a:off x="3273552" y="1624981"/>
            <a:ext cx="2606040" cy="3088363"/>
          </a:xfrm>
          <a:prstGeom prst="roundRect">
            <a:avLst>
              <a:gd name="adj" fmla="val 16667"/>
            </a:avLst>
          </a:prstGeom>
          <a:solidFill>
            <a:srgbClr val="351A21"/>
          </a:solidFill>
          <a:ln w="12700">
            <a:solidFill>
              <a:srgbClr val="FFDEA1"/>
            </a:solidFill>
            <a:prstDash val="solid"/>
          </a:ln>
        </p:spPr>
        <p:txBody>
          <a:bodyPr anchor="ctr"/>
          <a:p>
            <a:pPr algn="ctr">
              <a:defRPr/>
            </a:pPr>
            <a:endParaRPr sz="2000"/>
          </a:p>
        </p:txBody>
      </p:sp>
      <p:sp>
        <p:nvSpPr>
          <p:cNvPr id="147801063" name="Challenges number bg"/>
          <p:cNvSpPr/>
          <p:nvPr/>
        </p:nvSpPr>
        <p:spPr bwMode="auto">
          <a:xfrm flipH="0" flipV="0">
            <a:off x="3474720" y="1853581"/>
            <a:ext cx="512064" cy="409491"/>
          </a:xfrm>
          <a:prstGeom prst="roundRect">
            <a:avLst>
              <a:gd name="adj" fmla="val 16667"/>
            </a:avLst>
          </a:prstGeom>
          <a:solidFill>
            <a:srgbClr val="2B161C"/>
          </a:solidFill>
          <a:ln w="12700">
            <a:solidFill>
              <a:srgbClr val="FFDEA1"/>
            </a:solidFill>
            <a:prstDash val="solid"/>
          </a:ln>
        </p:spPr>
        <p:txBody>
          <a:bodyPr anchor="ctr"/>
          <a:p>
            <a:pPr algn="ctr">
              <a:defRPr/>
            </a:pPr>
            <a:endParaRPr sz="2000"/>
          </a:p>
        </p:txBody>
      </p:sp>
      <p:sp>
        <p:nvSpPr>
          <p:cNvPr id="1220693244" name="Challenges number"/>
          <p:cNvSpPr txBox="1"/>
          <p:nvPr/>
        </p:nvSpPr>
        <p:spPr bwMode="auto">
          <a:xfrm>
            <a:off x="3474720" y="1954164"/>
            <a:ext cx="512064" cy="237744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/>
          <a:lstStyle/>
          <a:p>
            <a:pPr algn="ctr">
              <a:defRPr/>
            </a:pPr>
            <a:r>
              <a:rPr lang="ru-RU" sz="1600" b="1">
                <a:solidFill>
                  <a:srgbClr val="FFDEA1"/>
                </a:solidFill>
                <a:latin typeface="Bellota"/>
                <a:ea typeface="Bellota"/>
                <a:cs typeface="Bellota"/>
              </a:rPr>
              <a:t>02</a:t>
            </a:r>
            <a:endParaRPr lang="ru-RU" sz="1600"/>
          </a:p>
        </p:txBody>
      </p:sp>
      <p:sp>
        <p:nvSpPr>
          <p:cNvPr id="1420961081" name="Challenges title"/>
          <p:cNvSpPr txBox="1"/>
          <p:nvPr/>
        </p:nvSpPr>
        <p:spPr bwMode="auto">
          <a:xfrm>
            <a:off x="4114800" y="1935877"/>
            <a:ext cx="1536192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/>
          <a:lstStyle/>
          <a:p>
            <a:pPr algn="l">
              <a:defRPr/>
            </a:pPr>
            <a:r>
              <a:rPr lang="ru-RU" sz="1400" b="1">
                <a:solidFill>
                  <a:srgbClr val="FFDEA1"/>
                </a:solidFill>
                <a:latin typeface="Bellota"/>
                <a:ea typeface="Bellota"/>
                <a:cs typeface="Bellota"/>
              </a:rPr>
              <a:t>СЛОЖНОСТИ</a:t>
            </a:r>
            <a:endParaRPr lang="ru-RU" sz="1400"/>
          </a:p>
        </p:txBody>
      </p:sp>
      <p:sp>
        <p:nvSpPr>
          <p:cNvPr id="999219847" name="Challenges lead"/>
          <p:cNvSpPr txBox="1"/>
          <p:nvPr/>
        </p:nvSpPr>
        <p:spPr bwMode="auto">
          <a:xfrm>
            <a:off x="3493008" y="2375971"/>
            <a:ext cx="2148840" cy="43891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/>
          <a:lstStyle/>
          <a:p>
            <a:pPr algn="l">
              <a:defRPr/>
            </a:pPr>
            <a:r>
              <a:rPr lang="ru-RU" sz="1100" b="1">
                <a:solidFill>
                  <a:srgbClr val="D2A45C"/>
                </a:solidFill>
                <a:latin typeface="Bellota"/>
                <a:ea typeface="Bellota"/>
                <a:cs typeface="Bellota"/>
              </a:rPr>
              <a:t>Ключевые задачи</a:t>
            </a:r>
            <a:endParaRPr lang="ru-RU" sz="1100"/>
          </a:p>
        </p:txBody>
      </p:sp>
      <p:sp>
        <p:nvSpPr>
          <p:cNvPr id="1921167303" name="Challenges bullet 0"/>
          <p:cNvSpPr/>
          <p:nvPr/>
        </p:nvSpPr>
        <p:spPr bwMode="auto">
          <a:xfrm>
            <a:off x="3529584" y="2766512"/>
            <a:ext cx="91440" cy="91440"/>
          </a:xfrm>
          <a:prstGeom prst="ellipse">
            <a:avLst/>
          </a:prstGeom>
          <a:solidFill>
            <a:srgbClr val="D2A45C"/>
          </a:solidFill>
          <a:ln>
            <a:noFill/>
          </a:ln>
        </p:spPr>
        <p:txBody>
          <a:bodyPr anchor="ctr"/>
          <a:p>
            <a:pPr algn="ctr">
              <a:defRPr/>
            </a:pPr>
            <a:endParaRPr sz="2000"/>
          </a:p>
        </p:txBody>
      </p:sp>
      <p:sp>
        <p:nvSpPr>
          <p:cNvPr id="159502397" name="Challenges item 0"/>
          <p:cNvSpPr txBox="1"/>
          <p:nvPr/>
        </p:nvSpPr>
        <p:spPr bwMode="auto">
          <a:xfrm flipH="0" flipV="0">
            <a:off x="3721608" y="2675072"/>
            <a:ext cx="2083826" cy="38404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/>
          <a:lstStyle/>
          <a:p>
            <a:pPr algn="l">
              <a:defRPr/>
            </a:pPr>
            <a:r>
              <a:rPr lang="ru-RU" sz="1100" b="0">
                <a:solidFill>
                  <a:srgbClr val="F8E5B8"/>
                </a:solidFill>
                <a:latin typeface="Bellota"/>
                <a:ea typeface="Bellota"/>
                <a:cs typeface="Bellota"/>
              </a:rPr>
              <a:t>Формулы, синхронизирующие с музыкой</a:t>
            </a:r>
            <a:endParaRPr lang="ru-RU" sz="1100"/>
          </a:p>
        </p:txBody>
      </p:sp>
      <p:sp>
        <p:nvSpPr>
          <p:cNvPr id="1588150890" name="Challenges bullet 1"/>
          <p:cNvSpPr/>
          <p:nvPr/>
        </p:nvSpPr>
        <p:spPr bwMode="auto">
          <a:xfrm>
            <a:off x="3529584" y="3260288"/>
            <a:ext cx="91440" cy="91440"/>
          </a:xfrm>
          <a:prstGeom prst="ellipse">
            <a:avLst/>
          </a:prstGeom>
          <a:solidFill>
            <a:srgbClr val="D2A45C"/>
          </a:solidFill>
          <a:ln>
            <a:noFill/>
          </a:ln>
        </p:spPr>
        <p:txBody>
          <a:bodyPr anchor="ctr"/>
          <a:p>
            <a:pPr algn="ctr">
              <a:defRPr/>
            </a:pPr>
            <a:endParaRPr sz="2000"/>
          </a:p>
        </p:txBody>
      </p:sp>
      <p:sp>
        <p:nvSpPr>
          <p:cNvPr id="1893035725" name="Challenges item 1"/>
          <p:cNvSpPr txBox="1"/>
          <p:nvPr/>
        </p:nvSpPr>
        <p:spPr bwMode="auto">
          <a:xfrm>
            <a:off x="3721608" y="3168848"/>
            <a:ext cx="1920240" cy="38404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/>
          <a:lstStyle/>
          <a:p>
            <a:pPr algn="l">
              <a:defRPr/>
            </a:pPr>
            <a:r>
              <a:rPr lang="ru-RU" sz="1100" b="0" i="0" u="none" strike="noStrike" cap="none" spc="0">
                <a:solidFill>
                  <a:srgbClr val="F8E5B8"/>
                </a:solidFill>
                <a:latin typeface="Bellota"/>
                <a:ea typeface="Bellota"/>
                <a:cs typeface="Bellota"/>
              </a:rPr>
              <a:t>Парсинг .sm-карт</a:t>
            </a:r>
            <a:endParaRPr sz="1100"/>
          </a:p>
          <a:p>
            <a:pPr>
              <a:defRPr/>
            </a:pPr>
            <a:endParaRPr/>
          </a:p>
        </p:txBody>
      </p:sp>
      <p:sp>
        <p:nvSpPr>
          <p:cNvPr id="615079870" name="Challenges bullet 2"/>
          <p:cNvSpPr/>
          <p:nvPr/>
        </p:nvSpPr>
        <p:spPr bwMode="auto">
          <a:xfrm>
            <a:off x="3529584" y="3754064"/>
            <a:ext cx="91440" cy="91440"/>
          </a:xfrm>
          <a:prstGeom prst="ellipse">
            <a:avLst/>
          </a:prstGeom>
          <a:solidFill>
            <a:srgbClr val="D2A45C"/>
          </a:solidFill>
          <a:ln>
            <a:noFill/>
          </a:ln>
        </p:spPr>
        <p:txBody>
          <a:bodyPr anchor="ctr"/>
          <a:p>
            <a:pPr algn="ctr">
              <a:defRPr/>
            </a:pPr>
            <a:endParaRPr sz="2000"/>
          </a:p>
        </p:txBody>
      </p:sp>
      <p:sp>
        <p:nvSpPr>
          <p:cNvPr id="2106211082" name="Challenges item 2"/>
          <p:cNvSpPr txBox="1"/>
          <p:nvPr/>
        </p:nvSpPr>
        <p:spPr bwMode="auto">
          <a:xfrm>
            <a:off x="3721608" y="3662624"/>
            <a:ext cx="1920240" cy="38404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/>
          <a:lstStyle/>
          <a:p>
            <a:pPr algn="l">
              <a:defRPr/>
            </a:pPr>
            <a:r>
              <a:rPr lang="ru-RU" sz="1100" b="0" i="0" u="none" strike="noStrike" cap="none" spc="0">
                <a:solidFill>
                  <a:srgbClr val="F8E5B8"/>
                </a:solidFill>
                <a:latin typeface="Bellota"/>
                <a:ea typeface="Bellota"/>
                <a:cs typeface="Bellota"/>
              </a:rPr>
              <a:t>Обработка удержания длинных нот</a:t>
            </a:r>
            <a:endParaRPr sz="1100"/>
          </a:p>
        </p:txBody>
      </p:sp>
      <p:sp>
        <p:nvSpPr>
          <p:cNvPr id="1627951998" name="Prospects panel"/>
          <p:cNvSpPr/>
          <p:nvPr/>
        </p:nvSpPr>
        <p:spPr bwMode="auto">
          <a:xfrm flipH="0" flipV="0">
            <a:off x="6117336" y="1624981"/>
            <a:ext cx="2606040" cy="3088363"/>
          </a:xfrm>
          <a:prstGeom prst="roundRect">
            <a:avLst>
              <a:gd name="adj" fmla="val 16667"/>
            </a:avLst>
          </a:prstGeom>
          <a:solidFill>
            <a:srgbClr val="351A21"/>
          </a:solidFill>
          <a:ln w="12700">
            <a:solidFill>
              <a:srgbClr val="FFDEA1"/>
            </a:solidFill>
            <a:prstDash val="solid"/>
          </a:ln>
        </p:spPr>
        <p:txBody>
          <a:bodyPr anchor="ctr"/>
          <a:p>
            <a:pPr algn="ctr">
              <a:defRPr/>
            </a:pPr>
            <a:endParaRPr sz="2000"/>
          </a:p>
        </p:txBody>
      </p:sp>
      <p:sp>
        <p:nvSpPr>
          <p:cNvPr id="1507291053" name="Prospects number bg"/>
          <p:cNvSpPr/>
          <p:nvPr/>
        </p:nvSpPr>
        <p:spPr bwMode="auto">
          <a:xfrm flipH="0" flipV="0">
            <a:off x="6318504" y="1853581"/>
            <a:ext cx="512064" cy="409491"/>
          </a:xfrm>
          <a:prstGeom prst="roundRect">
            <a:avLst>
              <a:gd name="adj" fmla="val 16667"/>
            </a:avLst>
          </a:prstGeom>
          <a:solidFill>
            <a:srgbClr val="2B161C"/>
          </a:solidFill>
          <a:ln w="12700">
            <a:solidFill>
              <a:srgbClr val="FFDEA1"/>
            </a:solidFill>
            <a:prstDash val="solid"/>
          </a:ln>
        </p:spPr>
        <p:txBody>
          <a:bodyPr anchor="ctr"/>
          <a:p>
            <a:pPr algn="ctr">
              <a:defRPr/>
            </a:pPr>
            <a:endParaRPr sz="2000"/>
          </a:p>
        </p:txBody>
      </p:sp>
      <p:sp>
        <p:nvSpPr>
          <p:cNvPr id="1988011515" name="Prospects number"/>
          <p:cNvSpPr txBox="1"/>
          <p:nvPr/>
        </p:nvSpPr>
        <p:spPr bwMode="auto">
          <a:xfrm>
            <a:off x="6318504" y="1954164"/>
            <a:ext cx="512064" cy="237744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/>
          <a:lstStyle/>
          <a:p>
            <a:pPr algn="ctr">
              <a:defRPr/>
            </a:pPr>
            <a:r>
              <a:rPr lang="ru-RU" sz="1600" b="1">
                <a:solidFill>
                  <a:srgbClr val="FFDEA1"/>
                </a:solidFill>
                <a:latin typeface="Bellota"/>
                <a:ea typeface="Bellota"/>
                <a:cs typeface="Bellota"/>
              </a:rPr>
              <a:t>03</a:t>
            </a:r>
            <a:endParaRPr lang="ru-RU" sz="1600"/>
          </a:p>
        </p:txBody>
      </p:sp>
      <p:sp>
        <p:nvSpPr>
          <p:cNvPr id="1627433126" name="Prospects title"/>
          <p:cNvSpPr txBox="1"/>
          <p:nvPr/>
        </p:nvSpPr>
        <p:spPr bwMode="auto">
          <a:xfrm>
            <a:off x="6958584" y="1935877"/>
            <a:ext cx="1536192" cy="219456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/>
          <a:lstStyle/>
          <a:p>
            <a:pPr algn="l">
              <a:defRPr/>
            </a:pPr>
            <a:r>
              <a:rPr lang="ru-RU" sz="1400" b="1">
                <a:solidFill>
                  <a:srgbClr val="FFDEA1"/>
                </a:solidFill>
                <a:latin typeface="Bellota"/>
                <a:ea typeface="Bellota"/>
                <a:cs typeface="Bellota"/>
              </a:rPr>
              <a:t>ПЕРСПЕКТИВЫ</a:t>
            </a:r>
            <a:endParaRPr lang="ru-RU" sz="1400"/>
          </a:p>
        </p:txBody>
      </p:sp>
      <p:sp>
        <p:nvSpPr>
          <p:cNvPr id="672724281" name="Prospects lead"/>
          <p:cNvSpPr txBox="1"/>
          <p:nvPr/>
        </p:nvSpPr>
        <p:spPr bwMode="auto">
          <a:xfrm>
            <a:off x="6336792" y="2375971"/>
            <a:ext cx="2148840" cy="43891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/>
          <a:lstStyle/>
          <a:p>
            <a:pPr algn="l">
              <a:defRPr/>
            </a:pPr>
            <a:r>
              <a:rPr lang="ru-RU" sz="1100" b="1">
                <a:solidFill>
                  <a:srgbClr val="D2A45C"/>
                </a:solidFill>
                <a:latin typeface="Bellota"/>
                <a:ea typeface="Bellota"/>
                <a:cs typeface="Bellota"/>
              </a:rPr>
              <a:t>Развитие без смены основы</a:t>
            </a:r>
            <a:endParaRPr lang="ru-RU" sz="1100"/>
          </a:p>
        </p:txBody>
      </p:sp>
      <p:sp>
        <p:nvSpPr>
          <p:cNvPr id="7870330" name="Prospects bullet 0"/>
          <p:cNvSpPr/>
          <p:nvPr/>
        </p:nvSpPr>
        <p:spPr bwMode="auto">
          <a:xfrm>
            <a:off x="6373368" y="2766512"/>
            <a:ext cx="91440" cy="91440"/>
          </a:xfrm>
          <a:prstGeom prst="ellipse">
            <a:avLst/>
          </a:prstGeom>
          <a:solidFill>
            <a:srgbClr val="D2A45C"/>
          </a:solidFill>
          <a:ln>
            <a:noFill/>
          </a:ln>
        </p:spPr>
        <p:txBody>
          <a:bodyPr anchor="ctr"/>
          <a:p>
            <a:pPr algn="ctr">
              <a:defRPr/>
            </a:pPr>
            <a:endParaRPr sz="2000"/>
          </a:p>
        </p:txBody>
      </p:sp>
      <p:sp>
        <p:nvSpPr>
          <p:cNvPr id="585187387" name="Prospects item 0"/>
          <p:cNvSpPr txBox="1"/>
          <p:nvPr/>
        </p:nvSpPr>
        <p:spPr bwMode="auto">
          <a:xfrm>
            <a:off x="6565392" y="2675072"/>
            <a:ext cx="1920240" cy="38404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/>
          <a:lstStyle/>
          <a:p>
            <a:pPr algn="l">
              <a:defRPr/>
            </a:pPr>
            <a:r>
              <a:rPr lang="ru-RU" sz="1100" b="0">
                <a:solidFill>
                  <a:srgbClr val="F8E5B8"/>
                </a:solidFill>
                <a:latin typeface="Bellota"/>
                <a:ea typeface="Bellota"/>
                <a:cs typeface="Bellota"/>
              </a:rPr>
              <a:t>Новые сюжетные ветки</a:t>
            </a:r>
            <a:endParaRPr lang="ru-RU" sz="1100"/>
          </a:p>
        </p:txBody>
      </p:sp>
      <p:sp>
        <p:nvSpPr>
          <p:cNvPr id="1950793936" name="Prospects bullet 1"/>
          <p:cNvSpPr/>
          <p:nvPr/>
        </p:nvSpPr>
        <p:spPr bwMode="auto">
          <a:xfrm>
            <a:off x="6373368" y="3260288"/>
            <a:ext cx="91440" cy="91440"/>
          </a:xfrm>
          <a:prstGeom prst="ellipse">
            <a:avLst/>
          </a:prstGeom>
          <a:solidFill>
            <a:srgbClr val="D2A45C"/>
          </a:solidFill>
          <a:ln>
            <a:noFill/>
          </a:ln>
        </p:spPr>
        <p:txBody>
          <a:bodyPr anchor="ctr"/>
          <a:p>
            <a:pPr algn="ctr">
              <a:defRPr/>
            </a:pPr>
            <a:endParaRPr sz="2000"/>
          </a:p>
        </p:txBody>
      </p:sp>
      <p:sp>
        <p:nvSpPr>
          <p:cNvPr id="1125472230" name="Prospects item 1"/>
          <p:cNvSpPr txBox="1"/>
          <p:nvPr/>
        </p:nvSpPr>
        <p:spPr bwMode="auto">
          <a:xfrm>
            <a:off x="6565392" y="3168848"/>
            <a:ext cx="1920240" cy="38404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/>
          <a:lstStyle/>
          <a:p>
            <a:pPr algn="l">
              <a:defRPr/>
            </a:pPr>
            <a:r>
              <a:rPr lang="ru-RU" sz="1100" b="0">
                <a:solidFill>
                  <a:srgbClr val="F8E5B8"/>
                </a:solidFill>
                <a:latin typeface="Bellota"/>
                <a:ea typeface="Bellota"/>
                <a:cs typeface="Bellota"/>
              </a:rPr>
              <a:t>Развитие ритм-механики</a:t>
            </a:r>
            <a:endParaRPr lang="ru-RU" sz="1100"/>
          </a:p>
        </p:txBody>
      </p:sp>
      <p:sp>
        <p:nvSpPr>
          <p:cNvPr id="967223785" name="Prospects bullet 2"/>
          <p:cNvSpPr/>
          <p:nvPr/>
        </p:nvSpPr>
        <p:spPr bwMode="auto">
          <a:xfrm>
            <a:off x="6373368" y="3754064"/>
            <a:ext cx="91440" cy="91440"/>
          </a:xfrm>
          <a:prstGeom prst="ellipse">
            <a:avLst/>
          </a:prstGeom>
          <a:solidFill>
            <a:srgbClr val="D2A45C"/>
          </a:solidFill>
          <a:ln>
            <a:noFill/>
          </a:ln>
        </p:spPr>
        <p:txBody>
          <a:bodyPr anchor="ctr"/>
          <a:p>
            <a:pPr algn="ctr">
              <a:defRPr/>
            </a:pPr>
            <a:endParaRPr sz="2000"/>
          </a:p>
        </p:txBody>
      </p:sp>
      <p:sp>
        <p:nvSpPr>
          <p:cNvPr id="778638686" name="Prospects item 2"/>
          <p:cNvSpPr txBox="1"/>
          <p:nvPr/>
        </p:nvSpPr>
        <p:spPr bwMode="auto">
          <a:xfrm>
            <a:off x="6565392" y="3662624"/>
            <a:ext cx="1920240" cy="38404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/>
          <a:lstStyle/>
          <a:p>
            <a:pPr algn="l">
              <a:defRPr/>
            </a:pPr>
            <a:r>
              <a:rPr lang="ru-RU" sz="1100" b="0">
                <a:solidFill>
                  <a:srgbClr val="F8E5B8"/>
                </a:solidFill>
                <a:latin typeface="Bellota"/>
                <a:ea typeface="Bellota"/>
                <a:cs typeface="Bellota"/>
              </a:rPr>
              <a:t>Улучшение визуальных эффектов</a:t>
            </a:r>
            <a:endParaRPr lang="ru-RU" sz="1100"/>
          </a:p>
        </p:txBody>
      </p:sp>
      <p:sp>
        <p:nvSpPr>
          <p:cNvPr id="246533926" name="Prospects bullet 3"/>
          <p:cNvSpPr/>
          <p:nvPr/>
        </p:nvSpPr>
        <p:spPr bwMode="auto">
          <a:xfrm>
            <a:off x="6373368" y="4247840"/>
            <a:ext cx="91440" cy="91440"/>
          </a:xfrm>
          <a:prstGeom prst="ellipse">
            <a:avLst/>
          </a:prstGeom>
          <a:solidFill>
            <a:srgbClr val="D2A45C"/>
          </a:solidFill>
          <a:ln>
            <a:noFill/>
          </a:ln>
        </p:spPr>
        <p:txBody>
          <a:bodyPr anchor="ctr"/>
          <a:p>
            <a:pPr algn="ctr">
              <a:defRPr/>
            </a:pPr>
            <a:endParaRPr sz="2000"/>
          </a:p>
        </p:txBody>
      </p:sp>
      <p:sp>
        <p:nvSpPr>
          <p:cNvPr id="974246486" name="Prospects item 3"/>
          <p:cNvSpPr txBox="1"/>
          <p:nvPr/>
        </p:nvSpPr>
        <p:spPr bwMode="auto">
          <a:xfrm>
            <a:off x="6565392" y="4156399"/>
            <a:ext cx="1920240" cy="38404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/>
          <a:lstStyle/>
          <a:p>
            <a:pPr algn="l">
              <a:defRPr/>
            </a:pPr>
            <a:r>
              <a:rPr lang="ru-RU" sz="1100" b="0">
                <a:solidFill>
                  <a:srgbClr val="F8E5B8"/>
                </a:solidFill>
                <a:latin typeface="Bellota"/>
                <a:ea typeface="Bellota"/>
                <a:cs typeface="Bellota"/>
              </a:rPr>
              <a:t>Возможность загружать свои карты и сюжетные ветки</a:t>
            </a:r>
            <a:endParaRPr lang="ru-RU" sz="1100"/>
          </a:p>
        </p:txBody>
      </p:sp>
      <p:sp>
        <p:nvSpPr>
          <p:cNvPr id="838858023" name="Eyebrow marker"/>
          <p:cNvSpPr/>
          <p:nvPr/>
        </p:nvSpPr>
        <p:spPr bwMode="auto">
          <a:xfrm>
            <a:off x="647064" y="327440"/>
            <a:ext cx="119997" cy="329995"/>
          </a:xfrm>
          <a:prstGeom prst="rect">
            <a:avLst/>
          </a:prstGeom>
          <a:solidFill>
            <a:srgbClr val="FFDEA1"/>
          </a:solidFill>
          <a:ln>
            <a:noFill/>
          </a:ln>
        </p:spPr>
        <p:txBody>
          <a:bodyPr anchor="ctr"/>
          <a:p>
            <a:pPr algn="ctr">
              <a:defRPr/>
            </a:pPr>
            <a:endParaRPr>
              <a:latin typeface="Bellota"/>
              <a:cs typeface="Bellota"/>
            </a:endParaRPr>
          </a:p>
        </p:txBody>
      </p:sp>
      <p:sp>
        <p:nvSpPr>
          <p:cNvPr id="1879087606" name="Eyebrow"/>
          <p:cNvSpPr txBox="1"/>
          <p:nvPr/>
        </p:nvSpPr>
        <p:spPr bwMode="auto">
          <a:xfrm>
            <a:off x="867060" y="387441"/>
            <a:ext cx="4199995" cy="20999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1600" b="1">
                <a:solidFill>
                  <a:srgbClr val="D2A45C"/>
                </a:solidFill>
                <a:latin typeface="Bellota"/>
                <a:ea typeface="Bellota"/>
                <a:cs typeface="Bellota"/>
              </a:rPr>
              <a:t>ИТОГИ РАЗРАБОТКИ</a:t>
            </a:r>
            <a:endParaRPr sz="1600">
              <a:latin typeface="Bellota"/>
              <a:cs typeface="Bellota"/>
            </a:endParaRPr>
          </a:p>
        </p:txBody>
      </p:sp>
      <p:sp>
        <p:nvSpPr>
          <p:cNvPr id="6455965" name=""/>
          <p:cNvSpPr/>
          <p:nvPr/>
        </p:nvSpPr>
        <p:spPr bwMode="auto">
          <a:xfrm rot="0" flipH="0" flipV="0">
            <a:off x="7972715" y="4829996"/>
            <a:ext cx="1111248" cy="291406"/>
          </a:xfrm>
          <a:prstGeom prst="rect">
            <a:avLst/>
          </a:prstGeom>
          <a:solidFill>
            <a:srgbClr val="241318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sz="2000">
              <a:solidFill>
                <a:schemeClr val="tx1"/>
              </a:solidFill>
              <a:latin typeface="Bellota"/>
              <a:cs typeface="Bellot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fast" p14:dur="250" advClick="1">
        <p:fade thruBlk="0"/>
      </p:transition>
    </mc:Choice>
    <mc:Fallback>
      <p:transition spd="fast" advClick="1">
        <p:fade thruBlk="0"/>
      </p:transition>
    </mc:Fallback>
  </mc:AlternateContent>
  <p:timing>
    <p:bldLst>
      <p:bldP spid="520966476" grpId="0" animBg="1"/>
    </p:bldLst>
  </p:timing>
</p:sld>
</file>

<file path=ppt/theme/_rels/theme1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351A21"/>
      </a:dk2>
      <a:lt2>
        <a:srgbClr val="F8E5B8"/>
      </a:lt2>
      <a:accent1>
        <a:srgbClr val="FFDEA1"/>
      </a:accent1>
      <a:accent2>
        <a:srgbClr val="C9954B"/>
      </a:accent2>
      <a:accent3>
        <a:srgbClr val="8B5B52"/>
      </a:accent3>
      <a:accent4>
        <a:srgbClr val="FFDEA1"/>
      </a:accent4>
      <a:accent5>
        <a:srgbClr val="D2A45C"/>
      </a:accent5>
      <a:accent6>
        <a:srgbClr val="F8E5B8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ONLYOFFICE/9.4.0.129</Application>
  <PresentationFormat>On-screen Show (4:3)</PresentationFormat>
  <Paragraphs>0</Paragraphs>
  <Slides>8</Slides>
  <Notes>8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9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/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11</cp:revision>
  <dcterms:created xsi:type="dcterms:W3CDTF">2026-06-02T01:06:07Z</dcterms:created>
  <dcterms:modified xsi:type="dcterms:W3CDTF">2026-06-02T03:56:03Z</dcterms:modified>
</cp:coreProperties>
</file>